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Week 14 — the Musculoskeletal and Integumentary Systems. Bones, joints, muscles, and skin, plus the pediatric conditions you must recognize.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Today's agenda — four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weekly learning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Required reading and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Module 14 — Week Fourteen.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due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 objective — bone and fracture.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Bone disorders — osteoporosis, osteomalacia, osteogenesis imperfecta.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Fractures and emergencies — compartment syndrome, rhabdomyolysis, fat embolism.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osteoporosis fractures.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compartment syndrome.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 objective — joints and muscle.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Joint disorders — OA, RA, gout, septic arthritis.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Muscle disorders — Duchenne, SMA, strains and sprains.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OA versus 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Duchenne muscular dystrophy.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 objective — pediatric musculoskeletal.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Pediatric hip, foot, and spine — DDH, clubfoot, Perthes, scoliosis.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Growth-plate, bone, and joint — Osgood-Schlatter, Sever, osteomyelitis.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developmental dysplasia of the 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 objective — integumentary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Skin injury and inflammation — burns, pressure injury, cellulitis, psoriasis.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Pediatric and infectious skin — the classic rashes.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burns and fluid shift.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childhood rashes.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— applying MSK and skin pathophysiology.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— structure, perfusion, infection, inflammation.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1A32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762000"/>
            <a:ext cx="2667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0650" y="809625"/>
            <a:ext cx="472004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PATHOPHYSIOLOGY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52500" y="3957191"/>
            <a:ext cx="7166610" cy="97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72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Fourteen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952500" y="5118348"/>
            <a:ext cx="6710553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198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Musculoskeletal &amp; Integumentary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952500" y="8923139"/>
            <a:ext cx="671055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Vidya Aggrawal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Nightingale College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8229600" y="0"/>
            <a:ext cx="10058400" cy="10287000"/>
          </a:xfrm>
          <a:prstGeom prst="rect">
            <a:avLst/>
          </a:prstGeom>
          <a:gradFill rotWithShape="1">
            <a:gsLst>
              <a:gs pos="0">
                <a:srgbClr val="1A3260">
                  <a:alpha val="55000"/>
                </a:srgbClr>
              </a:gs>
              <a:gs pos="60000">
                <a:srgbClr val="1A3260">
                  <a:alpha val="10000"/>
                </a:srgbClr>
              </a:gs>
            </a:gsLst>
            <a:lin ang="2700000" scaled="0"/>
          </a:gra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rcRect l="20680" r="20680" t="0" b="0"/>
          <a:stretch/>
        </p:blipFill>
        <p:spPr>
          <a:xfrm>
            <a:off x="8229600" y="0"/>
            <a:ext cx="10058400" cy="10287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6292066" y="9648825"/>
            <a:ext cx="1691134" cy="333375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6425416" y="9725025"/>
            <a:ext cx="150063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week 14 visual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SESSION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36232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75272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9300" y="2805113"/>
            <a:ext cx="7334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Bone &amp; fracture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601200" y="336232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0" y="275272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0668000" y="2805113"/>
            <a:ext cx="7334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Joints &amp; muscle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4381500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3771900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2019300" y="3824288"/>
            <a:ext cx="7334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Pediatric musculoskeletal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601200" y="4381500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0" y="3771900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0668000" y="3824288"/>
            <a:ext cx="7334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Integumentary (skin)</a:t>
            </a:r>
            <a:endParaRPr lang="en-US" sz="22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14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27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FOURTEEN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60997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bone disorders and fracture complications.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4857750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3981450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8145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133600" y="4114800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Differentiate joint and muscle disorders by mechanism.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52500" y="6105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3" name="Shape 11"/>
          <p:cNvSpPr/>
          <p:nvPr/>
        </p:nvSpPr>
        <p:spPr>
          <a:xfrm>
            <a:off x="952500" y="522922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2292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33600" y="536257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pediatric musculoskeletal conditions.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52500" y="7353300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7" name="Shape 15"/>
          <p:cNvSpPr/>
          <p:nvPr/>
        </p:nvSpPr>
        <p:spPr>
          <a:xfrm>
            <a:off x="952500" y="6477000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647700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2133600" y="6610350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integumentary injury, inflammation, and the classic skin infections.</a:t>
            </a:r>
            <a:endParaRPr lang="en-US" sz="22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14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27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resources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reading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60145" y="3181350"/>
            <a:ext cx="7374255" cy="134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Musculoskeletal structure &amp; alterations chapter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Integumentary structure &amp; alterations chapter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14 Study Guide — covers all objectives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4773662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160145" y="5373737"/>
            <a:ext cx="7374255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 vs. RA vs. gout comparison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Pediatric rash pattern reference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2581275"/>
            <a:ext cx="78371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tools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656445" y="3181350"/>
            <a:ext cx="7374255" cy="134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Compartment syndrome — the 6 P's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Fracture-healing stages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MSK &amp; skin cheat sheet — highest-yield patterns</a:t>
            </a:r>
            <a:endParaRPr lang="en-US" sz="1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14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27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48100"/>
            <a:ext cx="8591550" cy="2628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0" b="1" spc="-960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4000" dirty="0"/>
          </a:p>
        </p:txBody>
      </p:sp>
      <p:sp>
        <p:nvSpPr>
          <p:cNvPr id="4" name="Text 2"/>
          <p:cNvSpPr/>
          <p:nvPr/>
        </p:nvSpPr>
        <p:spPr>
          <a:xfrm>
            <a:off x="9525000" y="3503265"/>
            <a:ext cx="85915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FOURTEEN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25000" y="3979515"/>
            <a:ext cx="859155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600" b="1" spc="-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Fourteen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9525000" y="5126236"/>
            <a:ext cx="6867525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Bones, joints, muscles, and skin — osteoporosis and fractures, the arthritides and gout, muscular dystrophy, pediatric MSK, and skin disorders from burns to childhood rashes.</a:t>
            </a:r>
            <a:endParaRPr lang="en-US" sz="2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14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27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due this week?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725805" y="2836515"/>
            <a:ext cx="14590395" cy="404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14 Pre-Assessment — complete before the webinar.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— apply MSK or skin pathophysiology to a clinical scenario; initial post + 2 peer replies.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Quiz — covers bone, joint, muscle, pediatric MSK, and skin disorders.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— apply mechanisms to a patient presentation.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— osteoporosis, the arthritides, Duchenne, and skin conditions. Bring your reading notes.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14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27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BONE &amp; FRACTURE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60997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metabolic bone diseases, how fractures heal, and the limb-threatening fracture emergencies.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14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27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Bone disorders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180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4257080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9466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Disorder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214342" y="2185988"/>
            <a:ext cx="530200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33417" y="2347913"/>
            <a:ext cx="502291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516344" y="2185988"/>
            <a:ext cx="6814393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35419" y="2347913"/>
            <a:ext cx="65806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clue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4257080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3946642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Osteoporosis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5214342" y="2795588"/>
            <a:ext cx="5302002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33417" y="2938463"/>
            <a:ext cx="5022912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of bone mass/density (resorption &gt; formation)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516344" y="2795588"/>
            <a:ext cx="6814393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35419" y="2938463"/>
            <a:ext cx="6580675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Postmenopausal/elderly; fragility fractures (hip, wrist, vertebral); normal serum calcium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765054"/>
            <a:ext cx="4257080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907929"/>
            <a:ext cx="3946642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Osteomalacia (rickets in kids)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214342" y="3765054"/>
            <a:ext cx="5302002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3417" y="3907929"/>
            <a:ext cx="5022912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Inadequate mineralization of new bone — usually vitamin D deficiency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516344" y="3765054"/>
            <a:ext cx="6814393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35419" y="3907929"/>
            <a:ext cx="6580675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Soft, bendable bone; bone pain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734520"/>
            <a:ext cx="425708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877395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Osteogenesis imperfecta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5214342" y="4734520"/>
            <a:ext cx="530200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3417" y="4877395"/>
            <a:ext cx="502291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Genetic type I collagen defect → brittle bone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516344" y="4734520"/>
            <a:ext cx="681439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35419" y="4877395"/>
            <a:ext cx="6580675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 fractures from birth, blue sclerae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706755" y="5552629"/>
            <a:ext cx="1687449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osteoporosis = too little bone (normal mineralization, normal calcium). Osteomalacia = poorly mineralized soft bone (vitamin D). Osteogenesis imperfecta = bad collagen scaffold.</a:t>
            </a:r>
            <a:endParaRPr lang="en-US" sz="18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14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27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Fractures &amp; emergencies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33350" y="2085975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Healing: hematoma → soft callus → hard callus → remodeling (hematoma is first)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2581275"/>
            <a:ext cx="16383000" cy="35275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7263" y="2586038"/>
            <a:ext cx="3929509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6338" y="2747963"/>
            <a:ext cx="36092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886771" y="2586038"/>
            <a:ext cx="6495604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05846" y="2747963"/>
            <a:ext cx="625232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1382375" y="2586038"/>
            <a:ext cx="5948363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01450" y="2747963"/>
            <a:ext cx="568866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57263" y="3195638"/>
            <a:ext cx="3929509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6338" y="3338513"/>
            <a:ext cx="3609244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Compartment syndrome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4886771" y="3195638"/>
            <a:ext cx="6495604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05846" y="3338513"/>
            <a:ext cx="6252322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Swelling in a closed fascial compartment → ↑ pressure → ischemia/necrosis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382375" y="3195638"/>
            <a:ext cx="5948363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01450" y="3338513"/>
            <a:ext cx="5688663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pain out of proportion, unrelieved by meds; swelling, numbness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7263" y="4165104"/>
            <a:ext cx="3929509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6338" y="4307979"/>
            <a:ext cx="3609244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Rhabdomyolysis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4886771" y="4165104"/>
            <a:ext cx="6495604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5846" y="4307979"/>
            <a:ext cx="6252322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Muscle breakdown releases myoglobin, which precipitates in renal tubules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1382375" y="4165104"/>
            <a:ext cx="5948363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601450" y="4307979"/>
            <a:ext cx="5688663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Acute kidney injury, dark/tea-colored urine, ↑ CK, hyperkalemia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7263" y="5134570"/>
            <a:ext cx="3929509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6338" y="5277445"/>
            <a:ext cx="3609244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 embolism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4886771" y="5134570"/>
            <a:ext cx="6495604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5846" y="5277445"/>
            <a:ext cx="6252322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 from long-bone marrow enters circulation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1382375" y="5134570"/>
            <a:ext cx="5948363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601450" y="5277445"/>
            <a:ext cx="5688663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Dyspnea, confusion, petechiae (12–72 hr after fracture)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33350" y="6299299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flag: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compartment syndrome → pain out of proportion, unrelieved by analgesia, tense swollen limb → surgical emergency (fasciotomy).</a:t>
            </a:r>
            <a:endParaRPr lang="en-US" sz="18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14</a:t>
            </a:r>
            <a:endParaRPr lang="en-US" sz="1650" dirty="0"/>
          </a:p>
        </p:txBody>
      </p:sp>
      <p:sp>
        <p:nvSpPr>
          <p:cNvPr id="32" name="Text 29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27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change explains vertebral compression fractures in osteoporosis?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1131391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bone mass/density weakens the vertebrae so they collapse under load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bone formation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Defective collagen from birth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mineralization of new bone only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14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27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hours after a leg fracture, a patient has severe pain unrelieved by medication, increasing swelling, and numbness. Which mechanism explains the injury?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compartment pressure limiting perfusion (ischemia)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blood flow to the limb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10140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Nerve regeneration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10140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Bone remodeling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14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51486" y="9686925"/>
            <a:ext cx="7602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27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JOINTS &amp; MUSCLE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60997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Differentiate the arthritides (and gout), joint infection, and the muscle diseases by mechanism.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14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27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disorders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41503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3929509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6092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Disorder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886771" y="2185988"/>
            <a:ext cx="5829598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5846" y="2347913"/>
            <a:ext cx="55663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716369" y="2185988"/>
            <a:ext cx="6614368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35444" y="2347913"/>
            <a:ext cx="63746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Clues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3929509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3609244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Osteoarthritis (OA)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886771" y="2795588"/>
            <a:ext cx="5829598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5846" y="2938463"/>
            <a:ext cx="5566336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"Wear and tear" — cartilage degeneration over time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716369" y="2795588"/>
            <a:ext cx="6614368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35444" y="2938463"/>
            <a:ext cx="6374649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age, weight-bearing joints, worse with use, brief morning stiffness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765054"/>
            <a:ext cx="3929509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907929"/>
            <a:ext cx="3609244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Rheumatoid arthritis (RA)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886771" y="3765054"/>
            <a:ext cx="5829598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5846" y="3907929"/>
            <a:ext cx="5566336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Autoimmune synovial inflammation (pannus) destroys the joint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716369" y="3765054"/>
            <a:ext cx="6614368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35444" y="3907929"/>
            <a:ext cx="6374649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Symmetric small joints, prolonged morning stiffness, systemic; autoantibodies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734520"/>
            <a:ext cx="3929509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877395"/>
            <a:ext cx="3609244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Gout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4886771" y="4734520"/>
            <a:ext cx="5829598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5846" y="4877395"/>
            <a:ext cx="5566336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Uric acid (urate) crystals deposit in the joint → intense inflammation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716369" y="4734520"/>
            <a:ext cx="6614368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35444" y="4877395"/>
            <a:ext cx="6374649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Sudden severe pain/redness, classically the great toe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5703987"/>
            <a:ext cx="3929509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5846862"/>
            <a:ext cx="3609244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Septic arthritis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4886771" y="5703987"/>
            <a:ext cx="5829598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05846" y="5846862"/>
            <a:ext cx="556633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Bacterial infection in the joint destroys cartilage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0716369" y="5703987"/>
            <a:ext cx="6614368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35444" y="5846862"/>
            <a:ext cx="637464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Hot, swollen, painful joint + fever — emergency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706755" y="6522095"/>
            <a:ext cx="1687449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 = mechanical degeneration (asymmetric, worse with use). RA = autoimmune (symmetric, systemic). Gout = crystals. Septic arthritis = infection (fever + one hot joint).</a:t>
            </a:r>
            <a:endParaRPr lang="en-US" sz="18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14</a:t>
            </a:r>
            <a:endParaRPr lang="en-US" sz="1650" dirty="0"/>
          </a:p>
        </p:txBody>
      </p:sp>
      <p:sp>
        <p:nvSpPr>
          <p:cNvPr id="37" name="Text 3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27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INHERITED &amp; ACUTE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Muscle disorders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Duchenne muscular dystrophy: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 dystrophin (X-linked) → fragile muscle membranes → fibers break down and are replaced by fat/fibrosis → progressive weakness. Gowers sign, calf pseudohypertrophy, ↑ creatine kinase.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440605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Spinal muscular atrophy (SMA):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neuron degeneration → muscles lose nerve input → decreased tone and atrophy.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5522268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Strain vs. sprain: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overstretch/tear of muscle-tendon (strain) or ligament (sprain); a severe sprain fully tears the ligament → joint instability.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6638479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Duchenne is X-linked recessive — almost always boys. Damaged muscle leaks CK, so creatine kinase is elevated.</a:t>
            </a:r>
            <a:endParaRPr lang="en-US" sz="2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14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27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develops sudden severe pain, redness, and swelling in the great toe. Which is most likely, and what is the mechanism?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1131391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Gout — uric acid (urate) crystal deposition triggers acute inflammation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Osteoarthritis — cartilage wear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411837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33744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33744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33744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Septic arthritis — bacteria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411837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33744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33744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33744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Rheumatoid arthritis — symmetric autoimmune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14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27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muscle weakness progressively worsen in Duchenne muscular dystrophy?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1131391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Muscle fibers break down faster than they can be repaired and are replaced by fat/fibrosis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Bones lose mineral over time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Nerves regenerate abnormally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Cartilage degenerates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14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27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PEDIATRIC MUSCULOSKELETAL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60997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congenital and growth-related MSK conditions — many hinge on the open growth plate.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14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27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Pediatric hip, foot &amp; spine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4571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4911923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46211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869186" y="2185988"/>
            <a:ext cx="1146155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8261" y="2347913"/>
            <a:ext cx="113672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/ hallmark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7263" y="2795588"/>
            <a:ext cx="4911923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6338" y="2938463"/>
            <a:ext cx="4621131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Developmental dysplasia of the hip (DDH)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869186" y="2795588"/>
            <a:ext cx="11461552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8261" y="2938463"/>
            <a:ext cx="11367248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Shallow hip socket doesn't hold the femoral head securely → instability/dislocation in infancy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7263" y="3765054"/>
            <a:ext cx="491192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6338" y="3907929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Clubfoot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869186" y="3765054"/>
            <a:ext cx="1146155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8261" y="3907929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Congenital deformity holding the foot in an abnormal inward/downward position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4387900"/>
            <a:ext cx="491192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4530775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Legg-Calvé-Perthes disease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869186" y="4387900"/>
            <a:ext cx="1146155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8261" y="4530775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of blood supply to the femoral head → avascular necrosis in a child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7263" y="5010745"/>
            <a:ext cx="491192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6338" y="5153620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Scoliosis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5869186" y="5010745"/>
            <a:ext cx="1146155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8261" y="5153620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spinal curvature; rapid, uneven growth during a growth spurt can worsen the curve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706755" y="5828854"/>
            <a:ext cx="1687449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DDH = a structural socket problem; Legg-Calvé-Perthes = a blood-supply problem. Both affect the hip but the mechanisms are opposite — structure vs. perfusion.</a:t>
            </a:r>
            <a:endParaRPr lang="en-US" sz="18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14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27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Growth-plate, bone &amp; joint conditions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4571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4911923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46211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869186" y="2185988"/>
            <a:ext cx="1146155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8261" y="2347913"/>
            <a:ext cx="113672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/ hallmark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7263" y="2795588"/>
            <a:ext cx="4911923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6338" y="2938463"/>
            <a:ext cx="4621131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Osgood-Schlatter disease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869186" y="2795588"/>
            <a:ext cx="11461552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8261" y="2938463"/>
            <a:ext cx="11367248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patellar tendon traction on the tibial tubercle → pain/swelling below the knee in active adolescents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7263" y="3765054"/>
            <a:ext cx="491192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6338" y="3907929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 disease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869186" y="3765054"/>
            <a:ext cx="1146155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8261" y="3907929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Achilles traction on the calcaneal (heel) growth area → heel pain in active children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4387900"/>
            <a:ext cx="491192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4530775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Osteomyelitis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869186" y="4387900"/>
            <a:ext cx="1146155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8261" y="4530775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Bone infection (often via blood) → fever, localized bone pain, refusal to bear weight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7263" y="5010745"/>
            <a:ext cx="491192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6338" y="5153620"/>
            <a:ext cx="462113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Nonaccidental trauma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5869186" y="5010745"/>
            <a:ext cx="1146155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8261" y="5153620"/>
            <a:ext cx="1136724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if injuries don't match the story — e.g., fractures at multiple healing stages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706755" y="5828854"/>
            <a:ext cx="1687449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apophysitis: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Osgood-Schlatter (knee) and Sever (heel) are the same idea in two places — a tendon repeatedly pulling on an immature growth area during sports.</a:t>
            </a:r>
            <a:endParaRPr lang="en-US" sz="18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14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27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alteration reduces femoral-head stability in developmental dysplasia of the hip?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1131391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shallow acetabulum (hip socket) that doesn't hold the femoral head securely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Avascular necrosis of the femoral head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torn ligament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691682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91075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91075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910757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Crystal deposition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14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27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INTEGUMENTARY SYSTEM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60997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skin injury and inflammation in adults, plus the classic pediatric and infectious rashes.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14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27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 injury &amp; inflammation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7333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4257080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9466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214342" y="2185988"/>
            <a:ext cx="12116395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33417" y="2347913"/>
            <a:ext cx="1204173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7263" y="2795588"/>
            <a:ext cx="425708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6338" y="2938463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Burns (major)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214342" y="2795588"/>
            <a:ext cx="1211639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33417" y="2938463"/>
            <a:ext cx="1204173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capillary permeability → massive fluid shift out of vessels → edema + hypotension (burn shock)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7263" y="3418433"/>
            <a:ext cx="425708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6338" y="3561308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Cellulitis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214342" y="3418433"/>
            <a:ext cx="1211639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33417" y="3561308"/>
            <a:ext cx="1204173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Bacterial infection of dermis/subcutaneous tissue → warm, spreading (diffuse) redness, tenderness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4041279"/>
            <a:ext cx="425708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4184154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Psoriasis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214342" y="4041279"/>
            <a:ext cx="1211639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3417" y="4184154"/>
            <a:ext cx="1204173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immune-mediated hyperproliferation → thick, raised, scaly plaques on elbows/knees/scalp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7263" y="4664125"/>
            <a:ext cx="425708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6338" y="4807000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injury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5214342" y="4664125"/>
            <a:ext cx="1211639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33417" y="4807000"/>
            <a:ext cx="1204173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pressure limits perfusion → ischemia &amp; necrosis over bony areas (e.g., sacrum)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57263" y="5286970"/>
            <a:ext cx="425708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6338" y="5429845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Herpes zoster (shingles)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5214342" y="5286970"/>
            <a:ext cx="1211639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33417" y="5429845"/>
            <a:ext cx="1204173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Reactivation of latent varicella-zoster virus → painful vesicles in a single dermatome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706755" y="6105079"/>
            <a:ext cx="1687449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major burn makes capillaries leaky → widespread edema and falling BP (burn shock) in the first hours → why fluid resuscitation is central to burn care.</a:t>
            </a:r>
            <a:endParaRPr lang="en-US" sz="18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14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27</a:t>
            </a: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Pediatric &amp; infectious skin conditions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7333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4257080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9466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214342" y="2185988"/>
            <a:ext cx="483721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33417" y="2347913"/>
            <a:ext cx="454417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051554" y="2185988"/>
            <a:ext cx="7279184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70629" y="2347913"/>
            <a:ext cx="70594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Hallmark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425708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Varicella (chickenpox)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5214342" y="2795588"/>
            <a:ext cx="483721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33417" y="2938463"/>
            <a:ext cx="454417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Varicella-zoster virus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051554" y="2795588"/>
            <a:ext cx="7279184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70629" y="2938463"/>
            <a:ext cx="705940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Itchy vesicles in multiple stages at once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418433"/>
            <a:ext cx="425708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561308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Fifth disease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214342" y="3418433"/>
            <a:ext cx="483721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3417" y="3561308"/>
            <a:ext cx="454417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Parvovirus B19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051554" y="3418433"/>
            <a:ext cx="7279184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70629" y="3561308"/>
            <a:ext cx="705940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"Slapped-cheek" red face → later a lacy rash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041279"/>
            <a:ext cx="425708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184154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Impetigo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5214342" y="4041279"/>
            <a:ext cx="483721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3417" y="4184154"/>
            <a:ext cx="454417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Staph/Strep entering minor breaks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051554" y="4041279"/>
            <a:ext cx="7279184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70629" y="4184154"/>
            <a:ext cx="705940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Weeping lesions with honey-colored crusts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4664125"/>
            <a:ext cx="425708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4807000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Scabies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5214342" y="4664125"/>
            <a:ext cx="483721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33417" y="4807000"/>
            <a:ext cx="454417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Mite burrowing in skin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0051554" y="4664125"/>
            <a:ext cx="7279184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70629" y="4807000"/>
            <a:ext cx="705940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Intense itching, worse at night; spreads in households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957263" y="5286970"/>
            <a:ext cx="425708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6338" y="5429845"/>
            <a:ext cx="394664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Tinea (ringworm)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5214342" y="5286970"/>
            <a:ext cx="483721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33417" y="5429845"/>
            <a:ext cx="454417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Fungal infection of skin/scalp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0051554" y="5286970"/>
            <a:ext cx="7279184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70629" y="5429845"/>
            <a:ext cx="705940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Ring-shaped scaly patches; scalp hair loss (capitis)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33350" y="6105079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pattern: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stages at once = varicella · slapped cheek + lacy = fifth disease · honey crust = impetigo · night itching in a household = scabies.</a:t>
            </a:r>
            <a:endParaRPr lang="en-US" sz="180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14</a:t>
            </a:r>
            <a:endParaRPr lang="en-US" sz="1650" dirty="0"/>
          </a:p>
        </p:txBody>
      </p:sp>
      <p:sp>
        <p:nvSpPr>
          <p:cNvPr id="43" name="Text 40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27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with severe burns develops widespread edema and hypotension shortly after injury. Which mechanism explains it?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capillary permeability shifting fluid out of the vessels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Decreased capillary permeability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10140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blood volume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10140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Vasoconstriction raising blood pressure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14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27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38232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67640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child has an itchy rash with fluid-filled lesions in multiple stages of healing. Which condition?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Varicella (chickenpox)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Impetigo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Fifth disease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674715"/>
            <a:ext cx="756475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Tinea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14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27</a:t>
            </a:r>
            <a:endParaRPr lang="en-US" sz="1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445C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2319338"/>
            <a:ext cx="180213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15000" dirty="0">
                <a:solidFill>
                  <a:srgbClr val="45C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52500" y="3881438"/>
            <a:ext cx="14716125" cy="3371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 MSK or skin disorder and trace it from its underlying mechanism — structure, perfusion, infection, or inflammation — to the patient's presenting signs. How would naming that mechanism shape your nursing assessment and teaching?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7672388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PROMPT — WEEK 14</a:t>
            </a:r>
            <a:endParaRPr lang="en-US" sz="1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14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27</a:t>
            </a:r>
            <a:endParaRPr lang="en-US" sz="1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445C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2319338"/>
            <a:ext cx="180213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15000" dirty="0">
                <a:solidFill>
                  <a:srgbClr val="45C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52500" y="3881438"/>
            <a:ext cx="14716125" cy="3371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Bone, joint, muscle, or skin — every disorder this week comes down to one of four questions: is it a problem of structure, perfusion, infection, or inflammation? Name it, and the patient's presentation explains itself. Congratulations on finishing the course.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7672388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VIDYA AGGRAWAL · PATHOPHYSIOLOGY COURSE INSTRUCTOR · NIGHTINGALE COLLEGE</a:t>
            </a:r>
            <a:endParaRPr lang="en-US" sz="1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6350" y="9686925"/>
            <a:ext cx="248483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14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27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2026-06-28T14:43:32Z</dcterms:created>
  <dcterms:modified xsi:type="dcterms:W3CDTF">2026-06-28T14:43:32Z</dcterms:modified>
</cp:coreProperties>
</file>