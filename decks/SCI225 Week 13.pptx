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13 — the Digestive System. From motility and digestion to the disorders that disrupt them, all the way through the hepatobiliary system and pediatric 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agenda — three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weekly learning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reading and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Module 13 — Week Thirteen.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due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objective — structure and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Motility and the GI tract — peristalsis and autonomic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Secretion and digestion — acid, enzymes, bicarbonate, 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Absorption and malabsorption — celiac, CF, pancreatic insufficiency.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anticholinergic dry mouth.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parietal cells and B12.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celiac villi.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objective — GI disorders.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Upper GI — GERD, ulcers, and reading GI bleeding.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Inflammatory GI disease and IBD — Crohn versus 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Bowel obstruction.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GERD.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Crohn versus 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bowel obstruction.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objective — hepatobiliary and pediatric.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Liver — jaundice and cirrhosis.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Gallbladder and pancreas.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Pediatric GI — pyloric stenosis, intussusception, Hirschsprung, NEC.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cholestatic jaundice.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pancreatitis.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pyloric stenosis.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follow the tube, follow the juices.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762000"/>
            <a:ext cx="2667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0650" y="809625"/>
            <a:ext cx="47200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PATHOPHYSIOLOGY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52500" y="4195316"/>
            <a:ext cx="716661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Thirteen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52500" y="5356473"/>
            <a:ext cx="716661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19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Digestive System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52500" y="8923139"/>
            <a:ext cx="671055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Nightingale College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229600" y="0"/>
            <a:ext cx="10058400" cy="10287000"/>
          </a:xfrm>
          <a:prstGeom prst="rect">
            <a:avLst/>
          </a:prstGeom>
          <a:gradFill rotWithShape="1">
            <a:gsLst>
              <a:gs pos="0">
                <a:srgbClr val="1A3260">
                  <a:alpha val="55000"/>
                </a:srgbClr>
              </a:gs>
              <a:gs pos="60000">
                <a:srgbClr val="1A3260">
                  <a:alpha val="10000"/>
                </a:srgbClr>
              </a:gs>
            </a:gsLst>
            <a:lin ang="2700000" scaled="0"/>
          </a:gra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rcRect l="20680" r="20680" t="0" b="0"/>
          <a:stretch/>
        </p:blipFill>
        <p:spPr>
          <a:xfrm>
            <a:off x="8229600" y="0"/>
            <a:ext cx="10058400" cy="1028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292066" y="9648825"/>
            <a:ext cx="1691134" cy="333375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6425416" y="9725025"/>
            <a:ext cx="150063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week 13 visual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9300" y="2805113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&amp; function — motility, secretion, absorption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6012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668000" y="2805113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 disorders — GERD, IBD, obstruction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019300" y="3824288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Hepatobiliary &amp; pediatric GI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6012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668000" y="3824288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checks &amp; discussion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28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THIRTEEN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structure and function of the digestive system — motility, secretion, and absorption.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8145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14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3600" y="411480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alterations of GI function and their consequences.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105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522922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292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33600" y="536257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hepatobiliary and pediatric GI disorders and their clinical presentations.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28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resources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reading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 structure &amp; function chapter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Alterations of digestive function chapter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 Study Guide — covers all objectives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773662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60145" y="5373737"/>
            <a:ext cx="7374255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Crohn vs. UC comparison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Jaundice pathways refresher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tools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6564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 bleeding — melena vs. hematochezia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Bowel obstruction red flags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Digestive cheat sheet — highest-yield patterns</a:t>
            </a:r>
            <a:endParaRPr lang="en-US" sz="1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28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48100"/>
            <a:ext cx="8591550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960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9525000" y="3503265"/>
            <a:ext cx="8591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THIRTEEN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3979515"/>
            <a:ext cx="859155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Thirteen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0" y="5126236"/>
            <a:ext cx="6867525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digestive system — motility, secretion, and absorption, then the disorders from GERD and IBD to jaundice, pancreatitis, and the pediatric GI emergencies.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28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due this week?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725805" y="2836515"/>
            <a:ext cx="14590395" cy="3142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 Pre-Assessment — complete before the webinar.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— apply digestive pathophysiology to a clinical scenario; initial post + 2 peer replies.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Quiz — covers motility, GERD/ulcers, IBD, obstruction, and hepatobiliary disease.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apply GI mechanisms to a patient presentation.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— GERD, IBD, bowel obstruction, jaundice, and pancreatitis. Bring your reading notes.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28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STRUCTURE &amp; FUNCTION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how food moves, gets broken down, and is absorbed — peristalsis, the digestive secretions, and the absorptive surface of the villi.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28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Motility &amp; the GI tract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3350" y="2085975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muscular tube run by the autonomic nervous system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5239494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49585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196757" y="2586038"/>
            <a:ext cx="1113398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5832" y="2747963"/>
            <a:ext cx="110298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57263" y="3195638"/>
            <a:ext cx="523949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6338" y="3338513"/>
            <a:ext cx="495852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Swallowing / esophageal transit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196757" y="3195638"/>
            <a:ext cx="1113398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5832" y="3338513"/>
            <a:ext cx="1102985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Peristalsis (smooth-muscle waves) pushes the bolus down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7263" y="3818483"/>
            <a:ext cx="523949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6338" y="3961358"/>
            <a:ext cx="495852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Gastric emptying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196757" y="3818483"/>
            <a:ext cx="1113398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5832" y="3961358"/>
            <a:ext cx="1102985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high-fat meal slows emptying (fat triggers CCK, which delays the stomach)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4441329"/>
            <a:ext cx="523949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4584204"/>
            <a:ext cx="495852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Defecation reflex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196757" y="4441329"/>
            <a:ext cx="1113398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5832" y="4584204"/>
            <a:ext cx="1102985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Rectal stretch triggers the urge; impaired reflex → retention / constipation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57263" y="5064175"/>
            <a:ext cx="523949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6338" y="5207050"/>
            <a:ext cx="495852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Autonomic control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6196757" y="5064175"/>
            <a:ext cx="1113398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5832" y="5207050"/>
            <a:ext cx="1102985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Parasympathetic stimulates GI activity; anticholinergics block it → dry mouth, slowed motility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3350" y="5882283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parasympathetic = "rest and digest." Acetylcholine drives salivation and peristalsis — anticholinergics block it → dry mouth, slowed gut, constipation.</a:t>
            </a:r>
            <a:endParaRPr lang="en-US" sz="18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28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Secretion &amp; digestion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589433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56330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Secretion (source)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851600" y="2185988"/>
            <a:ext cx="1047913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0675" y="2347913"/>
            <a:ext cx="103553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589433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563301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Gastric acid + intrinsic factor (parietal cells)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851600" y="2795588"/>
            <a:ext cx="1047913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70675" y="2938463"/>
            <a:ext cx="103553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digests/sterilizes; intrinsic factor is needed to absorb vitamin B12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418433"/>
            <a:ext cx="589433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561308"/>
            <a:ext cx="563301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Pancreatic enzymes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851600" y="3418433"/>
            <a:ext cx="1047913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0675" y="3561308"/>
            <a:ext cx="103553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Digest carbs, protein, and fat in the duodenum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041279"/>
            <a:ext cx="589433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184154"/>
            <a:ext cx="563301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Pancreatic bicarbonate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6851600" y="4041279"/>
            <a:ext cx="1047913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0675" y="4184154"/>
            <a:ext cx="103553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Neutralizes stomach acid entering the duodenum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4664125"/>
            <a:ext cx="589433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4807000"/>
            <a:ext cx="563301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Bile (liver; stored in gallbladder)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851600" y="4664125"/>
            <a:ext cx="1047913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0675" y="4807000"/>
            <a:ext cx="103553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Emulsifies fat — breaks globules into droplets so enzymes can digest them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3350" y="5482233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parietal cells make acid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 factor — damage them and you get low acid plus B12 malabsorption (pernicious anemia).</a:t>
            </a:r>
            <a:endParaRPr lang="en-US" sz="1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28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Absorption &amp; malabsorption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80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25708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9466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14342" y="2185988"/>
            <a:ext cx="630808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3417" y="2347913"/>
            <a:ext cx="60591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522422" y="2185988"/>
            <a:ext cx="580831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41497" y="2347913"/>
            <a:ext cx="55444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4257080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94664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Celiac disease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214342" y="2795588"/>
            <a:ext cx="6308080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3417" y="2938463"/>
            <a:ext cx="605917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reaction to gluten flattens/shortens the villi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522422" y="2795588"/>
            <a:ext cx="5808315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41497" y="2938463"/>
            <a:ext cx="554441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absorptive surface → chronic diarrhea, weight loss, deficiencies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765054"/>
            <a:ext cx="4257080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907929"/>
            <a:ext cx="394664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Cystic fibrosis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214342" y="3765054"/>
            <a:ext cx="6308080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3417" y="3907929"/>
            <a:ext cx="605917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 secretions block pancreatic ducts → enzymes can't reach the gut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522422" y="3765054"/>
            <a:ext cx="5808315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41497" y="3907929"/>
            <a:ext cx="554441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 malabsorption → steatorrhea, poor growth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734520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877395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Pancreatic insufficiency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214342" y="4734520"/>
            <a:ext cx="6308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3417" y="4877395"/>
            <a:ext cx="605917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few pancreatic enzymes (incl. lipase)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522422" y="4734520"/>
            <a:ext cx="580831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41497" y="4877395"/>
            <a:ext cx="554441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Steatorrhea (fatty, floating, foul stools)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06755" y="5552629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absorption needs working villi (surface)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digestive juices (enzymes + bile). Celiac destroys the surface; CF / pancreatic insufficiency starve the gut of enzymes → fat malabsorption.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28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on an anticholinergic medication reports dry mouth. Which mechanism explains it?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parasympathetic (acetylcholine) signaling reduces salivation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parasympathetic activity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salivary secretion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peristalsis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51486" y="9686925"/>
            <a:ext cx="7602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28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has damage to gastric parietal cells. Which change is expected?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acid and impaired vitamin B12 absorption (loss of intrinsic factor)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acid secretion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intrinsic factor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B12 absorption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28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celiac disease has chronic diarrhea and weight loss. Which outcome from shortened intestinal villi explains it?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absorptive surface area causing malabsorption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surface area for absorption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enzyme secretion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nutrient uptake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28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GI DISORDERS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alterations of GI function — upper-GI acid and bleeding disorders, the inflammatory bowel diseases, and mechanical obstruction.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28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GI — GERD, ulcers &amp; bleeding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28342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58450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2838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541764" y="2185988"/>
            <a:ext cx="1178897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839" y="2347913"/>
            <a:ext cx="117044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58450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4283887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GERD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541764" y="2795588"/>
            <a:ext cx="11788973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839" y="2938463"/>
            <a:ext cx="1170449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Weak/relaxed lower esophageal sphincter lets acid reflux up. Risk: obesity, hiatal hernia, fatty/large meals, lying down after eating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765054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907929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Peptic ulcer disease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541764" y="3765054"/>
            <a:ext cx="1178897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839" y="3907929"/>
            <a:ext cx="117044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Mucosal defense fails against acid — mainly H. pylori and NSAIDs (also smoking, alcohol, stress)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387900"/>
            <a:ext cx="45845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530775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Esophageal varices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541764" y="4387900"/>
            <a:ext cx="1178897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839" y="4530775"/>
            <a:ext cx="117044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hypertension swells esophageal veins → can rupture → massive bright-red hematemesis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3350" y="5206008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GI bleeds: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melena (black, tarry stool) = upper GI bleed (blood digested in transit); hematochezia (bright-red rectal blood) = lower GI source.</a:t>
            </a:r>
            <a:endParaRPr lang="en-US" sz="18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28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Inflammatory bowel disease — Crohn vs. UC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65246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Crohn disease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anywhere mouth → anus; skip lesions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3661321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transmural (full wall) → fistulas, strictures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141291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Stool: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diarrhea, less bloody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00200" y="4621262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cancer risk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448800" y="2181225"/>
            <a:ext cx="7886700" cy="65246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2" name="Text 10"/>
          <p:cNvSpPr/>
          <p:nvPr/>
        </p:nvSpPr>
        <p:spPr>
          <a:xfrm>
            <a:off x="98298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Ulcerative colitis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0096500" y="3181350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colon/rectum only; continuous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096500" y="3661321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mucosa/submucosa only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096500" y="4141291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Stool: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bloody diarrhea with urgency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096500" y="4621262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colorectal cancer risk → surveillance colonoscopy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3350" y="89344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distinguisher: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Crohn can affect any part of the GI tract with skip lesions; UC is continuous and colon-only. Watch for appendicitis/diverticulitis → peritonitis.</a:t>
            </a:r>
            <a:endParaRPr lang="en-US" sz="1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28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Bowel obstruction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picture: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distension, cramping pain, vomiting, and no flatus/stool (obstipation).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adhesions, hernia, tumor block the lumen; bowel sounds first high-pitched/hyperactive, then absent.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Intussusception (child):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segment telescopes into another → obstruction + compromised blood flow → currant-jelly stools.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Hirschsprung disease (newborn):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ganglion cells → no peristalsis in that segment → functional obstruction → constipation from birth.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848029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Feared complication: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bowel ischemia / perforation → peritonitis.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28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change allows gastric contents to reflux into the esophagus in GERD?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weakened/relaxed lower esophageal sphincter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tightened LES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esophageal peristalsis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gastric acid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28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distinguishes Crohn disease from ulcerative colitis?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Crohn can affect any part of the GI tract with skip lesions; UC is continuous and colon-only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 affects the entire GI tract; Crohn affects only the rectum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limited to the colon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Crohn is mucosal only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28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has abdominal distension, vomiting, cramping pain, and no flatus. What process is occurring?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Bowel obstruction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Diarrhea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GERD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digestion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28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HEPATOBILIARY &amp; PEDIATRIC GI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the liver, gallbladder, and pancreas — jaundice, cirrhosis, pancreatitis — plus the pediatric GI conditions you must recognize.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28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Liver — jaundice &amp; cirrhosis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24876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91192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6211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Jaundice type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869186" y="2185988"/>
            <a:ext cx="114615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8261" y="2347913"/>
            <a:ext cx="11367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Pre-hepatic (hemolytic)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869186" y="2795588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8261" y="2938463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RBC breakdown → excess unconjugated bilirubin overwhelms the liver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418433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561308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Hepatic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869186" y="3418433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8261" y="3561308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Damaged liver cells can't process/conjugate bilirubin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041279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184154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Post-hepatic (cholestatic)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869186" y="4041279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8261" y="4184154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bile flow → conjugated bilirubin backs up → dark urine, pale stools, pruritus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06755" y="4859387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Cirrhosis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fibrosis replaces functional liver → </a:t>
            </a:r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hypertension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esophageal varices, splenomegaly, ascites (worsened by low albumin / low oncotic pressure).</a:t>
            </a:r>
            <a:endParaRPr lang="en-US" sz="18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28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Gallbladder &amp; pancreas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28342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91192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6211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869186" y="2185988"/>
            <a:ext cx="114615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8261" y="2347913"/>
            <a:ext cx="11367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&amp; clues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Cholelithiasis / cholecystitis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869186" y="2795588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8261" y="2938463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Gallstones block bile flow / inflame the gallbladder → RUQ pain after fatty meals, fever, nausea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418433"/>
            <a:ext cx="4911923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561308"/>
            <a:ext cx="462113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Pancreatitis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869186" y="3418433"/>
            <a:ext cx="11461552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8261" y="3561308"/>
            <a:ext cx="1136724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Pancreatic enzymes activate inside the pancreas and autodigest it → severe epigastric pain radiating to the back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387900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530775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Pancreatic insufficiency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869186" y="4387900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8261" y="4530775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few enzymes (incl. lipase) → fat malabsorption → steatorrhea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3350" y="5206008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pancreatitis is autodigestion — enzymes activate prematurely within the pancreas and digest the organ. Common causes: gallstones and alcohol.</a:t>
            </a:r>
            <a:endParaRPr lang="en-US" sz="18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28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GI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803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25708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9466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14342" y="2185988"/>
            <a:ext cx="1211639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3417" y="2347913"/>
            <a:ext cx="120417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&amp; hallmark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257080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394664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Pyloric stenosis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214342" y="2795588"/>
            <a:ext cx="12116395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33417" y="2938463"/>
            <a:ext cx="12041737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Thickened pyloric muscle obstructs gastric outlet → forceful, projectile, NON-bilious vomiting (block before the bile duct entry)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765054"/>
            <a:ext cx="425708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907929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Intussusception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214342" y="3765054"/>
            <a:ext cx="121163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3417" y="3907929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Bowel telescopes → obstruction + ischemia → currant-jelly stools, intermittent severe pain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387900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530775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Hirschsprung disease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214342" y="4387900"/>
            <a:ext cx="121163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3417" y="4530775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ganglion cells → no peristalsis → constipation/obstruction from birth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5010745"/>
            <a:ext cx="4257080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5153620"/>
            <a:ext cx="394664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Necrotizing enterocolitis (NEC)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214342" y="5010745"/>
            <a:ext cx="12116395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3417" y="5153620"/>
            <a:ext cx="12041737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Premature infant; bowel inflammation/ischemia → distension, feeding intolerance, bloody stools — emergency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3350" y="6175474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Non-bilious vs. bilious: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pyloric stenosis blocks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bile duct → non-bilious (projectile) vomiting. Obstructions below it → bilious (green) vomiting.</a:t>
            </a:r>
            <a:endParaRPr lang="en-US" sz="1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28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reports yellowing skin, dark urine, and pale stools. Which mechanism explains it?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bile flow backs up conjugated bilirubin (cholestasis)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bile excretion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RBC production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albumin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28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mechanism explains the abdominal pain of pancreatitis?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Premature enzyme activation autodigesting the pancreas and causing inflammation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Gallbladder contraction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pancreatic enzymes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Esophageal reflux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28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change explains forceful, non-bilious vomiting in an infant?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Pyloric muscle thickening obstructs the gastric outlet (above the bile duct)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lower bowel obstruction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Bile reflux into the stomach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Esophageal sphincter relaxation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28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652713"/>
            <a:ext cx="180213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4214813"/>
            <a:ext cx="14716125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tube and follow the juices. Every digestive disorder is either a motility problem, a secretion problem, an absorption problem, or a blockage — name which, and the patient's symptoms explain themselves.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339012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· PATHOPHYSIOLOGY COURSE INSTRUCTOR · NIGHTINGALE COLLEGE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13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28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2026-06-28T14:40:31Z</dcterms:created>
  <dcterms:modified xsi:type="dcterms:W3CDTF">2026-06-28T14:40:31Z</dcterms:modified>
</cp:coreProperties>
</file>