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10 — the Pulmonary System. We are walking through ventilation, gas exchange, and the disorders that disrupt them, all the way to the pediatric airway.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 — three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weekly learning objectives — structure and function, alterations, systemic consequences, and pediatric pulmonary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covers pulmonary structure, function, and alterations. Review the alveolar-capillary membrane diagram before the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10 — Week 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 — pre-assessment, discussion, webinar quiz, case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recall pulmonary structure and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Ventilation and gas exchange — the thin, dry, large membrane.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slows diffusion — thickening, fluid, lost surface area, low inspired oxygen.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of breathing — central versus peripheral chemoreceptors.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CO2 is an acid — the core acid-base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ABGs — normal values and respiratory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fibrosis and diffusion.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hypoxemia and hyperventilation.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hypoventilation and 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alterations of pulmonary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Obstructive versus restrictive lung disease — the master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Asthma versus emphysema — the obstruction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Hypoxemia mechanisms and V/Q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Pulmonary embolism — dead space and V/Q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Alveolar and pleural disorders — edema, ARDS, atelectasis, pneumonia, effusion.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Systemic consequences — cyanosis, clubbing, cor pulmonale.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pulmonary embolism.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emphysema/COPD.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applying pulmonary pathophysiology.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pediatric and clinical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Neonatal respiratory distress syndrome — surfactant deficiency.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of breathing — retractions, flaring, tachypnea.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Pediatric airway disease — croup, bronchiolitis, foreign body; stridor versus wheeze.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pulmonary pathophysiology at the bedside.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716661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716661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Pulmonary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gradFill rotWithShape="1">
            <a:gsLst>
              <a:gs pos="0">
                <a:srgbClr val="1A3260">
                  <a:alpha val="55000"/>
                </a:srgbClr>
              </a:gs>
              <a:gs pos="60000">
                <a:srgbClr val="1A3260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rcRect l="20680" r="2068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292066" y="9648825"/>
            <a:ext cx="169113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425416" y="9725025"/>
            <a:ext cx="15006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week 10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290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86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752725"/>
            <a:ext cx="68675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&amp; function — ventilation, gas exchange, ABGs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6290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88607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93846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— obstructive, restrictive, V/Q mismatch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6482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0386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4090987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&amp; clinical application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6482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40386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4090987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checks &amp; discussion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33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TEN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structure and function of the pulmonary system.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pulmonary function and the mechanisms of hypoxemia.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systemic consequences of chronic pulmonary disease.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735330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47700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64770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33600" y="661035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pediatric pulmonary disorders and airway emergencies.</a:t>
            </a:r>
            <a:endParaRPr lang="en-US" sz="2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structure &amp; function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of pulmonary function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 Study Guide — covers all four objectives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773662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373737"/>
            <a:ext cx="737425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 interpretation refresher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V/Q mismatch &amp; obstructive vs. restrictive overview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 one-liners — respiratory acidosis vs. alkalosis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Stridor vs. wheeze — upper vs. lower airway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cheat sheet — highest-yield patterns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33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591550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503265"/>
            <a:ext cx="859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TEN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3979515"/>
            <a:ext cx="85915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Ten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126236"/>
            <a:ext cx="6867525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pulmonary system — ventilation, gas exchange, the mechanisms of hypoxemia, and the disorders that disrupt breathing from the alveolus to the pediatric airway.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33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596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 Pre-Assessment — complete before the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apply pulmonary pathophysiology to a clinical scenario;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covers ventilation, gas exchange, V/Q mismatch, and pediatric airway disease.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apply ABG interpretation and hypoxemia mechanisms to real patients.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— obstructive vs. restrictive disease, ARDS, and the pediatric airway. Bring your reading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33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STRUCTURE &amp;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pulmonary structure and function — ventilation and gas exchange, the control of breathing, and the acid-base role of the lungs.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33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Ventilation &amp; gas exchange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jobs: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ventilation moves air in and out; gas exchange moves O₂ in and CO₂ out across the alveolar–capillary membrane.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must be matched: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ventilation (air) needs perfusion (blood) right next to it.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membrane works best when it is thin, dry, and large.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thickens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it, fills it with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reduces its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area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slows diffusion → hypoxemia.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33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slows diffusion → hypoxemia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469448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43971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8828" y="2185988"/>
            <a:ext cx="742191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27903" y="2347913"/>
            <a:ext cx="72064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Thickened membrane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214342" y="2795588"/>
            <a:ext cx="469448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3417" y="2938463"/>
            <a:ext cx="439717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O₂ takes longer to cross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908828" y="2795588"/>
            <a:ext cx="742191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27903" y="2938463"/>
            <a:ext cx="720641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fibrosis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in the way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3418433"/>
            <a:ext cx="469448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3561308"/>
            <a:ext cx="439717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diffusion distance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908828" y="3418433"/>
            <a:ext cx="742191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7903" y="3561308"/>
            <a:ext cx="720641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edema, pneumonia exudate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surface area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14342" y="4041279"/>
            <a:ext cx="469448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3417" y="4184154"/>
            <a:ext cx="439717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working alveoli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908828" y="4041279"/>
            <a:ext cx="742191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27903" y="4184154"/>
            <a:ext cx="720641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Emphysema, atelectasis, lung compression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inspired O₂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214342" y="4664125"/>
            <a:ext cx="469448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3417" y="4807000"/>
            <a:ext cx="439717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alveolar O₂ to begin with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908828" y="4664125"/>
            <a:ext cx="742191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27903" y="4807000"/>
            <a:ext cx="720641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altitude (low FiO₂)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33350" y="5520333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fibrosis thickens · edema &amp; pneumonia add fluid · emphysema &amp; atelectasis destroy surface area. All roads lead to hypoxemia.</a:t>
            </a:r>
            <a:endParaRPr lang="en-US" sz="18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33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of breathing &amp; chemoreceptors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chemoreceptors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in the brainstem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Mainly sense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/ pH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141291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day-to-day driver of breathing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65246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chemoreceptors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096500" y="3181350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Carotid &amp; aortic bodies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3661321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O₂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(hypoxemia)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414129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breathing when oxygen falls → hyperventilation / tachypnea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350" y="89344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tachypnea, nasal flaring, and accessory-muscle use signal ↑ work of breathing. A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in a tiring patient is ominous — drive is failing.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ACID–BASE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is an acid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lungs are a major acid–base organ because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is an acid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dissolved CO₂ + water → carbonic acid, which lowers pH.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Hypoventilation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CO₂ retained → more carbonic acid → pH falls =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acidosis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Hyperventilation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CO₂ blown off → less acid → pH rises =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alkalosis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you breathe directly sets your blood acidity.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arterial blood gases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29470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25973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904357" y="2185988"/>
            <a:ext cx="445011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23432" y="2347913"/>
            <a:ext cx="41454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range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354467" y="2185988"/>
            <a:ext cx="897627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3542" y="2347913"/>
            <a:ext cx="88074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29470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904357" y="2795588"/>
            <a:ext cx="445011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23432" y="2938463"/>
            <a:ext cx="41454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 – 7.45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354467" y="2795588"/>
            <a:ext cx="897627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3542" y="2938463"/>
            <a:ext cx="8807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7.35 acidosis · &gt; 7.45 alkalosis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29470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3904357" y="3418433"/>
            <a:ext cx="445011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3432" y="3561308"/>
            <a:ext cx="41454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– 45 mmHg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354467" y="3418433"/>
            <a:ext cx="897627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3542" y="3561308"/>
            <a:ext cx="8807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respiratory number (CO₂ = acid)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29470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PaO₂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3904357" y="4041279"/>
            <a:ext cx="445011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3432" y="4184154"/>
            <a:ext cx="41454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– 100 mmHg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354467" y="4041279"/>
            <a:ext cx="897627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73542" y="4184154"/>
            <a:ext cx="8807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Oxygenation; &lt; 80 = hypoxemia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29470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HCO₃⁻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3904357" y="4664125"/>
            <a:ext cx="445011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23432" y="4807000"/>
            <a:ext cx="41454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– 26 mEq/L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354467" y="4664125"/>
            <a:ext cx="897627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3542" y="4807000"/>
            <a:ext cx="8807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metabolic (kidney) number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706755" y="5482233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acidosis: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pH, ↑ CO₂ (hypoventilation) · </a:t>
            </a:r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 alkalosis: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pH, ↓ CO₂ (hyperventilation). Early hypoxemia → alkalosis; a tiring patient → acidosis (danger sign).</a:t>
            </a:r>
            <a:endParaRPr lang="en-US" sz="18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pulmonary fibrosis develops hypoxemia. Which mechanism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diffusion across a thickened alveolar–capillary membrane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alveolar elasticity speeding O₂ diffusion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membrane thickness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ventilation overcoming the problem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hypoxemia begins to hyperventilate. Which mechanism explains this?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stimulation of peripheral chemoreceptors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chemoreceptor stimulation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chemoreceptor sensitivity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chemoreceptor signaling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hypoventilation has an elevated PaCO₂. Which change drops the blood pH?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carbonic acid formation from retained CO₂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carbonic acid from retained CO₂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carbonic acid from reduced CO₂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carbonic acid from reduced CO₂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ALTERATIONS OF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pulmonary function — obstructive vs. restrictive disease, the mechanisms of hypoxemia and V/Q mismatch, alveolar and pleural disorders, and the systemic consequences.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Obstructive vs. restrictive lung disease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 split — trouble getting air OUT vs. trouble getting air 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803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29470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4357" y="2586038"/>
            <a:ext cx="722471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23432" y="2747963"/>
            <a:ext cx="70033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Obstructive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129070" y="2586038"/>
            <a:ext cx="620166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48145" y="2747963"/>
            <a:ext cx="59495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Restrictive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3195638"/>
            <a:ext cx="29470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3338513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904357" y="3195638"/>
            <a:ext cx="722471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23432" y="3338513"/>
            <a:ext cx="700330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airway resistance — can't exhale fully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129070" y="3195638"/>
            <a:ext cx="620166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48145" y="3338513"/>
            <a:ext cx="594956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lung compliance — can't expand fully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818483"/>
            <a:ext cx="2947095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61358"/>
            <a:ext cx="259735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3904357" y="3818483"/>
            <a:ext cx="7224713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3432" y="3961358"/>
            <a:ext cx="700330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Asthma, COPD (chronic bronchitis, emphysema), bronchiolitis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129070" y="3818483"/>
            <a:ext cx="620166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48145" y="3961358"/>
            <a:ext cx="594956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Fibrosis, ARDS, atelectasis, pleural effusion, chest-wall problems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787950"/>
            <a:ext cx="294709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930825"/>
            <a:ext cx="259735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3904357" y="4787950"/>
            <a:ext cx="722471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3432" y="4930825"/>
            <a:ext cx="700330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Wheeze, prolonged expiration, air trapping, barrel chest, pursed-lip breathing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129070" y="4787950"/>
            <a:ext cx="620166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48145" y="4930825"/>
            <a:ext cx="594956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Rapid, shallow breaths (tachypnea), ↓ lung volumes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757416"/>
            <a:ext cx="29470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900291"/>
            <a:ext cx="259735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3904357" y="5757416"/>
            <a:ext cx="722471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23432" y="5900291"/>
            <a:ext cx="700330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gets in easier than out → air trapping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129070" y="5757416"/>
            <a:ext cx="620166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48145" y="5900291"/>
            <a:ext cx="594956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Lungs resist filling; breaths are small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Asthma vs. emphysema — the obstruction mechanism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3009900"/>
            <a:ext cx="7886700" cy="542925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3009900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09950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Asthma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4010025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bronchial smooth-muscle constriction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4489996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inflammation and mucus → narrowed lumen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969966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Wheeze and prolonged expiration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5449937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Triggers: allergens, exercise, cold air, pollution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48800" y="3009900"/>
            <a:ext cx="7886700" cy="542925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9448800" y="3009900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0" y="3409950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Emphysema (COPD)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0096500" y="4010025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Destruction of alveolar walls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loss of elastic recoil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96500" y="4489996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airways collapse on exhalation → air trapping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4969966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Barrel chest, pursed-lip breathing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096500" y="5449937"/>
            <a:ext cx="75704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— not a single acute bronchospasm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06755" y="8667750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obstructive disease raises resistance (problem is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exhaling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restrictive disease lowers compliance (problem is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inhaling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Severe obstruction traps CO₂ → hypercapnia.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Hypoxemia mechanisms &amp; V/Q mismatch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exchange needs ventilation (V) and perfusion (Q) matched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356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886771" y="2586038"/>
            <a:ext cx="608766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05846" y="2747963"/>
            <a:ext cx="58321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974437" y="2586038"/>
            <a:ext cx="635630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93512" y="2747963"/>
            <a:ext cx="61088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example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V/Q mismatch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886771" y="3195638"/>
            <a:ext cx="60876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5846" y="3338513"/>
            <a:ext cx="583214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&amp; blood not matched in the same area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974437" y="3195638"/>
            <a:ext cx="635630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93512" y="3338513"/>
            <a:ext cx="61088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lung disease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space (V without Q)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886771" y="3818483"/>
            <a:ext cx="60876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5846" y="3961358"/>
            <a:ext cx="583214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Alveoli ventilated but not perfused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974437" y="3818483"/>
            <a:ext cx="635630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93512" y="3961358"/>
            <a:ext cx="61088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embolism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Shunt (Q without V)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886771" y="4441329"/>
            <a:ext cx="60876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5846" y="4584204"/>
            <a:ext cx="583214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passes unventilated alveoli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974437" y="4441329"/>
            <a:ext cx="635630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93512" y="4584204"/>
            <a:ext cx="61088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Pneumonia, atelectasis, edema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defect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886771" y="5064175"/>
            <a:ext cx="60876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5846" y="5207050"/>
            <a:ext cx="583214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 / fluid-filled membrane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974437" y="5064175"/>
            <a:ext cx="635630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93512" y="5207050"/>
            <a:ext cx="61088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Fibrosis, edema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5687020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5829895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inspired O₂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886771" y="5687020"/>
            <a:ext cx="60876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5846" y="5829895"/>
            <a:ext cx="583214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O₂ to begin with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974437" y="5687020"/>
            <a:ext cx="635630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93512" y="5829895"/>
            <a:ext cx="61088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altitude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7263" y="6309866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6338" y="6452741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Hypoventilation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4886771" y="6309866"/>
            <a:ext cx="60876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5846" y="6452741"/>
            <a:ext cx="583214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enough air moved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974437" y="6309866"/>
            <a:ext cx="635630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93512" y="6452741"/>
            <a:ext cx="610883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Sedation, COPD, neuromuscular weakness</a:t>
            </a:r>
            <a:endParaRPr lang="en-US" sz="19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 EXAM POINT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embolism — a perfusion problem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clot blocks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perfusion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lung region.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alveoli are still ventilated but get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blood flow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(dead space) → V/Q mismatch → hypoxemia.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perfusion, not ventilation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dyspnea, pleuritic chest pain, tachycardia, hypoxia; ↑ D-dimer.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hypoxemia → hypoxic pulmonary vasoconstriction → over the whole lung this raises pulmonary pressures → pulmonary hypertension.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Alveolar &amp; pleural disorders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773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886771" y="2185988"/>
            <a:ext cx="603021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5846" y="2347913"/>
            <a:ext cx="57729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916989" y="2185988"/>
            <a:ext cx="641374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36064" y="2347913"/>
            <a:ext cx="6168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edema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886771" y="2795588"/>
            <a:ext cx="603021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5846" y="2938463"/>
            <a:ext cx="577297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floods alveoli (often left heart failure)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916989" y="2795588"/>
            <a:ext cx="641374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36064" y="2938463"/>
            <a:ext cx="616801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diffusion distance → dyspnea, crackles, hypoxemia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92950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886771" y="3418433"/>
            <a:ext cx="603021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5846" y="3561308"/>
            <a:ext cx="577297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 alveolar injury → ↑ capillary permeability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916989" y="3418433"/>
            <a:ext cx="641374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36064" y="3561308"/>
            <a:ext cx="616801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refractory hypoxemia; triggers: sepsis, aspiration, trauma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392950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Atelectasis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886771" y="4387900"/>
            <a:ext cx="603021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5846" y="4530775"/>
            <a:ext cx="577297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Alveolar collapse (obstruction, compression, surfactant loss)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916989" y="4387900"/>
            <a:ext cx="641374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36064" y="4530775"/>
            <a:ext cx="616801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ventilation → shunt → hypoxemia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357366"/>
            <a:ext cx="392950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500241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886771" y="5357366"/>
            <a:ext cx="603021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5846" y="5500241"/>
            <a:ext cx="577297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fills alveoli with inflammatory exudate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916989" y="5357366"/>
            <a:ext cx="641374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36064" y="5500241"/>
            <a:ext cx="616801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diffusion distance → hypoxemia, productive cough, fever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6326832"/>
            <a:ext cx="392950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6469707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Pleural effusion / empyema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886771" y="6326832"/>
            <a:ext cx="603021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5846" y="6469707"/>
            <a:ext cx="577297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(or infected pus) in the pleural space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916989" y="6326832"/>
            <a:ext cx="641374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36064" y="6469707"/>
            <a:ext cx="616801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Compresses lung → ↓ breath sounds, dyspnea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33350" y="7144941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Pleuritic pain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inflammation of the parietal pleura (it has pain fibers; the lung itself does not). Sharp pain that worsens with deep breaths.</a:t>
            </a:r>
            <a:endParaRPr lang="en-US" sz="18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consequences — cyanosis, clubbing, cor pulmonale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3009900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3014663"/>
            <a:ext cx="45845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3176588"/>
            <a:ext cx="42838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541764" y="3014663"/>
            <a:ext cx="1178897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839" y="3176588"/>
            <a:ext cx="117044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3624263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3767137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Cyanosis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541764" y="3624263"/>
            <a:ext cx="117889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839" y="3767137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deoxygenated hemoglobin in capillary blood → bluish skin / mucous membranes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4247108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4389983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Clubbing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541764" y="4247108"/>
            <a:ext cx="117889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839" y="4389983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hypoxemia → growth factors stimulate tissue/vascular proliferation in the fingertips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869954"/>
            <a:ext cx="45845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5012829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hypertension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541764" y="4869954"/>
            <a:ext cx="1178897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839" y="5012829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hypoxic vasoconstriction → high pulmonary artery pressure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5492800"/>
            <a:ext cx="458450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5635675"/>
            <a:ext cx="428388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pulmonale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541764" y="5492800"/>
            <a:ext cx="1178897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839" y="5635675"/>
            <a:ext cx="1170449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ventricle fails against chronic pulmonary hypertension → JVD, edema, hepatomegaly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06755" y="6349008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cyanosis is about the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deoxygenated hemoglobin, not just saturation. Clubbing is a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hypoxemia sign — it points to long-standing disease.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develops a pulmonary embolism with hypoxemia. Which mechanism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perfusion causing ventilation–perfusion mismatch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perfusion causing mismatch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ventilation as the primary cause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perfusion causing mismatch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33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70-year-old with a 50-pack-year history has a barrel chest, pursed-lip breathing, and prolonged expiration. Which process most directly causes the airflow limitation?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Destruction of alveolar walls and collapse of small airways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elastic recoil improving expiration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surfactant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reversible bronchospasm only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aspirating gastric contents, a patient develops dyspnea, crackles, and diffuse alveolar injury. Which mechanism best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inflammatory response injuring the alveolar–capillary membrane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inflammation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membrane defense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alveolar repair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mechanism of hypoxemia — V/Q mismatch, shunt, dead space, diffusion defect, or hypoventilation — and trace it from the alveolus to a clinical sign at the bedside. How would recognizing that mechanism change your nursing assessment or oxygen therapy?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 — WEEK 10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PEDIATRIC &amp; CLINICAL APPLICATION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pediatric pulmonary disorders — neonatal respiratory distress, the signs of increased work of breathing, and the pediatric airway emergencies.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Neonatal respiratory distress syndrome (RDS)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3143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Prematurity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31432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Immature type II alveolar cells.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Surfactant deficiency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5528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enough surfactant to lower surface tension.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3143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Surface tension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Alveoli collapse on exhalation (atelectasis).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gas exchange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5528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Hypoxemia and increased work of breathing.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3350" y="474910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surfactant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lowers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tension and keeps alveoli open — so the answer is always "decreased surfactant → increased surface tension → collapse."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TO RECOGNIZE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of increased work of breathing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greater inspiratory effort makes intrathoracic pressure more negative; a child's compliant chest wall gets pulled inward.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Nasal flaring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accessory-muscle use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recruiting extra muscles to move air.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537335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Tachypnea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faster breathing to compensate for hypoxemia.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infants may also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hypoventilate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(immature drive/muscles) → CO₂ retention (hypercapnia).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have a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compliant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(softer) chest wall than adults — that's why they retract; a stiffer chest wall would be less likely to.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airway disease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Children's airways are smaller — the same swelling causes far more obstruction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647729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62334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/ cause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036647" y="2586038"/>
            <a:ext cx="629409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55722" y="2747963"/>
            <a:ext cx="60447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Croup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647729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62334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airway — subglottic inflammation/edema (viral)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036647" y="3195638"/>
            <a:ext cx="629409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55722" y="3338513"/>
            <a:ext cx="60447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Barking cough + inspiratory stridor, hoarse voice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Bronchiolitis (RSV)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3818483"/>
            <a:ext cx="647729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3961358"/>
            <a:ext cx="62334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small airways — inflammation, edema, mucus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036647" y="3818483"/>
            <a:ext cx="629409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55722" y="3961358"/>
            <a:ext cx="60447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Wheeze, air trapping, distress in infants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Foreign-body aspiration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441329"/>
            <a:ext cx="647729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584204"/>
            <a:ext cx="62334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lodges in an airway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036647" y="4441329"/>
            <a:ext cx="629409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55722" y="4584204"/>
            <a:ext cx="60447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block → atelectasis; partial → air trapping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Pneumonia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064175"/>
            <a:ext cx="647729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207050"/>
            <a:ext cx="62334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Alveoli fill with exudate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036647" y="5064175"/>
            <a:ext cx="629409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55722" y="5207050"/>
            <a:ext cx="604476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Hypoxemia, fever, focal findings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3350" y="5882283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Stridor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(harsh, inspiratory) =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airway narrowing (croup). </a:t>
            </a:r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Wheeze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(expiratory) =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airway narrowing (bronchiolitis, asthma).</a:t>
            </a:r>
            <a:endParaRPr lang="en-US" sz="18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premature infant develops RDS with alveolar collapse. Which mechanism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surfactant production increasing surface tension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surfactant decreasing surface tension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surfactant decreasing surface tension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Surfactant excess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6-year-old has a barking cough and inspiratory stridor that worsened overnight, with a hoarse voice. What is the primary mechanism?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Subglottic airway inflammation and edema narrowing the upper airway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Surfactant deficiency in the lower airways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Alveolar fluid impairing oxygen exchange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Bronchial smooth-muscle constriction limiting expiration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alveolus to the pediatric airway, every pulmonary disorder comes back to one question: is the problem ventilation, perfusion, or the membrane between them? Answer that, and the bedside picture — the ABG, the breath sounds, the work of breathing — falls into place.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10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33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2026-06-28T14:32:18Z</dcterms:created>
  <dcterms:modified xsi:type="dcterms:W3CDTF">2026-06-28T14:32:18Z</dcterms:modified>
</cp:coreProperties>
</file>