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 from midterm week, everyone. This week we tackle the hematologic system — bleeding versus clotting disorders, anemias, and the labs that tell us what is going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agenda — four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weekly learning objectives — structure and function, alterations, and clinical consequences.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reading is Chapters 27 through 29. Review the coagulation cascade before the webinar.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Module 8 — Week 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due this week — pre-assessment, discussion, webinar quiz, and case study. All by Saturday June 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objective — recall structure and function of the hematologic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Components of blood — plasma, RBCs, WBCs, platelets.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Erythrocyte structure — biconcave, no nucleus, no mitochondria. Why it matters for oxygen exchange.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Hemoglobin — structure, oxygen binding, and the carbon monoxide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Erythropoiesis — kidney senses hypoxia and releases 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Hemostasis — the three steps. Vascular spasm, platelet plug, coagulation cascade.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Coagulation cascade — intrinsic, extrinsic, common pathway. PT and aPTT.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RBC structure for gas exchange.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carbon monoxide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high altitude EPO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objective — alterations of hematologic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Anemia — definition and three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Microcytic anemias — iron deficiency and thalassemia.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Macrocytic anemias — B12 and folate deficiency.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Normocytic anemias — chronic disease, hemolysis, aplastic, blood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Sickle cell disease — molecular basis and crisis triggers.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Polycythemia — primary versus secondary.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Bleeding disorders — hemophilia and von Willebrand. The not enough glue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Clotting disorders — DVT, PE, DIC. The too much glue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DIC — when bleeding and clotting happen at the same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signature framework — PT, aPTT, platelets, D-dimer.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B12 deficiency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bleeding versus clotting recognition.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— bleeding versus clotting, what is the clinical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objective — clinical consequences and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Anemia symptoms across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Sickle cell crisis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DIC management — treat the trigger.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Transfusion basics and reactions.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case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finish strong, second half of the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762000"/>
            <a:ext cx="2667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0650" y="809625"/>
            <a:ext cx="47200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PATHOPHYSIOLOGY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52500" y="4195316"/>
            <a:ext cx="6710553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52500" y="5356473"/>
            <a:ext cx="671055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19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Hematologic System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52500" y="8923139"/>
            <a:ext cx="671055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Nightingale College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229600" y="0"/>
            <a:ext cx="10058400" cy="10287000"/>
          </a:xfrm>
          <a:prstGeom prst="rect">
            <a:avLst/>
          </a:prstGeom>
          <a:solidFill>
            <a:srgbClr val="1A3260">
              <a:alpha val="5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0" y="0"/>
            <a:ext cx="10058400" cy="1028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375856" y="9648825"/>
            <a:ext cx="1607344" cy="333375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6509206" y="9725025"/>
            <a:ext cx="14168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week 8 visual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9300" y="280511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Hematologic structure &amp; function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6012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668000" y="280511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Anemias &amp; sickle cell disease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019300" y="3824288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Bleeding vs. clotting disorders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6012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668000" y="3824288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 &amp; clinical management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37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EIGHT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structure and function of the hematologic system.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8145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14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3600" y="411480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alterations of hematologic function and resultant consequences.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105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522922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292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33600" y="536257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the clinical manifestations and management of common hematologic disorders.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37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resources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reading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2037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27 — Structure &amp; Function of the Hematologic System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28 — Alterations of Erythrocyte Function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29 — Alterations of Leukocyte, Lymphoid, and Hemostatic Function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5466904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60145" y="6066979"/>
            <a:ext cx="7374255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Coagulation cascade animation — review before the webinar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sickle cell disease patient resources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tools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6564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/ aPTT / platelet / D-dimer interpretation framework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Anemia classification by MCV — micro, normo, macrocytic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Transfusion reaction quick reference</a:t>
            </a:r>
            <a:endParaRPr lang="en-US" sz="1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37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48100"/>
            <a:ext cx="8044815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960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9525000" y="3710434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EIGHT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4186684"/>
            <a:ext cx="804481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Eight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0" y="5333405"/>
            <a:ext cx="686752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Hematologic system — blood components, anemia, sickle cell disease, and the bleeding-versus-clotting framework that shapes nursing care.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37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 · JUNE 22 – JUNE 28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due this week?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725805" y="2836515"/>
            <a:ext cx="14590395" cy="3596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Pre-Assessment — complete before the webinar.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— "Bleeding vs. Clotting Disorders — What's the Difference Clinically?" — initial post + 2 peer replies.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Quiz — due Saturday, June 28 by 11:59 PM (anemia, hemostasis, DIC, sickle cell).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due Saturday, June 28 by 11:59 PM (apply lab signatures to a real scenario).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— DIC, sickle cell crises, and anemia management. Come ready to discuss lab values.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37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STRUCTURE &amp; FUNCTION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structure and function of the hematologic system — components of blood, erythrocyte design, hemoglobin, erythropoiesis, and hemostasis.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37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of blood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~55% plasma · ~45% formed elements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3803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559350" y="2586038"/>
            <a:ext cx="720313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8425" y="2747963"/>
            <a:ext cx="69810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762482" y="2586038"/>
            <a:ext cx="556825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81557" y="2747963"/>
            <a:ext cx="52971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function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7263" y="3195638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338" y="3338513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Plasma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559350" y="3195638"/>
            <a:ext cx="720313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8425" y="3338513"/>
            <a:ext cx="6981076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water · albumin · globulins · fibrinogen · electrolytes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762482" y="3195638"/>
            <a:ext cx="5568255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81557" y="3338513"/>
            <a:ext cx="529715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· oncotic pressure · clotting · immunity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4165104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4307979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Erythrocytes (RBCs)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559350" y="4165104"/>
            <a:ext cx="720313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8425" y="4307979"/>
            <a:ext cx="698107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Biconcave, anucleate; contain hemoglobin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762482" y="4165104"/>
            <a:ext cx="556825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981557" y="4307979"/>
            <a:ext cx="529715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Oxygen and CO₂ transport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7263" y="4787950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6338" y="4930825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Leukocytes (WBCs)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559350" y="4787950"/>
            <a:ext cx="720313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8425" y="4930825"/>
            <a:ext cx="6981076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Neutrophils · lymphocytes · monocytes · eosinophils · basophils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1762482" y="4787950"/>
            <a:ext cx="5568255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981557" y="4930825"/>
            <a:ext cx="529715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defense &amp; inflammation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5757416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5900291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Platelets (thrombocytes)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559350" y="5757416"/>
            <a:ext cx="720313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8425" y="5900291"/>
            <a:ext cx="698107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fragments from megakaryocytes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762482" y="5757416"/>
            <a:ext cx="556825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981557" y="5900291"/>
            <a:ext cx="529715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Hemostasis — primary plug formation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706755" y="6613624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albumin in liver disease drops oncotic pressure → generalized edema.</a:t>
            </a:r>
            <a:endParaRPr lang="en-US" sz="18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38" name="Text 3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37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RBC ANATOMY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Erythrocyte design — built for gas exchange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Biconcave shape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maximizes surface area for diffusion and lets cells deform through capillaries.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nucleus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more room for hemoglobin; cells cannot divide once mature.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mitochondria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anaerobic glycolysis only; the RBC will not consume the oxygen it carries.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Lifespan ~120 days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old cells removed by macrophages in the spleen.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94136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~270 million hemoglobin molecules per cell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each binds up to 4 O₂.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37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Hemoglobin &amp; oxygen transport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824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globin chains (2 α, 2 β in adult HbA)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chain holds one heme group with one iron (Fe²⁺)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Hb molecule carries 4 O₂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Cooperative binding → sigmoidal O₂ dissociation curve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go wrong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0096500" y="3181350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monoxide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binds Hb ~250× more tightly than O₂ → carboxyhemoglobin → tissue hypoxia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096500" y="400794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Methemoglobinemia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Fe²⁺ oxidized to Fe³⁺ → cannot bind O₂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096500" y="4834533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Sickle Hb (HbS)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point mutation polymerizes when deoxygenated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96500" y="5661124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Thalassemia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reduced globin chain production</a:t>
            </a:r>
            <a:endParaRPr lang="en-US" sz="1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37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Erythropoiesis — how the body makes RBCs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Hypoxia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Tissue oxygen falls — high altitude, anemia, lung disease.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339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2959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52959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55435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435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Kidney sensing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435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Peritubular cells release erythropoietin (EPO).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8773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6393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93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98869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869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Marrow stimulation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8869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 drives erythroid precursors in bone marrow.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2207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39827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9827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42303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2303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RBC release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303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Reticulocytes mature; Hct rises, oxygen delivery restored.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06755" y="4699546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nutrients: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 · vitamin B12 · folate · protein. Missing any one disrupts production.</a:t>
            </a:r>
            <a:endParaRPr lang="en-US" sz="18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51486" y="9686925"/>
            <a:ext cx="7602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37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Hemostasis — three steps to stop bleeding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3352800" cy="21868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Vascular spasm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Injured vessel constricts — reduces blood loss within seconds.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33900" y="2181225"/>
            <a:ext cx="609600" cy="222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295900" y="2181225"/>
            <a:ext cx="3352800" cy="21868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52959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55435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435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Platelet plug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435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Platelets adhere via von Willebrand factor, aggregate, and form a primary plug.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877300" y="2181225"/>
            <a:ext cx="609600" cy="222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639300" y="2181225"/>
            <a:ext cx="3352800" cy="21868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93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98869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86950" y="2790825"/>
            <a:ext cx="29432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Coagulation cascade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886950" y="35528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Clotting factors generate fibrin — stabilizes the plug.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220700" y="2181225"/>
            <a:ext cx="609600" cy="222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3982700" y="2181225"/>
            <a:ext cx="3352800" cy="21868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9827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42303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2303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Fibrinolysis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303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Plasmin breaks down clot once the vessel heals — generates D-dimer.</a:t>
            </a:r>
            <a:endParaRPr lang="en-US" sz="16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37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Coagulation cascade — what the labs measure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733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679876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65645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&amp; key factors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358116" y="2185988"/>
            <a:ext cx="597262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77191" y="2347913"/>
            <a:ext cx="57136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2795588"/>
            <a:ext cx="679876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2938463"/>
            <a:ext cx="656457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 to blood — factors XII, XI, IX, VIII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358116" y="2795588"/>
            <a:ext cx="597262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77191" y="2938463"/>
            <a:ext cx="571365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monitors heparin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Extrinsic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3418433"/>
            <a:ext cx="679876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3561308"/>
            <a:ext cx="656457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Tissue injury — factor VII + tissue factor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358116" y="3418433"/>
            <a:ext cx="597262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77191" y="3561308"/>
            <a:ext cx="571365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/ INR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highlight>
                  <a:srgbClr val="F5F6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· monitors warfarin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4041279"/>
            <a:ext cx="679876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4184154"/>
            <a:ext cx="656457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 X, V, II (prothrombin), I (fibrinogen)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358116" y="4041279"/>
            <a:ext cx="597262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577191" y="4184154"/>
            <a:ext cx="571365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PT and aPTT prolonged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66412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80700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Platelet count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559350" y="4664125"/>
            <a:ext cx="679876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8425" y="4807000"/>
            <a:ext cx="656457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hemostasis — adhesion &amp; plug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358116" y="4664125"/>
            <a:ext cx="597262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577191" y="4807000"/>
            <a:ext cx="571365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→ bleeding (purpura, petechiae)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528697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542984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D-dimer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4559350" y="5286970"/>
            <a:ext cx="679876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8425" y="5429845"/>
            <a:ext cx="656457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Fibrin breakdown product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1358116" y="5286970"/>
            <a:ext cx="597262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577191" y="5429845"/>
            <a:ext cx="571365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Elevated in DVT, PE, DIC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706755" y="6143179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Mnemonic: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ctr" indent="0" marL="0">
              <a:buNone/>
            </a:pPr>
            <a:r>
              <a:rPr lang="en-US" sz="1800" u="sng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→ in</a:t>
            </a:r>
            <a:pPr algn="ctr" indent="0" marL="0">
              <a:buNone/>
            </a:pPr>
            <a:r>
              <a:rPr lang="en-US" sz="1800" u="sng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trinsic = aPTT · P</a:t>
            </a:r>
            <a:pPr algn="ctr" indent="0" marL="0">
              <a:buNone/>
            </a:pPr>
            <a:r>
              <a:rPr lang="en-US" sz="1800" u="sng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→ e</a:t>
            </a:r>
            <a:pPr algn="ctr" indent="0" marL="0">
              <a:buNone/>
            </a:pPr>
            <a:r>
              <a:rPr lang="en-US" sz="1800" u="sng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trinsic = PT.</a:t>
            </a:r>
            <a:endParaRPr lang="en-US" sz="18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37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characteristic of erythrocytes supports efficient oxygen exchange?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Biconcave shape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content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Mitochondrial activity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division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37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exposed to carbon monoxide shows decreased oxygen delivery. Which mechanism explains this effect?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monoxide binds hemoglobin with high affinity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monoxide oxidizes hemoglobin iron to the ferric form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monoxide lowers oxygen release from hemoglobin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monoxide blocks oxygen diffusion in alveoli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37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living at high altitude develops increased red blood cell production. Which mechanism drives this change?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hypoxia triggers erythropoietin secretion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Hemoconcentration raises measured hematocrit values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Hyperventilation lowers arterial carbon dioxide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Sympathetic output raises heart rate response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37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ALTERATIONS OF FUNCTION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alterations of hematologic function — anemia categories, sickle cell disease, polycythemia, and bleeding versus clotting disorders.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37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Anemia — reduced oxygen-carrying capacity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 &lt; 13 g/dL (men) or &lt; 12 g/dL (women), or reduced RBC mass.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symptoms: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 · pallor · tachycardia · dyspnea on exertion · cold extremities.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200376"/>
            <a:ext cx="745157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by MCV (mean corpuscular volume):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449705" y="4615607"/>
            <a:ext cx="13866495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26695" indent="-226695">
              <a:lnSpc>
                <a:spcPct val="140000"/>
              </a:lnSpc>
              <a:buSzPct val="100000"/>
              <a:buChar char="○"/>
              <a:tabLst>
                <a:tab pos="226695" algn="l"/>
              </a:tabLst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Microcytic (MCV &lt; 80) — small RBCs</a:t>
            </a:r>
            <a:endParaRPr lang="en-US" sz="2550" dirty="0"/>
          </a:p>
          <a:p>
            <a:pPr algn="l" marL="226695" indent="-226695">
              <a:lnSpc>
                <a:spcPct val="140000"/>
              </a:lnSpc>
              <a:buSzPct val="100000"/>
              <a:buChar char="○"/>
              <a:tabLst>
                <a:tab pos="226695" algn="l"/>
              </a:tabLst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Normocytic (MCV 80–100) — normal-size RBCs</a:t>
            </a:r>
            <a:endParaRPr lang="en-US" sz="2550" dirty="0"/>
          </a:p>
          <a:p>
            <a:pPr algn="l" marL="226695" indent="-226695">
              <a:lnSpc>
                <a:spcPct val="140000"/>
              </a:lnSpc>
              <a:buSzPct val="100000"/>
              <a:buChar char="○"/>
              <a:tabLst>
                <a:tab pos="226695" algn="l"/>
              </a:tabLst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Macrocytic (MCV &gt; 100) — large RBCs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18514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by mechanism: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production · increased destruction · blood loss.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37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Microcytic anemias — MCV &lt; 80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10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646807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62239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027420" y="2185988"/>
            <a:ext cx="630331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6495" y="2347913"/>
            <a:ext cx="60542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labs / clues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Iron-deficiency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2795588"/>
            <a:ext cx="646807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2938463"/>
            <a:ext cx="622396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loss · poor intake · malabsorption · pregnancy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027420" y="2795588"/>
            <a:ext cx="630331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6495" y="2938463"/>
            <a:ext cx="605426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ferritin · ↓ serum iron · ↑ TIBC · pica · spoon nails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Thalassemia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3418433"/>
            <a:ext cx="646807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3561308"/>
            <a:ext cx="622396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 reduction of globin chain production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027420" y="3418433"/>
            <a:ext cx="630331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6495" y="3561308"/>
            <a:ext cx="605426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iron studies · target cells · family history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Anemia of chronic disease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4041279"/>
            <a:ext cx="646807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4184154"/>
            <a:ext cx="622396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inflammation traps iron in macrophages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027420" y="4041279"/>
            <a:ext cx="630331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46495" y="4184154"/>
            <a:ext cx="605426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ferritin · ↓ serum iron · ↓ TIBC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66412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80700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Sideroblastic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559350" y="4664125"/>
            <a:ext cx="646807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8425" y="4807000"/>
            <a:ext cx="622396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Defective heme synthesis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027420" y="4664125"/>
            <a:ext cx="630331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46495" y="4807000"/>
            <a:ext cx="605426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Ringed sideroblasts on marrow biopsy</a:t>
            </a:r>
            <a:endParaRPr lang="en-US" sz="19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37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MCV &gt; 100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Macrocytic anemias — DNA synthesis defect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 B12 deficiency: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impaired DNA synthesis → nuclear maturation lags behind cytoplasm → large, immature RBCs. Causes: pernicious anemia (autoimmune loss of intrinsic factor), strict vegan diet, ileal disease.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440605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Folate deficiency: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DNA-synthesis defect; alcoholism, malnutrition, pregnancy, methotrexate.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52226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Distinguishing feature: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B12 deficiency causes neurologic symptoms (paresthesias, ataxia) — folate does not.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6638479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hypersegmented neutrophils, elevated MCV, low B12 or folate level.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37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Normocytic anemias — MCV 80–100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4571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595357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56940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512921" y="2185988"/>
            <a:ext cx="681781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31996" y="2347913"/>
            <a:ext cx="65842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clue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blood loss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2795588"/>
            <a:ext cx="595357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2938463"/>
            <a:ext cx="569402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Hemorrhage — Hb falls after volume replacement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512921" y="2795588"/>
            <a:ext cx="681781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31996" y="2938463"/>
            <a:ext cx="658420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Trauma · GI bleed · postpartum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Hemolytic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3418433"/>
            <a:ext cx="595357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3561308"/>
            <a:ext cx="569402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Premature RBC destruction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512921" y="3418433"/>
            <a:ext cx="681781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31996" y="3561308"/>
            <a:ext cx="658420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reticulocytes · ↑ LDH · ↑ indirect bilirubin · ↓ haptoglobin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Aplastic anemia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4041279"/>
            <a:ext cx="595357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4184154"/>
            <a:ext cx="569402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Bone marrow failure — pancytopenia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512921" y="4041279"/>
            <a:ext cx="681781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31996" y="4184154"/>
            <a:ext cx="658420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Drugs · radiation · idiopathic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664125"/>
            <a:ext cx="3602087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807000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Anemia of chronic kidney disease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559350" y="4664125"/>
            <a:ext cx="5953571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8425" y="4807000"/>
            <a:ext cx="5694029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EPO production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512921" y="4664125"/>
            <a:ext cx="6817816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31996" y="4807000"/>
            <a:ext cx="658420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with synthetic EPO</a:t>
            </a:r>
            <a:endParaRPr lang="en-US" sz="19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37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Sickle cell disease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2864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 mutation: glutamic acid → valine at β-globin position 6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HbS polymerizes when deoxygenated → rigid, sickle-shaped RBC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Sickled cells occlude microvasculature → ischemia &amp; pain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RBC lifespan shortens (~10–20 days) → chronic hemolytic anemia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triggers &amp; care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0096500" y="3181350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hypoxia · dehydration · infection · cold · acidosis · stress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096500" y="400794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Vaso-occlusive crisis: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pain, often in bones, chest, abdomen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096500" y="4834533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chest syndrome: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emergency — fever, chest pain, infiltrates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96500" y="5661124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hydration · oxygen · pain control · hydroxyurea · transfusion</a:t>
            </a:r>
            <a:endParaRPr lang="en-US" sz="1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37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RBCS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Polycythemia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(polycythemia vera):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JAK2 mutation → bone marrow autonomously produces excess RBCs (and often WBCs and platelets). EPO is suppressed.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response to chronic hypoxia — high altitude, COPD, heart disease, smoking. EPO is elevated.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ruddy complexion · headache · pruritus after warm shower (PV) · hyperviscosity → thrombosis risk.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618514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phlebotomy · low-dose aspirin · address underlying hypoxia in secondary cases.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37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Bleeding disorders — "not enough glue"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733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615329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58997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712648" y="2185988"/>
            <a:ext cx="661808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31723" y="2347913"/>
            <a:ext cx="63784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signature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Hemophilia A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2795588"/>
            <a:ext cx="615329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2938463"/>
            <a:ext cx="58997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X-linked deficiency of factor VIII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712648" y="2795588"/>
            <a:ext cx="661808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31723" y="2938463"/>
            <a:ext cx="637848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aPTT · normal PT · normal platelets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Hemophilia B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3418433"/>
            <a:ext cx="615329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3561308"/>
            <a:ext cx="58997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X-linked deficiency of factor IX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712648" y="3418433"/>
            <a:ext cx="661808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31723" y="3561308"/>
            <a:ext cx="637848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aPTT · normal PT · normal platelets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Willebrand disease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4041279"/>
            <a:ext cx="615329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4184154"/>
            <a:ext cx="58997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Deficient or defective vWF → poor platelet adhesion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712648" y="4041279"/>
            <a:ext cx="661808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31723" y="4184154"/>
            <a:ext cx="637848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aPTT · prolonged bleeding time · normal platelet count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66412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80700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Thrombocytopenia (ITP)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559350" y="4664125"/>
            <a:ext cx="615329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8425" y="4807000"/>
            <a:ext cx="58997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destruction of platelets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712648" y="4664125"/>
            <a:ext cx="661808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31723" y="4807000"/>
            <a:ext cx="637848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platelets · normal PT/aPTT · petechiae &amp; purpura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528697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542984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Vitamin K deficiency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4559350" y="5286970"/>
            <a:ext cx="615329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8425" y="5429845"/>
            <a:ext cx="58997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Impaired factors II, VII, IX, X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0712648" y="5286970"/>
            <a:ext cx="661808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31723" y="5429845"/>
            <a:ext cx="637848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PT &gt; ↑ aPTT · responds to vitamin K</a:t>
            </a:r>
            <a:endParaRPr lang="en-US" sz="195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42" name="Text 3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37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Clotting disorders — "too much glue, wrong place"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3009900"/>
            <a:ext cx="16383000" cy="51198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3014663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3176588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3014663"/>
            <a:ext cx="649619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3176588"/>
            <a:ext cx="62529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055548" y="3014663"/>
            <a:ext cx="627518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74623" y="3176588"/>
            <a:ext cx="60252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clue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3624263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3767137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DVT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3624263"/>
            <a:ext cx="6496199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3767137"/>
            <a:ext cx="625293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Virchow's triad: stasis · endothelial injury · hypercoagulability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055548" y="3624263"/>
            <a:ext cx="6275189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74623" y="3767137"/>
            <a:ext cx="602529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Unilateral leg swelling, warmth, pain · ↑ D-dimer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593729"/>
            <a:ext cx="3602087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736604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Pulmonary embolism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4593729"/>
            <a:ext cx="6496199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4736604"/>
            <a:ext cx="625293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DVT embolizes to pulmonary circulation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055548" y="4593729"/>
            <a:ext cx="6275189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74623" y="4736604"/>
            <a:ext cx="602529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 dyspnea · pleuritic chest pain · hypoxia · ↑ D-dimer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5563195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570607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V Leiden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5563195"/>
            <a:ext cx="649619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5706070"/>
            <a:ext cx="625293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Resistant to inactivation by protein C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055548" y="5563195"/>
            <a:ext cx="6275189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74623" y="5706070"/>
            <a:ext cx="602529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Inherited; recurrent VTE; family history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6186041"/>
            <a:ext cx="3602087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6328916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Antiphospholipid syndrome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559350" y="6186041"/>
            <a:ext cx="6496199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8425" y="6328916"/>
            <a:ext cx="625293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Autoantibodies promote thrombosis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055548" y="6186041"/>
            <a:ext cx="6275189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74623" y="6328916"/>
            <a:ext cx="602529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 miscarriage · arterial &amp; venous clots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7155507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7298382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4559350" y="7155507"/>
            <a:ext cx="6496199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8425" y="7298382"/>
            <a:ext cx="625293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Antibodies activate platelets after heparin exposure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1055548" y="7155507"/>
            <a:ext cx="6275189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274623" y="7298382"/>
            <a:ext cx="602529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Platelet drop 5–10 days after heparin · paradoxical clotting</a:t>
            </a:r>
            <a:endParaRPr lang="en-US" sz="195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42" name="Text 3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37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DISSEMINATED INTRAVASCULAR COAGULATION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 — clotting and bleeding at the same time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activation of coagulation → widespread microthrombi → consumption of platelets and factors → severe bleeding follows.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sepsis · trauma · obstetric complications (abruption, amniotic fluid embolism) · malignancy · transfusion reactions.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signature: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PT · ↑ aPTT · ↓ platelets · ↓ fibrinogen · ↑↑ D-dimer.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signs: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oozing from IV sites · hematuria · purpura · organ dysfunction from microthrombi.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39469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trigger; supportive — FFP, cryoprecipitate, platelets as needed.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37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signature framework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· aPTT · platelets · D-dimer — four numbers identify most coagulopathies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43561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559350" y="2586038"/>
            <a:ext cx="451544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8425" y="2747963"/>
            <a:ext cx="42127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· aPTT · Plt · D-dimer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074795" y="2586038"/>
            <a:ext cx="825594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93870" y="2747963"/>
            <a:ext cx="806547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likely diagnosis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7263" y="319563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338" y="333851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↑ aPTT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559350" y="3195638"/>
            <a:ext cx="451544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8425" y="3338513"/>
            <a:ext cx="421275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· ↑ · nl · nl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074795" y="3195638"/>
            <a:ext cx="825594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3870" y="3338513"/>
            <a:ext cx="806547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Hemophilia · heparin · vWD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381848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396135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↑ PT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559350" y="3818483"/>
            <a:ext cx="451544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8425" y="3961358"/>
            <a:ext cx="421275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· nl · nl · nl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074795" y="3818483"/>
            <a:ext cx="825594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93870" y="3961358"/>
            <a:ext cx="806547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Warfarin · vitamin K deficiency · early liver disease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7263" y="444132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6338" y="458420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prolonged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559350" y="4441329"/>
            <a:ext cx="451544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8425" y="4584204"/>
            <a:ext cx="421275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· ↑ · nl · nl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074795" y="4441329"/>
            <a:ext cx="825594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3870" y="4584204"/>
            <a:ext cx="806547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Liver disease · common pathway defect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506417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520705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platelets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559350" y="5064175"/>
            <a:ext cx="451544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8425" y="5207050"/>
            <a:ext cx="421275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· nl · ↓ · nl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9074795" y="5064175"/>
            <a:ext cx="825594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93870" y="5207050"/>
            <a:ext cx="806547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ITP · drug-induced · marrow failure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57263" y="568702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6338" y="582989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off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4559350" y="5687020"/>
            <a:ext cx="451544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8425" y="5829895"/>
            <a:ext cx="421275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· ↑ · ↓ · ↑↑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9074795" y="5687020"/>
            <a:ext cx="825594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93870" y="5829895"/>
            <a:ext cx="806547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57263" y="6309866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76338" y="6452741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↑ D-dimer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4559350" y="6309866"/>
            <a:ext cx="451544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8425" y="6452741"/>
            <a:ext cx="421275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· nl · nl · ↑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9074795" y="6309866"/>
            <a:ext cx="825594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93870" y="6452741"/>
            <a:ext cx="806547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DVT · PE</a:t>
            </a:r>
            <a:endParaRPr lang="en-US" sz="195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49" name="Text 4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37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vitamin B12 deficiency develops large, immature red blood cells. Which mechanism explains this finding?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DNA synthesis delaying nuclear maturation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iron absorption increasing hemoglobin production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membrane flexibility increasing cell destruction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erythropoietin accelerating cell release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37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severe liver disease develops generalized edema. Which physiologic change accounts for this finding?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albumin synthesis reducing plasma oncotic pressure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venous pressure increasing capillary hydrostatic pressure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4118372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337447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lymphatic drainage reducing interstitial fluid removal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4118372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337447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capillary permeability increasing outward fluid movement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37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652713"/>
            <a:ext cx="1687449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4214813"/>
            <a:ext cx="14716125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Bleeding versus clotting disorders — what is the clinical difference? Choose one bleeding disorder and one clotting disorder. How would your assessment, vital signs, and patient teaching change between the two?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339012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PROMPT — WEEK 8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37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CLINICAL APPLICATION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the clinical manifestations and management of common hematologic disorders — anemia, sickle cell crisis, DIC, and transfusion therapy.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37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BODY SYSTEMS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anemia presents at the bedside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Cardiopulmonary: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tachycardia · palpitations · dyspnea on exertion · systolic flow murmur · widened pulse pressure.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Neurologic: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headache · dizziness · syncope · poor concentration · paresthesias (B12).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 &amp; mucosa: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pallor (conjunctiva, palms, nail beds) · brittle nails · glossitis · cheilosis.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anorexia · nausea · pica (iron deficiency).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94136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 · cold intolerance · exercise intolerance — early teaching target.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37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CARE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a sickle cell vaso-occlusive crisis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Hydration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IV fluids reverse the dehydration trigger and reduce sickling.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Oxygen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supplemental O₂ if SpO₂ &lt; 95% or symptomatic.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control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opioids around the clock; do not undertreat. Listen to the patient.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acute chest syndrome early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fever + chest pain + new infiltrate → exchange transfusion may be needed.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94136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hydroxyurea raises HbF and reduces crisis frequency · vaccines · folate supplementation.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37</a:t>
            </a:r>
            <a:endParaRPr lang="en-US" sz="1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CARE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DIC — treat the trigger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and reverse the cause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sepsis (antibiotics, source control), obstetric event, trauma, malignancy.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what is consumed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FFP for clotting factors · cryoprecipitate for fibrinogen · platelets for thrombocytopenia · packed RBCs for blood loss.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Supportive ICU care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hemodynamic stabilization, vasopressors as needed, organ support.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Anticoagulation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controversial; sometimes used in chronic / thrombotic-predominant DIC.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39469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in PT, aPTT, platelets, fibrinogen, D-dimer guide therapy.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37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Transfusion basics &amp; reactions to recognize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44265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652909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62868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Onset / 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088439" y="2185988"/>
            <a:ext cx="624229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07514" y="2347913"/>
            <a:ext cx="59914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hemolytic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2795588"/>
            <a:ext cx="6529090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2938463"/>
            <a:ext cx="628681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minutes — ABO incompatibility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088439" y="2795588"/>
            <a:ext cx="6242298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07514" y="2938463"/>
            <a:ext cx="5991417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transfusion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saline · notify MD · send blood bank workup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765054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907929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Febrile non-hemolytic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3765054"/>
            <a:ext cx="652909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3907929"/>
            <a:ext cx="628681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1–6 hr — recipient antibodies vs. donor WBCs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088439" y="3765054"/>
            <a:ext cx="624229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07514" y="3907929"/>
            <a:ext cx="599141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· antipyretic · use leukoreduced products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38790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53077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Allergic / anaphylaxis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4387900"/>
            <a:ext cx="652909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4530775"/>
            <a:ext cx="628681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— donor plasma proteins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088439" y="4387900"/>
            <a:ext cx="624229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07514" y="4530775"/>
            <a:ext cx="599141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· antihistamine; epinephrine if anaphylactic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5010745"/>
            <a:ext cx="3602087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5153620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TRALI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559350" y="5010745"/>
            <a:ext cx="6529090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8425" y="5153620"/>
            <a:ext cx="628681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6 hr — donor anti-leukocyte antibodies → pulmonary edema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088439" y="5010745"/>
            <a:ext cx="6242298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307514" y="5153620"/>
            <a:ext cx="5991417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· respiratory support · ICU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5980212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6123087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TACO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4559350" y="5980212"/>
            <a:ext cx="652909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8425" y="6123087"/>
            <a:ext cx="628681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overload during/after transfusion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1088439" y="5980212"/>
            <a:ext cx="624229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307514" y="6123087"/>
            <a:ext cx="599141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/ stop infusion · diuretics · oxygen</a:t>
            </a:r>
            <a:endParaRPr lang="en-US" sz="195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42" name="Text 3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37</a:t>
            </a:r>
            <a:endParaRPr lang="en-US" sz="1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687690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66641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 · SELECT ALL THAT APPLY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01990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sepsis develops oozing from IV sites, ↑ PT, ↑ aPTT, low platelets, low fibrinogen, and very high D-dimer. Which findings support a diagnosis of DIC?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Bleeding from multiple sites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PT and aPTT are prolonged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Platelet count is decreased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Fibrinogen is elevated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49681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9675" y="51872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25" name="Text 23"/>
          <p:cNvSpPr/>
          <p:nvPr/>
        </p:nvSpPr>
        <p:spPr>
          <a:xfrm>
            <a:off x="1171575" y="51872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914525" y="51872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D-dimer is markedly elevated</a:t>
            </a:r>
            <a:endParaRPr lang="en-US" sz="19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37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319338"/>
            <a:ext cx="1687449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3881438"/>
            <a:ext cx="14716125" cy="337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made it through midterm week — now let's finish strong. Hematology rewards curiosity: build the lab-signature framework, anchor every disorder to its labs, and you will carry that diagnostic thinking into every clinical setting ahead.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672388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· PATHOPHYSIOLOGY COURSE INSTRUCTOR · NIGHTINGALE COLLEGE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8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37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2026-04-30T14:13:32Z</dcterms:created>
  <dcterms:modified xsi:type="dcterms:W3CDTF">2026-04-30T14:13:32Z</dcterms:modified>
</cp:coreProperties>
</file>