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Week 3 — Oncology. We are walking through cancer pathophysiology — what goes wrong at the cellular level and how that translates to your patient's symptoms at the bedside.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today's agenda — four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weekly learning objectives — biology of cancer, epidemiology, and clinical consequences.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reading is Chapters 11 through 13. Review the hallmarks of cancer diagram before the webinar.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Module 3 — Week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due this week — discussion, webinar quiz, case study. All by Saturday May 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objective — recall the biology of cancer and how it occurs.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Benign versus malignant tumors — six key contrasts.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Tumor classification — carcinoma, sarcoma, leukemia, lymphoma, mixed.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Stages of cancer development — initiation, promotion, progression.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hallmarks of cancer — what every malignant cell acquires.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Proto-oncogenes versus oncogenes — and the four ways oncogenes get activated.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Tumor-suppressor genes — Knudson's two-hit hypothesis.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Caretaker genes and DNA repair — the third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Angiogenesis and metastasis — how tumors get fed and how they spread.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what allows tumor spread.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oncogene activation mechanisms.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Philadelphia chromosome.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objective — cancer epidemiology and risk factors.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cancer epidemiology — incidence, mortality, leading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Modifiable risk factors — tobacco, alcohol, obesity, activity, diet.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Non-modifiable risk factors — age, genetics, family history, sex, 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Carcinogens — chemical, physical, biological. Examples and mechanisms.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Oncogenic viruses — HPV, HBV, HCV, EBV, HTLV-1, KSHV.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Childhood cancer — different patterns from adult cancer.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obesity and cancer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DES and transplacental carcinogenesis.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— applying cancer pathophysiology.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objective — clinical consequences of cancer.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 effects — pressure, obstruction, ulceration, bleeding.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Systemic effects — cachexia, anemia, fatigue, immune suppression.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Paraneoplastic syndromes — when tumors act endocrine.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Oncologic emergencies — what nurses must recognize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Tumor lysis syndrome and SVC syndrome.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cachexia mechanisms.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check — childhood cancer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let your compassion fuel your curiosity. See you on the webinar.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1A32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762000"/>
            <a:ext cx="2667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0650" y="809625"/>
            <a:ext cx="47200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PATHOPHYSIOLOGY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52500" y="4195316"/>
            <a:ext cx="6710553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72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52500" y="5356473"/>
            <a:ext cx="671055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198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952500" y="8923139"/>
            <a:ext cx="6710553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Nightingale College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8229600" y="0"/>
            <a:ext cx="10058400" cy="10287000"/>
          </a:xfrm>
          <a:prstGeom prst="rect">
            <a:avLst/>
          </a:prstGeom>
          <a:solidFill>
            <a:srgbClr val="1A3260">
              <a:alpha val="55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0" y="0"/>
            <a:ext cx="10058400" cy="1028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6375856" y="9648825"/>
            <a:ext cx="1607344" cy="333375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6509206" y="9725025"/>
            <a:ext cx="141684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week 3 visual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019300" y="280511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of cancer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601200" y="3362325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0" y="2752725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668000" y="2805113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epidemiology &amp; risk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019300" y="3824288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consequences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601200" y="4381500"/>
            <a:ext cx="77343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3771900"/>
            <a:ext cx="9144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668000" y="3824288"/>
            <a:ext cx="68675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Oncologic emergencies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37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THREE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60997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biology of cancer and specifically how it occurs.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" y="4857750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981450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8145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133600" y="4114800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and discuss cancer epidemiology and the specific consequences that it entails.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105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522922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292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33600" y="5362575"/>
            <a:ext cx="1565795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the clinical manifestations and consequences of cancer at the cellular and systemic levels.</a:t>
            </a:r>
            <a:endParaRPr lang="en-US" sz="2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37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resources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reading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134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11 — Biology of Cancer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12 — Cancer Epidemiology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13 — Cancer in Children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773662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60145" y="5373737"/>
            <a:ext cx="7374255" cy="1211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Hanahan &amp; Weinberg — "Hallmarks of Cancer" (foundational paper)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NCI &amp; ACS — current incidence and mortality data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tools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656445" y="3181350"/>
            <a:ext cx="7374255" cy="1691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Hallmarks of cancer diagram — review before the webinar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TNM staging overview — high-yield NCLEX content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Oncologic emergencies cheat sheet — TLS, SVC, spinal cord compression</a:t>
            </a:r>
            <a:endParaRPr lang="en-US" sz="1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37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3848100"/>
            <a:ext cx="8044815" cy="262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4000" b="1" spc="-960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9525000" y="3710434"/>
            <a:ext cx="80448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THREE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4186684"/>
            <a:ext cx="804481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Three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9525000" y="5333405"/>
            <a:ext cx="686752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 — biology of cancer, epidemiology, and the clinical consequences of malignancy at the cellular and systemic levels.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37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 · MAY 18 – MAY 24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due this week?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725805" y="2836515"/>
            <a:ext cx="14590395" cy="2933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— "Applying Cancer Pathophysiology" — initial post + 2 peer replies.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Quiz — due Saturday, May 24 by 11:59 PM (hallmarks of cancer, oncogenes, risk factors).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— due Saturday, May 24 by 11:59 PM (cellular &amp; systemic effects of malignancy).</a:t>
            </a:r>
            <a:endParaRPr lang="en-US" sz="25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— tumor biology and oncologic emergencies; come with reading notes.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37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BIOLOGY OF CANCER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biology of cancer — what defines a malignant cell, how it arises from a normal one, and the molecular machinery that drives transformation.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37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vs. malignant tumors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06755" y="208597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structural and behavioral contrasts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435619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559350" y="2586038"/>
            <a:ext cx="6293644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8425" y="2747963"/>
            <a:ext cx="60443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852993" y="2586038"/>
            <a:ext cx="6477744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72068" y="2747963"/>
            <a:ext cx="62339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Malignant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7263" y="319563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338" y="333851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559350" y="3195638"/>
            <a:ext cx="629364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8425" y="3338513"/>
            <a:ext cx="604430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Well-differentiated; resembles tissue of origin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852993" y="3195638"/>
            <a:ext cx="647774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72068" y="3338513"/>
            <a:ext cx="623392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Poorly differentiated; anaplasia, pleomorphism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381848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396135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rate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559350" y="3818483"/>
            <a:ext cx="629364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8425" y="3961358"/>
            <a:ext cx="604430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Slow, often stops at a fixed size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852993" y="3818483"/>
            <a:ext cx="647774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72068" y="3961358"/>
            <a:ext cx="623392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Rapid; many mitotic figures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7263" y="4441329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6338" y="458420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559350" y="4441329"/>
            <a:ext cx="629364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8425" y="4584204"/>
            <a:ext cx="604430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Encapsulated; clear margins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0852993" y="4441329"/>
            <a:ext cx="647774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072068" y="4584204"/>
            <a:ext cx="623392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Invasive; infiltrates surrounding tissue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7263" y="506417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6338" y="520705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invasion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559350" y="5064175"/>
            <a:ext cx="629364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8425" y="5207050"/>
            <a:ext cx="604430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Pushes against tissue but does not invade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852993" y="5064175"/>
            <a:ext cx="647774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072068" y="5207050"/>
            <a:ext cx="623392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Crosses tissue planes &amp; vessels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57263" y="5687020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6338" y="5829895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Metastasis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4559350" y="5687020"/>
            <a:ext cx="629364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8425" y="5829895"/>
            <a:ext cx="604430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metastasize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0852993" y="5687020"/>
            <a:ext cx="6477744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072068" y="5829895"/>
            <a:ext cx="623392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 via blood, lymphatics, seeding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957263" y="6309866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76338" y="6452741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on host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4559350" y="6309866"/>
            <a:ext cx="629364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8425" y="6452741"/>
            <a:ext cx="604430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harmless unless mass effect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0852993" y="6309866"/>
            <a:ext cx="647774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072068" y="6452741"/>
            <a:ext cx="623392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Wasting, organ failure, death if untreated</a:t>
            </a:r>
            <a:endParaRPr lang="en-US" sz="195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49" name="Text 4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37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nomenclature by tissue of origin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40799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Tissue of origin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4281488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397178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8840837" y="2185988"/>
            <a:ext cx="8489900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9912" y="2347913"/>
            <a:ext cx="83064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Malignant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Epithelial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2795588"/>
            <a:ext cx="428148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2938463"/>
            <a:ext cx="397178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Adenoma, papilloma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8840837" y="2795588"/>
            <a:ext cx="848990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9912" y="2938463"/>
            <a:ext cx="830644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Carcinoma · adenocarcinoma · squamous cell carcinoma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418433"/>
            <a:ext cx="3602087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561308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Connective &amp; mesenchymal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3418433"/>
            <a:ext cx="4281488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3561308"/>
            <a:ext cx="397178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Fibroma, lipoma, osteoma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8840837" y="3418433"/>
            <a:ext cx="8489900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9912" y="3561308"/>
            <a:ext cx="8306447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Sarcoma · fibrosarcoma · osteosarcoma · liposarcoma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387900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530775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Hematopoietic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4387900"/>
            <a:ext cx="428148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4530775"/>
            <a:ext cx="397178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8840837" y="4387900"/>
            <a:ext cx="848990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9912" y="4530775"/>
            <a:ext cx="830644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Leukemia (blood) · lymphoma (lymph nodes)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501074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515362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559350" y="5010745"/>
            <a:ext cx="4281488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8425" y="5153620"/>
            <a:ext cx="397178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Meningioma, schwannoma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8840837" y="5010745"/>
            <a:ext cx="8489900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9912" y="5153620"/>
            <a:ext cx="830644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Glioma · glioblastoma · neuroblastoma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57263" y="5633591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6338" y="5776466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/ embryonal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4559350" y="5633591"/>
            <a:ext cx="4281488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8425" y="5776466"/>
            <a:ext cx="397178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8840837" y="5633591"/>
            <a:ext cx="8489900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9912" y="5776466"/>
            <a:ext cx="8306447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Teratoma · Wilms tumor · hepatoblastoma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706755" y="6489799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-oma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usually means benign — except leukemia, lymphoma, melanoma, and mesothelioma.</a:t>
            </a:r>
            <a:endParaRPr lang="en-US" sz="18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43" name="Text 4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37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of cancer development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3352800" cy="21868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Initiation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normal cell becomes abnormal — first DNA-damaging mutation.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33900" y="2181225"/>
            <a:ext cx="609600" cy="222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295900" y="2181225"/>
            <a:ext cx="3352800" cy="21868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52959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55435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435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435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mutations accumulate over time — selection pressure.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877300" y="2181225"/>
            <a:ext cx="609600" cy="222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639300" y="2181225"/>
            <a:ext cx="3352800" cy="21868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93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98869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869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8869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Abnormal cells expand as a clone — clinical tumor forms.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220700" y="2181225"/>
            <a:ext cx="609600" cy="222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3982700" y="2181225"/>
            <a:ext cx="3352800" cy="21868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9827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142303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230350" y="2790825"/>
            <a:ext cx="29432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Invasion &amp; metastasis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230350" y="35528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invades local tissue and spreads to distant organs.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06755" y="474910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Mutations come in two flavors: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mutations promote cancer growth;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mutations accumulate but don't change behavior.</a:t>
            </a:r>
            <a:endParaRPr lang="en-US" sz="18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37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HANAHAN &amp; WEINBERG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hallmarks of cancer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proliferative signaling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cells divide without normal "go" signals (e.g., HER2 overexpression).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Evading growth suppressors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loss of brakes (e.g., TP53, RB).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Resisting cell death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apoptosis pathways disabled.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Replicative immortality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telomerase reactivation.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94136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Inducing angiogenesis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new blood vessels feed the tumor.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95400" y="660424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Invasion &amp; metastasis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penetration of basement membrane &amp; spread.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95400" y="7267129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Reprogrammed metabolism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Warburg effect (glycolysis-dominant).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95400" y="7930009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Evading immune destruction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checkpoints exploited (PD-L1, CTLA-4).</a:t>
            </a:r>
            <a:endParaRPr lang="en-US" sz="25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6651486" y="9686925"/>
            <a:ext cx="7602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37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Proto-oncogenes &amp; oncogenes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Proto-oncogenes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160145" y="3181350"/>
            <a:ext cx="7374255" cy="2037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cellular genes that regulate growth, division, and differentiation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growth factors, receptors, signaling proteins, transcription factors, cyclins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Tightly controlled — only active when needed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8" name="Shape 6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2581275"/>
            <a:ext cx="733844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Oncogenes — four activation mechanisms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0096500" y="3590925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mutation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single base change alters protein function (KRAS)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096500" y="4417516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amplification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extra gene copies → excess protein (HER2, MYC)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096500" y="5244108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Chromosomal translocation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fusion gene with new function (BCR-ABL in CML — Philadelphia chromosome)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096500" y="6070699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Receptor overexpression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persistent proliferative signaling (EGFR)</a:t>
            </a:r>
            <a:endParaRPr lang="en-US" sz="1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37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BRAKES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Tumor-suppressor genes — Knudson's two-hit hypothesis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3596580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the cell cycle, repair DNA damage, trigger apoptosis if damage is irreparable.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4259461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Loss-of-function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 on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alleles for cancer to develop — "two hits."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922341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TP53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"guardian of the genome"; mutated in &gt;50% of human cancers.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585222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first identified suppressor; classic example in retinoblastoma.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248102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BRCA1 / BRCA2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inherited mutations dramatically increase breast and ovarian cancer risk.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95400" y="6910983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APC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colorectal cancer; familial adenomatous polyposis.</a:t>
            </a:r>
            <a:endParaRPr lang="en-US" sz="25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37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gene categories in cancer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180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4764584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446937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function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23933" y="2185988"/>
            <a:ext cx="8006804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43008" y="2347913"/>
            <a:ext cx="780885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goes wrong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60208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Proto-oncogenes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2795588"/>
            <a:ext cx="4764584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2938463"/>
            <a:ext cx="446937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cell growth &amp; division when needed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323933" y="2795588"/>
            <a:ext cx="8006804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43008" y="2938463"/>
            <a:ext cx="7808858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Gain-of-function mutation → oncogene → drives uncontrolled growth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765054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907929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Tumor-suppressor genes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3765054"/>
            <a:ext cx="476458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3907929"/>
            <a:ext cx="446937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the cell cycle; trigger apoptosis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323933" y="3765054"/>
            <a:ext cx="8006804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43008" y="3907929"/>
            <a:ext cx="780885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Loss-of-function on both alleles → no brakes (TP53, RB, BRCA)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387900"/>
            <a:ext cx="360208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530775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Caretaker (DNA-repair) genes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4387900"/>
            <a:ext cx="4764584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4530775"/>
            <a:ext cx="446937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DNA &amp; maintain genomic stability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323933" y="4387900"/>
            <a:ext cx="8006804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43008" y="4530775"/>
            <a:ext cx="7808858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→ mutations accumulate faster (Lynch syndrome — MLH1, MSH2)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06755" y="5590729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oncogenes need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(dominant); tumor suppressors and caretakers need </a:t>
            </a:r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(recessive at the cellular level).</a:t>
            </a:r>
            <a:endParaRPr lang="en-US" sz="1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37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Angiogenesis &amp; metastasis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001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growth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01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outgrows diffusion (~1–2 mm) — needs new vessels.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5339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2959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52959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1" name="Text 9"/>
          <p:cNvSpPr/>
          <p:nvPr/>
        </p:nvSpPr>
        <p:spPr>
          <a:xfrm>
            <a:off x="55435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435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Angiogenesis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435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VEGF release recruits new blood vessels.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8773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6393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93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98869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869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Invasion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886950" y="3209925"/>
            <a:ext cx="2943225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degrade basement membrane &amp; ECM (matrix metalloproteinases).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220700" y="2181225"/>
            <a:ext cx="609600" cy="2175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3982700" y="2181225"/>
            <a:ext cx="3352800" cy="2137321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3982700" y="2181225"/>
            <a:ext cx="33528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3" name="Text 21"/>
          <p:cNvSpPr/>
          <p:nvPr/>
        </p:nvSpPr>
        <p:spPr>
          <a:xfrm>
            <a:off x="14230350" y="2466975"/>
            <a:ext cx="29432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230350" y="2790825"/>
            <a:ext cx="29432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Metastasis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230350" y="3209925"/>
            <a:ext cx="29432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via blood, lymphatics, or seeding to distant organs.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06755" y="4699546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targets: </a:t>
            </a:r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lungs · liver · bone · brain — high blood flow + permissive microenvironment ("seed and soil").</a:t>
            </a:r>
            <a:endParaRPr lang="en-US" sz="18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37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characteristic of tumor cells directly allows spread to distant organs?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cells invade tissue and enter vessels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cells remain mature and well organized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cells remain inside a fibrous capsule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cells divide only during repair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37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687690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66641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 · SELECT ALL THAT APPLY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01990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findings are consistent with oncogene activation?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signals remain switched 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Growth-receptor expression increases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Tumor-suppressor function is lost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cells produce their own signals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" y="45414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9675" y="47605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25" name="Text 23"/>
          <p:cNvSpPr/>
          <p:nvPr/>
        </p:nvSpPr>
        <p:spPr>
          <a:xfrm>
            <a:off x="1171575" y="47605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914525" y="47605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Cell-cycle drivers remain active</a:t>
            </a:r>
            <a:endParaRPr lang="en-US" sz="19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37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chronic myeloid leukemia has the Philadelphia chromosome. This abnormality is a ___ that forms ___.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Chromosomal translocation · BCR-ABL fusion gene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deletion · RAS-MYC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mutation · TP53-RB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Epigenetic silencing · APC-KRAS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37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CANCER EPIDEMIOLOGY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cancer epidemiology — incidence, mortality patterns, risk factors (modifiable and non-modifiable), and how children differ from adults.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37</a:t>
            </a:r>
            <a:endParaRPr lang="en-US" sz="1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PICTURE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in the United States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leading cause of death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adults — surpassed only by heart disease.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adult cancers (incidence):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 (women) · prostate (men) · lung · colorectal.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lethal: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lung &gt; colorectal &gt; pancreatic &gt; breast/prostate.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48251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pediatric cancers: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leukemia (especially ALL) · brain tumors · lymphomas.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548803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improved with screening, targeted therapy, and immunotherapy — but disparities persist by race, income, and geography.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37</a:t>
            </a:r>
            <a:endParaRPr lang="en-US" sz="16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Modifiable risk factors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Behaviors &amp; exposures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Tobacco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single largest preventable cause; lung, oral, esophagus, bladder, pancreas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400794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Alcohol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oral, esophageal, liver, breast, colorectal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487912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Obesity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breast, endometrial, colorectal, pancreas, kidney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00200" y="4967883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inactivity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colon, breast, endometrial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00200" y="5447854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&amp; ionizing radiation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skin cancers, leukemia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600200" y="5927824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processed/red meat, low fiber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4" name="Text 12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obesity matters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656445" y="3181350"/>
            <a:ext cx="7374255" cy="25178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Adipose tissue is metabolically active — releases TNF-α, IL-6, adipokines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low-grade inflammation → DNA damage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Hyperinsulinemia → ↑ IGF-1 signaling → mitogenic stimulation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estrogen production from peripheral fat → hormone-sensitive cancers</a:t>
            </a:r>
            <a:endParaRPr lang="en-US" sz="1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37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Non-modifiable risk factors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most adult cancers rise sharply after 50; cumulative DNA damage + declining repair.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men more likely overall; some cancers sex-specific (prostate, ovarian).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16227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Black Americans have highest mortality for many cancers; disparities driven by access + biology.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27848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history &amp; inherited syndromes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BRCA1/2, Lynch syndrome (HNPCC), Li-Fraumeni (TP53), familial adenomatous polyposis.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39469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cancer or radiation therapy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secondary malignancies are a known late effect.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37</a:t>
            </a:r>
            <a:endParaRPr lang="en-US" sz="16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Carcinogens — three categories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16383000" cy="3803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218598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234791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2185988"/>
            <a:ext cx="631864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2347913"/>
            <a:ext cx="607005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877996" y="2185988"/>
            <a:ext cx="6452741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97071" y="2347913"/>
            <a:ext cx="62081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Cancers linked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2795588"/>
            <a:ext cx="360208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2938463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2795588"/>
            <a:ext cx="631864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2938463"/>
            <a:ext cx="6070056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Tobacco smoke, asbestos, benzene, aflatoxin, vinyl chloride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0877996" y="2795588"/>
            <a:ext cx="6452741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97071" y="2938463"/>
            <a:ext cx="6208173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Lung, mesothelioma, leukemia, hepatocellular, angiosarcoma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3765054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3907929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3765054"/>
            <a:ext cx="631864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3907929"/>
            <a:ext cx="607005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light, ionizing radiation (X-rays, radon)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877996" y="3765054"/>
            <a:ext cx="6452741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97071" y="3907929"/>
            <a:ext cx="620817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 cancers, leukemia, thyroid (especially in children)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4387900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4530775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4387900"/>
            <a:ext cx="631864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4530775"/>
            <a:ext cx="6070056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Oncogenic viruses, H. pylori, parasites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877996" y="4387900"/>
            <a:ext cx="6452741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097071" y="4530775"/>
            <a:ext cx="6208173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Cervical, hepatocellular, gastric, lymphomas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5010745"/>
            <a:ext cx="3602087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5153620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Transplacental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559350" y="5010745"/>
            <a:ext cx="6318647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8425" y="5153620"/>
            <a:ext cx="6070056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Diethylstilbestrol (DES) in utero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0877996" y="5010745"/>
            <a:ext cx="6452741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97071" y="5153620"/>
            <a:ext cx="6208173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cell adenocarcinoma of vagina/cervix in daughters</a:t>
            </a:r>
            <a:endParaRPr lang="en-US" sz="19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37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Oncogenic viruses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06755" y="208597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~15% of cancers worldwide have a viral or microbial cause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40799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Virus / agent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559350" y="2586038"/>
            <a:ext cx="685472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8425" y="2747963"/>
            <a:ext cx="66222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414075" y="2586038"/>
            <a:ext cx="591666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33150" y="2747963"/>
            <a:ext cx="56560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7263" y="3195638"/>
            <a:ext cx="360208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338" y="3338513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HPV (high-risk types 16, 18)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559350" y="3195638"/>
            <a:ext cx="6854726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8425" y="3338513"/>
            <a:ext cx="6622218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Cervical · oropharyngeal · anal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414075" y="3195638"/>
            <a:ext cx="591666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33150" y="3338513"/>
            <a:ext cx="5656012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E6/E7 proteins inactivate p53 &amp; Rb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4165104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4307979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HBV / HCV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559350" y="4165104"/>
            <a:ext cx="685472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8425" y="4307979"/>
            <a:ext cx="662221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Hepatocellular carcinoma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414075" y="4165104"/>
            <a:ext cx="591666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33150" y="4307979"/>
            <a:ext cx="565601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inflammation, cirrhosis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7263" y="4787950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6338" y="4930825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EBV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559350" y="4787950"/>
            <a:ext cx="685472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8425" y="4930825"/>
            <a:ext cx="662221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Burkitt &amp; Hodgkin lymphoma · nasopharyngeal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1414075" y="4787950"/>
            <a:ext cx="591666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633150" y="4930825"/>
            <a:ext cx="565601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B-cell proliferation; c-MYC translocation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7263" y="541079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6338" y="555367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HTLV-1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559350" y="5410795"/>
            <a:ext cx="685472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8425" y="5553670"/>
            <a:ext cx="662221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 T-cell leukemia/lymphoma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1414075" y="5410795"/>
            <a:ext cx="591666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633150" y="5553670"/>
            <a:ext cx="565601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protein dysregulates cell cycle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57263" y="6033641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6338" y="6176516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H. pylori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4559350" y="6033641"/>
            <a:ext cx="685472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8425" y="6176516"/>
            <a:ext cx="6622218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Gastric adenocarcinoma · MALT lymphoma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1414075" y="6033641"/>
            <a:ext cx="591666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33150" y="6176516"/>
            <a:ext cx="5656012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gastritis &amp; inflammation</a:t>
            </a:r>
            <a:endParaRPr lang="en-US" sz="195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43" name="Text 4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37</a:t>
            </a:r>
            <a:endParaRPr lang="en-US" sz="16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Childhood cancer — different patterns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2181225"/>
            <a:ext cx="7886700" cy="5715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differs from adult cancer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6002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Tissue of origin: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embryonal &amp; mesenchymal (not epithelial)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00200" y="3661321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Carcinomas are rare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children get leukemias, lymphomas, sarcomas, embryonal tumors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00200" y="4487912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is short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rapid growth, early presentation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00200" y="4967883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Genetic / congenital links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stronger (Down syndrome, neurofibromatosis, Li-Fraumeni)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600200" y="5794474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 risk factors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minimal role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448800" y="2181225"/>
            <a:ext cx="7886700" cy="7248525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48800" y="2181225"/>
            <a:ext cx="7886700" cy="57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13" name="Text 11"/>
          <p:cNvSpPr/>
          <p:nvPr/>
        </p:nvSpPr>
        <p:spPr>
          <a:xfrm>
            <a:off x="9829800" y="2581275"/>
            <a:ext cx="73384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pediatric cancers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0096500" y="3181350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Leukemia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(especially ALL) — most common overall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096500" y="366132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&amp; CNS tumors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second most common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096500" y="4141291"/>
            <a:ext cx="707174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Lymphomas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Hodgkin &amp; non-Hodgkin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096500" y="4621262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Embryonal tumors: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neuroblastoma · Wilms tumor · retinoblastoma · hepatoblastoma (mostly &lt;5 yrs)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096500" y="5447854"/>
            <a:ext cx="7071741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Bone sarcomas: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osteosarcoma · Ewing sarcoma (adolescents)</a:t>
            </a:r>
            <a:endParaRPr lang="en-US" sz="1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37</a:t>
            </a:r>
            <a:endParaRPr lang="en-US" sz="16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central obesity has elevated fasting glucose, elevated fasting insulin, and increased waist circumference. Which mechanism explains the increased cancer risk in this patient?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Adipose signaling decreases and metabolic stimulation becomes less active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inflammation increases and insulin signaling becomes more mitogenic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4118372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337447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Oxidative stress decreases and cellular damage becomes less frequent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4118372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337447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337447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337447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surveillance increases and tumor cell removal becomes more effective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37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317361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28497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1661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24-year-old patient has abnormal vaginal bleeding. Her mother reports taking diethylstilbestrol (DES) during pregnancy. Which concept best explains this patient's cancer risk?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to harmful agents during early infancy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to oncogenic viruses during adult sexual activity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1131391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to carcinogenic compounds during fetal development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1131391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to dietary and alcohol-related carcinogens during adulthood</a:t>
            </a:r>
            <a:endParaRPr lang="en-US" sz="1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37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319338"/>
            <a:ext cx="1687449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3881438"/>
            <a:ext cx="14716125" cy="3371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hallmark of cancer and trace it from the molecular level to a clinical sign your patient might present with. How would understanding that mechanism change your nursing assessment or teaching for the patient and their family?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672388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PROMPT — WEEK 3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37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· CLINICAL CONSEQUENCES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objective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52500" y="3819525"/>
            <a:ext cx="16383000" cy="9525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2733675"/>
            <a:ext cx="723900" cy="7239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3367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133600" y="2867025"/>
            <a:ext cx="156579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the clinical consequences of cancer — local effects, systemic effects, paraneoplastic syndromes, and oncologic emergencies.</a:t>
            </a:r>
            <a:endParaRPr lang="en-US" sz="22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37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effects of malignancy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effect: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 of adjacent structures — pain, neurologic deficits, organ dysfunction.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49939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Obstruction: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 (bowel obstruction), airway (post-obstructive pneumonia), urinary (hydronephrosis), biliary (jaundice).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461560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Ulceration &amp; bleeding: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outgrows blood supply → necrosis → bleeding; chronic blood loss → iron-deficiency anemia.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73181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Tissue destruction: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bone metastases → pathologic fractures, hypercalcemia.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394698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Effusions: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pleural, pericardial, peritoneal — fluid accumulation in serous cavities.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37</a:t>
            </a:r>
            <a:endParaRPr lang="en-US" sz="16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Cachexia &amp; systemic effects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Cachexia: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weight loss + muscle wasting despite adequate intake — driven by inflammatory cytokines (TNF-α, IL-6), tumor-altered metabolism, increased resting energy expenditure, protein breakdown.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440605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Anemia: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disease, blood loss, marrow infiltration, chemotherapy myelosuppression.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multifactorial — anemia, cytokines, treatment, sleep disruption, depression.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573181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suppression: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disease + therapy → opportunistic infections; neutropenic fever is a medical emergency.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6848029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nociceptive (bone, viscera) and neuropathic — often the symptom that drives patients to seek care.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37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Paraneoplastic syndromes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706755" y="2085975"/>
            <a:ext cx="16874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tumors secrete substances that cause distant symptoms — independent of mass effect or metastasis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2581275"/>
            <a:ext cx="16383000" cy="40799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7263" y="2586038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6338" y="2747963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Syndrome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559350" y="2586038"/>
            <a:ext cx="5945535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8425" y="2747963"/>
            <a:ext cx="5685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504884" y="2586038"/>
            <a:ext cx="6825853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23959" y="2747963"/>
            <a:ext cx="65924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association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7263" y="3195638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6338" y="3338513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SIADH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559350" y="3195638"/>
            <a:ext cx="594553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8425" y="3338513"/>
            <a:ext cx="568575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Ectopic ADH → hyponatremia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504884" y="3195638"/>
            <a:ext cx="682585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23959" y="3338513"/>
            <a:ext cx="659247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Small-cell lung cancer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7263" y="3818483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6338" y="3961358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Cushing syndrome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559350" y="3818483"/>
            <a:ext cx="594553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8425" y="3961358"/>
            <a:ext cx="568575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Ectopic ACTH → cortisol excess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504884" y="3818483"/>
            <a:ext cx="682585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23959" y="3961358"/>
            <a:ext cx="659247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Small-cell lung cancer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7263" y="4441329"/>
            <a:ext cx="360208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6338" y="4584204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Hypercalcemia of malignancy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4559350" y="4441329"/>
            <a:ext cx="5945535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8425" y="4584204"/>
            <a:ext cx="5685751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PTHrP secretion · bone metastases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0504884" y="4441329"/>
            <a:ext cx="6825853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23959" y="4584204"/>
            <a:ext cx="6592479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Squamous cell lung · breast · multiple myeloma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57263" y="5410795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76338" y="555367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Polycythemia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4559350" y="5410795"/>
            <a:ext cx="5945535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8425" y="5553670"/>
            <a:ext cx="568575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Ectopic erythropoietin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504884" y="5410795"/>
            <a:ext cx="6825853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23959" y="5553670"/>
            <a:ext cx="659247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Renal cell carcinoma · hepatocellular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57263" y="6033641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6338" y="6176516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Lambert-Eaton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4559350" y="6033641"/>
            <a:ext cx="5945535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8425" y="6176516"/>
            <a:ext cx="5685751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Antibodies vs. presynaptic Ca²⁺ channels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0504884" y="6033641"/>
            <a:ext cx="6825853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23959" y="6176516"/>
            <a:ext cx="6592479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Small-cell lung cancer</a:t>
            </a:r>
            <a:endParaRPr lang="en-US" sz="195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43" name="Text 40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37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528" kern="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EARLY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500" y="1257300"/>
            <a:ext cx="16874490" cy="1122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5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Oncologic emergencies — the nurse's watch list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95400" y="2836515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lysis syndrome (TLS):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cell breakdown after chemo → ↑ K⁺, ↑ phosphate, ↑ uric acid, ↓ Ca²⁺ → arrhythmia, AKI, seizures.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295400" y="3952726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Superior vena cava (SVC) syndrome: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compresses SVC → facial &amp; arm swelling, dyspnea, distended neck veins.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5068937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Spinal cord compression: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pain + new neurologic deficit + bowel/bladder change → emergency MRI + steroids + RT.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95400" y="6185148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Hypercalcemia of malignancy: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"stones, bones, groans, psychiatric overtones" → hydration, bisphosphonates.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7301359"/>
            <a:ext cx="14373225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Febrile neutropenia: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 &lt; 500 + fever ≥ 38.3°C → blood cultures + broad-spectrum antibiotics within 1 hr.</a:t>
            </a:r>
            <a:endParaRPr lang="en-US" sz="2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37</a:t>
            </a:r>
            <a:endParaRPr lang="en-US" sz="16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emergencies side-by-side — TLS vs. SVC syndrome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3009900"/>
            <a:ext cx="16383000" cy="38037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57263" y="3014663"/>
            <a:ext cx="3602087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6338" y="3176588"/>
            <a:ext cx="32720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59350" y="3014663"/>
            <a:ext cx="7080796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8425" y="3176588"/>
            <a:ext cx="68550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lysis syndrome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640145" y="3014663"/>
            <a:ext cx="5690592" cy="609600"/>
          </a:xfrm>
          <a:prstGeom prst="rect">
            <a:avLst/>
          </a:prstGeom>
          <a:solidFill>
            <a:srgbClr val="1A3260"/>
          </a:solidFill>
          <a:ln w="9525">
            <a:solidFill>
              <a:srgbClr val="1A32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59220" y="3176588"/>
            <a:ext cx="54231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 syndrome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7263" y="3624263"/>
            <a:ext cx="3602087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6338" y="3767137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59350" y="3624263"/>
            <a:ext cx="7080796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8425" y="3767137"/>
            <a:ext cx="685507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Initiation of chemo in high-burden tumors (leukemia, lymphoma)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640145" y="3624263"/>
            <a:ext cx="5690592" cy="96946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59220" y="3767137"/>
            <a:ext cx="542316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mass compressing SVC (lung cancer, lymphoma)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7263" y="4593729"/>
            <a:ext cx="3602087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6338" y="4736604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Onset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59350" y="4593729"/>
            <a:ext cx="7080796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8425" y="4736604"/>
            <a:ext cx="685507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to days after treatment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640145" y="4593729"/>
            <a:ext cx="5690592" cy="62284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59220" y="4736604"/>
            <a:ext cx="542316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— may be presenting sign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57263" y="5216575"/>
            <a:ext cx="3602087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6338" y="5359450"/>
            <a:ext cx="327200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Hallmark labs / signs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559350" y="5216575"/>
            <a:ext cx="7080796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8425" y="5359450"/>
            <a:ext cx="685507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K⁺, ↑ PO₄³⁻, ↑ uric acid, ↓ Ca²⁺, AKI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640145" y="5216575"/>
            <a:ext cx="5690592" cy="622846"/>
          </a:xfrm>
          <a:prstGeom prst="rect">
            <a:avLst/>
          </a:prstGeom>
          <a:ln w="9525">
            <a:solidFill>
              <a:srgbClr val="EBEB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59220" y="5359450"/>
            <a:ext cx="5423160" cy="375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Facial/upper-extremity edema, JVD, dyspnea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57263" y="5839420"/>
            <a:ext cx="3602087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76338" y="5982295"/>
            <a:ext cx="327200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4559350" y="5839420"/>
            <a:ext cx="7080796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8425" y="5982295"/>
            <a:ext cx="685507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IV hydration · allopurinol · rasburicase · electrolyte correction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640145" y="5839420"/>
            <a:ext cx="5690592" cy="969466"/>
          </a:xfrm>
          <a:prstGeom prst="rect">
            <a:avLst/>
          </a:prstGeom>
          <a:solidFill>
            <a:srgbClr val="F5F6F8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59220" y="5982295"/>
            <a:ext cx="5423160" cy="7218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Steroids · radiation · stenting · diuretics for edema</a:t>
            </a:r>
            <a:endParaRPr lang="en-US" sz="19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37</a:t>
            </a:r>
            <a:endParaRPr lang="en-US" sz="16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687690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66641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 · SELECT ALL THAT APPLY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01990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with lung cancer has severe weight and muscle loss (cachexia) despite adequate food intake. Which mechanisms explain this condition?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Inflammatory cytokines increase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7964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30155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30155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30155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energy use is altered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88233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410140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protein breakdown rises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88233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410140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410140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410140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Insulin action becomes stronger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" y="496818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9675" y="518725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25" name="Text 23"/>
          <p:cNvSpPr/>
          <p:nvPr/>
        </p:nvSpPr>
        <p:spPr>
          <a:xfrm>
            <a:off x="1171575" y="518725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914525" y="518725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Resting energy demand increases</a:t>
            </a:r>
            <a:endParaRPr lang="en-US" sz="19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37</a:t>
            </a:r>
            <a:endParaRPr lang="en-US" sz="1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" name="Shape 1"/>
          <p:cNvSpPr/>
          <p:nvPr/>
        </p:nvSpPr>
        <p:spPr>
          <a:xfrm>
            <a:off x="952500" y="876300"/>
            <a:ext cx="6876901" cy="4381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1162050" y="971550"/>
            <a:ext cx="66641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 · SELECT ALL THAT APPLY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019901" y="857250"/>
            <a:ext cx="224194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1600200"/>
            <a:ext cx="156972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features are common in childhood cancer?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236979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9675" y="258886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9" name="Text 7"/>
          <p:cNvSpPr/>
          <p:nvPr/>
        </p:nvSpPr>
        <p:spPr>
          <a:xfrm>
            <a:off x="117157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91452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growth and short latency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39250" y="23697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96425" y="25888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3" name="Text 11"/>
          <p:cNvSpPr/>
          <p:nvPr/>
        </p:nvSpPr>
        <p:spPr>
          <a:xfrm>
            <a:off x="9458325" y="25888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01275" y="25888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link to lifestyle habits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345564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9675" y="367471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17" name="Text 15"/>
          <p:cNvSpPr/>
          <p:nvPr/>
        </p:nvSpPr>
        <p:spPr>
          <a:xfrm>
            <a:off x="117157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91452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embryonal tumor types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239250" y="3455640"/>
            <a:ext cx="8096250" cy="895350"/>
          </a:xfrm>
          <a:prstGeom prst="rect">
            <a:avLst/>
          </a:prstGeom>
          <a:solidFill>
            <a:srgbClr val="F1F8EE"/>
          </a:solidFill>
          <a:ln w="9525">
            <a:solidFill>
              <a:srgbClr val="4295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96425" y="3674715"/>
            <a:ext cx="457200" cy="45720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21" name="Text 19"/>
          <p:cNvSpPr/>
          <p:nvPr/>
        </p:nvSpPr>
        <p:spPr>
          <a:xfrm>
            <a:off x="9458325" y="36747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201275" y="367471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to congenital disorders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" y="4541490"/>
            <a:ext cx="80962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EBEB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09675" y="4760565"/>
            <a:ext cx="457200" cy="4572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5" name="Text 23"/>
          <p:cNvSpPr/>
          <p:nvPr/>
        </p:nvSpPr>
        <p:spPr>
          <a:xfrm>
            <a:off x="1171575" y="476056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914525" y="4760565"/>
            <a:ext cx="708336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epithelial carcinomas</a:t>
            </a:r>
            <a:endParaRPr lang="en-US" sz="19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969F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37</a:t>
            </a:r>
            <a:endParaRPr lang="en-US" sz="16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445C"/>
          </a:solidFill>
          <a:ln/>
        </p:spPr>
      </p:sp>
      <p:sp>
        <p:nvSpPr>
          <p:cNvPr id="3" name="Text 1"/>
          <p:cNvSpPr/>
          <p:nvPr/>
        </p:nvSpPr>
        <p:spPr>
          <a:xfrm>
            <a:off x="952500" y="2319338"/>
            <a:ext cx="1687449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15000" dirty="0">
                <a:solidFill>
                  <a:srgbClr val="45C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52500" y="3881438"/>
            <a:ext cx="14716125" cy="3371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Oncology can feel emotionally weighty — and that sensitivity is one of your greatest clinical assets. Let your compassion fuel your curiosity. Understanding cancer at its roots is one of the most powerful things a nurse can carry into patient care.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7672388"/>
            <a:ext cx="1687449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VIDYA AGGRAWAL · PATHOPHYSIOLOGY COURSE INSTRUCTOR · NIGHTINGALE COLLEGE</a:t>
            </a:r>
            <a:endParaRPr lang="en-US" sz="1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677400"/>
            <a:ext cx="209550" cy="266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6350" y="9686925"/>
            <a:ext cx="23306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SCI225 · WEEK 3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635859" y="9686925"/>
            <a:ext cx="7758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66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37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2026-04-30T13:53:59Z</dcterms:created>
  <dcterms:modified xsi:type="dcterms:W3CDTF">2026-04-30T13:53:59Z</dcterms:modified>
</cp:coreProperties>
</file>