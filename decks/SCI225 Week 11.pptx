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11 — the Renal and Urinary System. How the kidney filters, concentrates, and regulates, then what goes wrong: obstruction, infection, AKI, CKD, and the pediatric renal disorders.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agenda — three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weekly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reading and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11 — Week Eleven.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structure and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nephron, filtration, and GFR.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Creatinine is the mirror of GFR.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Hormonal control and autoregulation — RAAS, ADH, the arterioles.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what drives filtration.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renin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sympathetic and GFR.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alterations.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Obstruction and kidney 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Urinary tract infection — cystitis vs pyelonephritis.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Acute kidney injury and glomerular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Chronic kidney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hydronephrosis.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prerenal AKI.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CKD and potassium.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objective — pediatric renal.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Congenital and obstructive — reflux and PKD.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Pediatric glomerular disease and HUS.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Wilms tumor and infant fluid fragility.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vesicoureteral reflux.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Wilms tumor.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watch the GFR, follow the back-pressure.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716661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716661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Renal &amp; Urinary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gradFill rotWithShape="1">
            <a:gsLst>
              <a:gs pos="0">
                <a:srgbClr val="1A3260">
                  <a:alpha val="55000"/>
                </a:srgbClr>
              </a:gs>
              <a:gs pos="60000">
                <a:srgbClr val="1A3260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rcRect l="20680" r="2068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292066" y="9648825"/>
            <a:ext cx="169113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425416" y="9725025"/>
            <a:ext cx="15006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week 11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function — nephron, GFR, RAAS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Alterations — stones, UTI, AKI, CKD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renal &amp; urinary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checks &amp; discussion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28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ELEVEN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structure and function of the renal and urinary system.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alterations of renal and urinary function and their consequences.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pediatric renal and urinary disorders and their clinical presentations.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28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&amp; urinary structure &amp; function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Alterations of renal &amp; urinary function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Study Guide — covers all objectives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773662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5373737"/>
            <a:ext cx="7374255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Nephron &amp; RAAS diagram refresher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 prerenal/intrarenal/postrenal overview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Creatinine &amp; GFR interpretation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Cystitis vs. pyelonephritis quick reference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cheat sheet — highest-yield patterns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28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591550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503265"/>
            <a:ext cx="859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ELEVEN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3979515"/>
            <a:ext cx="85915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Eleven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126236"/>
            <a:ext cx="6867525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renal &amp; urinary system — the nephron and GFR, the hormones that control blood pressure, then obstruction, infection, AKI, CKD, and the pediatric renal disorders.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28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142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 Pre-Assessment — complete before the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apply renal pathophysiology to a clinical scenario;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covers the nephron/GFR, stones, UTI, AKI, CKD, and pediatric renal disease.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apply renal mechanisms to a patient presentation.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— kidney stones, AKI, CKD, and pediatric renal disorders. Bring your reading notes.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STRUCTURE &amp; FUNCTION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how the nephron filters and concentrates, how GFR is measured, and how the kidney defends its filtration rate and controls blood pressure.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28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nephron, filtration &amp; GFR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" y="20859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nephron is the kidney's functional unit — filter at the glomerulus, fine-tune along the tubule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869186" y="258603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8261" y="274796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7263" y="3195638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6338" y="3338513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Glomerulus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869186" y="3195638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8261" y="3338513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blood — driven by capillary hydrostatic (blood) pressure pushing fluid into the filtrate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7263" y="3818483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338" y="3961358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Proximal tubule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869186" y="3818483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8261" y="3961358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Reabsorbs the most — water, sodium, glucose, nutrients (the bulk-reabsorption workhorse)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441329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584204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of Henle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869186" y="4441329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8261" y="4584204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Countercurrent system builds the medullary gradient → lets the kidney concentrate urine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7263" y="5064175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6338" y="5207050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Distal tubule / collecting duct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5869186" y="5064175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8261" y="5207050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adjustments under aldosterone (Na/K) and ADH (water)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3350" y="5882283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filtration is driven by blood (hydrostatic) pressure; the proximal tubule reabsorbs the most; the loop of Henle is what lets you make concentrated urine.</a:t>
            </a:r>
            <a:endParaRPr lang="en-US" sz="1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FUNCTION MARKER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Creatinine is the mirror of GFR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GFR (glomerular filtration rate):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blood the kidneys filter per minute — the key measure of kidney function.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Creatinine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waste product cleared by filtration.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GFR falls, creatinine rises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 accumulates in the blood.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plasma creatinine = reduced kidney filtration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creatinine as the inverse of GFR — it goes up when filtration goes down.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28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Hormonal control &amp; autoregulation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121163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120417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Autoregulation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14342" y="2795588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3417" y="2938463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Adjusts the afferent (incoming) and efferent (outgoing) arterioles to hold GFR steady despite changing BP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Sympathetic activation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214342" y="3418433"/>
            <a:ext cx="121163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3417" y="3561308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Constricts the afferent arteriole → less blood in → ↓ GFR (shunts blood away in shock)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4041279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4184154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BP/flow → renin → angiotensin II (vasoconstriction) + aldosterone (Na/water retention) → ↑ BP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214342" y="4664125"/>
            <a:ext cx="121163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3417" y="4807000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the collecting duct reabsorb water → concentrated urine, higher blood volume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3350" y="5482233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BP → renin → RAAS → retain salt &amp; water → BP up. Strong sympathetic drive constricts the afferent arteriole and drops GFR.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28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factor drives glomerular filtration?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Capillary hydrostatic (blood) pressure pushing fluid into the filtrate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 oncotic pressure pulling fluid in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Tubular reabsorption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 secretion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patient's blood pressure drops. Which mechanism explains increased renin release?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renal perfusion triggers renin to activate RAAS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blood pressure stimulates renin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sodium triggers renin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 suppresses renin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Sympathetic activation decreases afferent arteriole diameter. What results?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blood flow into the glomerulus and a lower GFR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GFR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renal blood flow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filtration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ALTERATIONS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alterations of renal and urinary function — obstruction and stones, urinary tract infection, acute kidney injury and glomerular disease, and chronic kidney disease.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 &amp; kidney stones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5845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2838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541764" y="2185988"/>
            <a:ext cx="1178897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839" y="2347913"/>
            <a:ext cx="117044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Hydronephrosis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541764" y="2795588"/>
            <a:ext cx="117889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839" y="2938463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 backs urine up → renal pelvis/calyces dilate under pressure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GFR during obstruction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541764" y="3418433"/>
            <a:ext cx="1178897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839" y="3561308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Back-pressure opposes filtration → GFR falls; prolonged obstruction → AKI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Infection risk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541764" y="4041279"/>
            <a:ext cx="117889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839" y="4184154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Stagnant, retained urine is a breeding ground → more UTIs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Postobstructive diuresis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541764" y="4664125"/>
            <a:ext cx="1178897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839" y="4807000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relief, retained fluid &amp; solutes are dumped → large urine output (watch for dehydration)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7263" y="5286970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6338" y="5429845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 stones (calculi)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541764" y="5286970"/>
            <a:ext cx="117889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839" y="5429845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urine + supersaturation → crystals; calcium oxalate is most common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06755" y="6105079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colic: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stone causes sudden severe flank pain radiating to the groin, in waves (colicky), with restlessness, nausea, and concentrated urine. Hydration helps prevent stones.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Urinary tract infection — usually ascending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2579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Cystitis (lower UTI)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82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Bladder infection/inflammation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Urgency, frequency, dysuria (burning)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Suprapubic discomfort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Inflamed wall signals the urge even when nearly empty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62579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Pyelonephritis (upper UTI)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56445" y="3181350"/>
            <a:ext cx="7374255" cy="1691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reaches the kidney (usually ascending from the bladder)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Flank pain, fever, chills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illness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6755" y="8667750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UTIs ascend (urethra → bladder → up to kidney). Cystitis = bladder (urgency/frequency/burning); pyelonephritis = kidney (flank pain + fever). Stasis from obstruction or reflux raises risk.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kidney injury &amp; glomerular disease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121163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120417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Prerenal AKI (most common)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14342" y="2795588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3417" y="2938463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blood flow (dehydration, hemorrhage, shock) → ↓ GFR → oliguria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Intrarenal AKI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214342" y="3418433"/>
            <a:ext cx="121163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3417" y="3561308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kidney damage (toxins, ischemia, myoglobin)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Postrenal AKI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4041279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4184154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 backs pressure up the tract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Glomerulonephritis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214342" y="4664125"/>
            <a:ext cx="121163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3417" y="4807000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Inflammation damages the glomerulus → blood leaks into urine (hematuria)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7263" y="5286970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6338" y="5429845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Nephrotic pattern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214342" y="5286970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3417" y="5429845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damage → massive protein loss (proteinuria) → low albumin → edema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06755" y="6105079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dehydration → prerenal AKI → oliguria + rising creatinine. Injured filter leaks: inflammation → blood (hematuria); barrier breakdown → protein (proteinuria) → edema.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kidney disease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" y="20859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Progressive, irreversible loss of nephrons — failing excretion, balance, and hormone production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457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869186" y="258603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8261" y="274796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57263" y="3195638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6338" y="3338513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cause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869186" y="3195638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8261" y="3338513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(then hypertension) damages the small renal vessels over years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7263" y="3818483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6338" y="3961358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 (fatigue, pallor)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869186" y="3818483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8261" y="3961358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Damaged kidneys make less erythropoietin (EPO) → fewer RBCs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441329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584204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Hyperkalemia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869186" y="4441329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8261" y="4584204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kidneys can't excrete potassium → it builds up (dangerous for the heart)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7263" y="5064175"/>
            <a:ext cx="4911923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6338" y="5207050"/>
            <a:ext cx="462113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overload / acidosis / waste buildup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5869186" y="5064175"/>
            <a:ext cx="11461552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8261" y="5207050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excretory capacity → edema, metabolic acidosis, rising creatinine/BUN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3350" y="6228904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CKD's #1 cause is diabetes. Two classic links: low EPO → anemia; failure to excrete potassium → hyperkalemia.</a:t>
            </a:r>
            <a:endParaRPr lang="en-US" sz="1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process causes hydronephrosis?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 backs urine up, dilating the renal pelvis and calyces under pressure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GFR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water intake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renal blood flow only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severe dehydration develops oliguria. Which mechanism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renal blood flow lowers GFR, so less urine is formed (prerenal AKI)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GFR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ADH suppression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Glomerular protein loss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electrolyte imbalance is a CKD patient at greatest risk for developing?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Hyperkalemia (high potassium)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Hypokalemia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Hypernatremia only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Hypocalcemia only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PEDIATRIC RENAL &amp; URINARY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congenital and obstructive problems, the childhood glomerular diseases, the renal tumor, and why infants are fluid-fragile.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Congenital &amp; obstructive — reflux &amp; PKD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457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Vesicoureteral reflux (VUR)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valve where the ureter enters the bladder → urine flows backward toward the kidney → recurrent infections &amp; scarring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765054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907929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UPJ obstruction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765054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907929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Narrowing where renal pelvis meets ureter → back-pressure → hydronephrosis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387900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530775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Bladder outlet obstruction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387900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530775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urethral valves block the outlet → back-pressure → hydronephrosis &amp; kidney damage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5010745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5153620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Polycystic kidney disease (PKD)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869186" y="5010745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8261" y="5153620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Fluid-filled cysts enlarge and compress/replace functional tissue → progressive loss of function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06755" y="5828854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VUR the one-way bladder-ureter valve fails, so urine refluxes up and carries bacteria → recurrent UTIs. PKD isn't a blockage — cysts squeeze out working nephrons.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28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glomerular disease &amp; HUS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80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Poststreptococcal glomerulonephritis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complexes form after strep, deposit in glomeruli → inflammation → hematuria, edema, hypertension (appears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infection resolves)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765054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907929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Nephrotic syndrome (childhood)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765054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907929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Glomerular barrier damage → heavy proteinuria → low albumin → edema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387900"/>
            <a:ext cx="491192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530775"/>
            <a:ext cx="462113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Hemolytic uremic syndrome (HUS)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387900"/>
            <a:ext cx="114615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530775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after Shiga-toxin E. coli → endothelial injury &amp; microthrombi in the kidney → renal injury (with hemolytic anemia + low platelets)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06755" y="5552629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Nephritic vs. nephrotic: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inflammation lets blood through → hematuria (poststrep GN); barrier breakdown lets protein out → proteinuria → edema (nephrotic). HUS injures via microthrombi.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&amp; FLUID RISK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Wilms tumor &amp; infant fluid fragility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Nephroblastoma (Wilms tumor):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 proliferation of embryonic kidney cells → a (often large, one-sided) abdominal/renal mass in young children — the classic childhood kidney cancer.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Untreated bladder outlet obstruction: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back-pressure → hydronephrosis → progressive kidney damage/failure.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infants are fluid-fragile: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body-water percentage, faster turnover, and immature kidneys that concentrate urine poorly → they dehydrate quickly and tip into fluid/electrolyte imbalance.</a:t>
            </a:r>
            <a:endParaRPr lang="en-US" sz="2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28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explains recurrent infections with vesicoureteral reflux?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Urine refluxes backward toward the kidney, carrying bacteria upward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kidney over-filters bacteria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bladder emptying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bladder pressure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28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mechanism best explains nephroblastoma (Wilms tumor)?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 proliferation of embryonic kidney cells forming a renal mass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Bacterial kidney infection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blocking stone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Immune-complex deposition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28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GFR and follow the back-pressure. Creatinine rising means filtration falling; obstruction anywhere backs up into the kidney; and in children, a failed valve or an immature kidney changes everything. Name the mechanism and the labs explain themselves.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· PATHOPHYSIOLOGY COURSE INSTRUCTOR · NIGHTINGALE COLLEGE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4733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2026-06-29T15:28:13Z</dcterms:created>
  <dcterms:modified xsi:type="dcterms:W3CDTF">2026-06-29T15:28:13Z</dcterms:modified>
</cp:coreProperties>
</file>