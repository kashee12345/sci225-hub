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Week 4: Neurological Disorders.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today's agenda.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Week 4 learning objectives.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Weekly resources and required reading.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Module 4 — Week Four core content.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what is due this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objectives — neurologic structure and function.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discussion: nervous system overview.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neurons vs. glial cells.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Myelin and saltatory conduction.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Major brain structures and their roles.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Ventricular system and CSF.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Lobes of the cerebral cortex.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Cranial nerves — mnemonic and clinical pearls.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Knowledge check — demyelination.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objectives — pain, temperature, sleep, sensory.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Pain pathways.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Nociceptive pain.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Neuropathic pain.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Sensory pathways and tracts.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Reticular Activating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Sleep, circadian rhythm, and temperature regulation.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Knowledge check — neuropathic pain.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Knowledge check — RAS injury.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objectives — cognition, hemodynamics, motor function.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Discussion: alterations in consciousness.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Cerebral hemodynamics.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Increased intracranial pressure.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Herniation syndromes.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Motor function — UMN vs LMN.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Parkinson's disease.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Multiple sclerosis.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Amyotrophic lateral sclerosis (ALS).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Stroke pathophysiology.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Traumatic brain injury.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Neurological assessment.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Knowledge check — Parkinson's.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Knowledge check — Cushing's triad.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1A326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762000"/>
            <a:ext cx="266700" cy="342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90650" y="809625"/>
            <a:ext cx="472004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PATHOPHYSIOLOGY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952500" y="4195316"/>
            <a:ext cx="6710553" cy="9706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7200" b="1" spc="-7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</a:t>
            </a:r>
            <a:pPr algn="l" indent="0" marL="0">
              <a:lnSpc>
                <a:spcPct val="102000"/>
              </a:lnSpc>
              <a:buNone/>
            </a:pPr>
            <a:r>
              <a:rPr lang="en-US" sz="7200" b="1" spc="-72" kern="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</a:t>
            </a:r>
            <a:endParaRPr lang="en-US" sz="7200" dirty="0"/>
          </a:p>
        </p:txBody>
      </p:sp>
      <p:sp>
        <p:nvSpPr>
          <p:cNvPr id="6" name="Text 3"/>
          <p:cNvSpPr/>
          <p:nvPr/>
        </p:nvSpPr>
        <p:spPr>
          <a:xfrm>
            <a:off x="952500" y="5356473"/>
            <a:ext cx="6710553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spc="198" kern="0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Neurological Disorders</a:t>
            </a:r>
            <a:endParaRPr lang="en-US" sz="3300" dirty="0"/>
          </a:p>
        </p:txBody>
      </p:sp>
      <p:sp>
        <p:nvSpPr>
          <p:cNvPr id="7" name="Text 4"/>
          <p:cNvSpPr/>
          <p:nvPr/>
        </p:nvSpPr>
        <p:spPr>
          <a:xfrm>
            <a:off x="952500" y="8923139"/>
            <a:ext cx="6710553" cy="830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XYZ </a:t>
            </a:r>
            <a:pPr algn="l" indent="0" marL="0">
              <a:lnSpc>
                <a:spcPct val="160000"/>
              </a:lnSpc>
              <a:buNone/>
            </a:pPr>
            <a:r>
              <a:rPr lang="en-US" sz="1950" dirty="0">
                <a:solidFill>
                  <a:srgbClr val="FFFFFF">
                    <a:alpha val="9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Nightingale College</a:t>
            </a:r>
            <a:endParaRPr lang="en-US" sz="1950" dirty="0"/>
          </a:p>
        </p:txBody>
      </p:sp>
      <p:sp>
        <p:nvSpPr>
          <p:cNvPr id="8" name="Shape 5"/>
          <p:cNvSpPr/>
          <p:nvPr/>
        </p:nvSpPr>
        <p:spPr>
          <a:xfrm>
            <a:off x="8229600" y="0"/>
            <a:ext cx="10058400" cy="10287000"/>
          </a:xfrm>
          <a:prstGeom prst="rect">
            <a:avLst/>
          </a:prstGeom>
          <a:solidFill>
            <a:srgbClr val="1A3260">
              <a:alpha val="55000"/>
            </a:srgbClr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229600" y="0"/>
            <a:ext cx="10058400" cy="102870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16375856" y="9648825"/>
            <a:ext cx="1607344" cy="333375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</p:sp>
      <p:sp>
        <p:nvSpPr>
          <p:cNvPr id="11" name="Text 7"/>
          <p:cNvSpPr/>
          <p:nvPr/>
        </p:nvSpPr>
        <p:spPr>
          <a:xfrm>
            <a:off x="16509206" y="9725025"/>
            <a:ext cx="1416844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// week 4 visual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SESSION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687449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952500" y="3362325"/>
            <a:ext cx="7734300" cy="9525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5" name="Text 3"/>
          <p:cNvSpPr/>
          <p:nvPr/>
        </p:nvSpPr>
        <p:spPr>
          <a:xfrm>
            <a:off x="952500" y="2752725"/>
            <a:ext cx="9144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2019300" y="2805113"/>
            <a:ext cx="686752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Nervous system structure &amp; function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601200" y="3362325"/>
            <a:ext cx="7734300" cy="9525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0" y="2752725"/>
            <a:ext cx="9144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10668000" y="2805113"/>
            <a:ext cx="686752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 &amp; sensory pathways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52500" y="4381500"/>
            <a:ext cx="7734300" cy="9525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11" name="Text 9"/>
          <p:cNvSpPr/>
          <p:nvPr/>
        </p:nvSpPr>
        <p:spPr>
          <a:xfrm>
            <a:off x="952500" y="3771900"/>
            <a:ext cx="9144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2019300" y="3824288"/>
            <a:ext cx="686752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Sleep, circadian, temperature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601200" y="4381500"/>
            <a:ext cx="7734300" cy="9525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0" y="3771900"/>
            <a:ext cx="9144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10668000" y="3824288"/>
            <a:ext cx="686752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Cerebral hemodynamics &amp; ICP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952500" y="5400675"/>
            <a:ext cx="7734300" cy="9525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17" name="Text 15"/>
          <p:cNvSpPr/>
          <p:nvPr/>
        </p:nvSpPr>
        <p:spPr>
          <a:xfrm>
            <a:off x="952500" y="4791075"/>
            <a:ext cx="9144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3300" dirty="0"/>
          </a:p>
        </p:txBody>
      </p:sp>
      <p:sp>
        <p:nvSpPr>
          <p:cNvPr id="18" name="Text 16"/>
          <p:cNvSpPr/>
          <p:nvPr/>
        </p:nvSpPr>
        <p:spPr>
          <a:xfrm>
            <a:off x="2019300" y="4843463"/>
            <a:ext cx="686752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 disorders: PD, MS, ALS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9601200" y="5400675"/>
            <a:ext cx="7734300" cy="9525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0" y="4791075"/>
            <a:ext cx="9144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3300" dirty="0"/>
          </a:p>
        </p:txBody>
      </p:sp>
      <p:sp>
        <p:nvSpPr>
          <p:cNvPr id="21" name="Text 19"/>
          <p:cNvSpPr/>
          <p:nvPr/>
        </p:nvSpPr>
        <p:spPr>
          <a:xfrm>
            <a:off x="10668000" y="4843463"/>
            <a:ext cx="686752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Stroke &amp; traumatic brain injury</a:t>
            </a:r>
            <a:endParaRPr lang="en-US" sz="225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4</a:t>
            </a:r>
            <a:endParaRPr lang="en-US" sz="1650" dirty="0"/>
          </a:p>
        </p:txBody>
      </p:sp>
      <p:sp>
        <p:nvSpPr>
          <p:cNvPr id="24" name="Text 21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38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FOUR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687449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952500" y="3609975"/>
            <a:ext cx="16383000" cy="9525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5" name="Shape 3"/>
          <p:cNvSpPr/>
          <p:nvPr/>
        </p:nvSpPr>
        <p:spPr>
          <a:xfrm>
            <a:off x="952500" y="2733675"/>
            <a:ext cx="723900" cy="7239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73367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2133600" y="2867025"/>
            <a:ext cx="1565795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the structure and function of the neurologic system.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52500" y="4857750"/>
            <a:ext cx="16383000" cy="9525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9" name="Shape 7"/>
          <p:cNvSpPr/>
          <p:nvPr/>
        </p:nvSpPr>
        <p:spPr>
          <a:xfrm>
            <a:off x="952500" y="3981450"/>
            <a:ext cx="723900" cy="7239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981450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2133600" y="4114800"/>
            <a:ext cx="1565795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pain, temperature, sleep, and sensory function.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952500" y="6105525"/>
            <a:ext cx="16383000" cy="9525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13" name="Shape 11"/>
          <p:cNvSpPr/>
          <p:nvPr/>
        </p:nvSpPr>
        <p:spPr>
          <a:xfrm>
            <a:off x="952500" y="5229225"/>
            <a:ext cx="723900" cy="7239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522922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2133600" y="5362575"/>
            <a:ext cx="1565795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 alterations in cognitive systems, cerebral hemodynamics, and motor function.</a:t>
            </a:r>
            <a:endParaRPr lang="en-US" sz="22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4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38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resources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52500" y="2181225"/>
            <a:ext cx="7886700" cy="7248525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4" name="Shape 2"/>
          <p:cNvSpPr/>
          <p:nvPr/>
        </p:nvSpPr>
        <p:spPr>
          <a:xfrm>
            <a:off x="952500" y="2181225"/>
            <a:ext cx="7886700" cy="5715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2581275"/>
            <a:ext cx="7338441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 &amp; supplemental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160145" y="3181350"/>
            <a:ext cx="7374255" cy="1824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14 — The Neurologic System (Huether &amp; McCance)</a:t>
            </a:r>
            <a:endParaRPr lang="en-US" sz="1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 Study Guide — covers all objectives</a:t>
            </a:r>
            <a:endParaRPr lang="en-US" sz="1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Khan Academy: Nervous System modules</a:t>
            </a:r>
            <a:endParaRPr lang="en-US" sz="1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NCLEX-style practice questions in course resources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9448800" y="2181225"/>
            <a:ext cx="7886700" cy="7248525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8" name="Shape 6"/>
          <p:cNvSpPr/>
          <p:nvPr/>
        </p:nvSpPr>
        <p:spPr>
          <a:xfrm>
            <a:off x="9448800" y="2181225"/>
            <a:ext cx="7886700" cy="571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9" name="Text 7"/>
          <p:cNvSpPr/>
          <p:nvPr/>
        </p:nvSpPr>
        <p:spPr>
          <a:xfrm>
            <a:off x="9829800" y="2581275"/>
            <a:ext cx="7338441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Tips for success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9656445" y="3181350"/>
            <a:ext cx="7374255" cy="1344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on pathophysiologic mechanisms — not just facts.</a:t>
            </a:r>
            <a:endParaRPr lang="en-US" sz="1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each disorder back to normal anatomy and function.</a:t>
            </a:r>
            <a:endParaRPr lang="en-US" sz="1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cranial nerve mnemonic during clinical practice.</a:t>
            </a:r>
            <a:endParaRPr lang="en-US" sz="195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4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38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3848100"/>
            <a:ext cx="8044815" cy="2628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24000" b="1" spc="-960" kern="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4000" dirty="0"/>
          </a:p>
        </p:txBody>
      </p:sp>
      <p:sp>
        <p:nvSpPr>
          <p:cNvPr id="4" name="Text 2"/>
          <p:cNvSpPr/>
          <p:nvPr/>
        </p:nvSpPr>
        <p:spPr>
          <a:xfrm>
            <a:off x="9525000" y="3917603"/>
            <a:ext cx="804481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FOUR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9525000" y="4393853"/>
            <a:ext cx="8044815" cy="91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6600" b="1" spc="-66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Four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9525000" y="5540573"/>
            <a:ext cx="6867525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Neurologic structure, sensory and motor function, and the major neurological disorders.</a:t>
            </a:r>
            <a:endParaRPr lang="en-US" sz="22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4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38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ITEMS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6874490" cy="1122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due this week?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725805" y="2836515"/>
            <a:ext cx="14590395" cy="3805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the Week 4 Pre-Assessment.</a:t>
            </a:r>
            <a:endParaRPr lang="en-US" sz="25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Chapter 14 — The Neurologic System.</a:t>
            </a:r>
            <a:endParaRPr lang="en-US" sz="25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Discussion: Cranial Nerve Assessment (due Saturday, May 31).</a:t>
            </a:r>
            <a:endParaRPr lang="en-US" sz="25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 a Week 4 Webinar.</a:t>
            </a:r>
            <a:endParaRPr lang="en-US" sz="25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the Week 4 Case Study (due Saturday, May 31, 11:59 pm MT).</a:t>
            </a:r>
            <a:endParaRPr lang="en-US" sz="25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the Week 4 Webinar Quiz (due Saturday, May 31, 11:59 pm MT).</a:t>
            </a:r>
            <a:endParaRPr lang="en-US" sz="25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4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38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· STRUCTURE &amp; FUNCTION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687449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objective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952500" y="3609975"/>
            <a:ext cx="16383000" cy="9525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5" name="Shape 3"/>
          <p:cNvSpPr/>
          <p:nvPr/>
        </p:nvSpPr>
        <p:spPr>
          <a:xfrm>
            <a:off x="952500" y="2733675"/>
            <a:ext cx="723900" cy="7239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73367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2133600" y="2867025"/>
            <a:ext cx="1565795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the structure and function of the neurologic system.</a:t>
            </a:r>
            <a:endParaRPr lang="en-US" sz="22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4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38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3530947"/>
            <a:ext cx="8594217" cy="1558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7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nervous system: an overview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952500" y="5355878"/>
            <a:ext cx="8594217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 prompts: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1226820" y="6089303"/>
            <a:ext cx="814578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06680" indent="-106680">
              <a:buSzPct val="100000"/>
              <a:buChar char="•"/>
              <a:tabLst>
                <a:tab pos="106680" algn="l"/>
              </a:tabLst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are the two main divisions of the nervous system?</a:t>
            </a:r>
            <a:endParaRPr lang="en-US" sz="1200" dirty="0"/>
          </a:p>
          <a:p>
            <a:pPr algn="l" marL="106680" indent="-106680">
              <a:buSzPct val="100000"/>
              <a:buChar char="•"/>
              <a:tabLst>
                <a:tab pos="106680" algn="l"/>
              </a:tabLst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the role of the autonomic nervous system?</a:t>
            </a:r>
            <a:endParaRPr lang="en-US" sz="1200" dirty="0"/>
          </a:p>
          <a:p>
            <a:pPr algn="l" marL="106680" indent="-106680">
              <a:buSzPct val="100000"/>
              <a:buChar char="•"/>
              <a:tabLst>
                <a:tab pos="106680" algn="l"/>
              </a:tabLst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CNS and PNS communicate?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058400" y="0"/>
            <a:ext cx="8229600" cy="10287000"/>
          </a:xfrm>
          <a:prstGeom prst="rect">
            <a:avLst/>
          </a:prstGeom>
          <a:solidFill>
            <a:srgbClr val="EBEBE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058400" y="0"/>
            <a:ext cx="8229600" cy="10287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5321707" y="9582150"/>
            <a:ext cx="2661493" cy="400050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15474107" y="9677400"/>
            <a:ext cx="243653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D3D3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// nervous system diagram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Neurons vs. glial cells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52500" y="2181225"/>
            <a:ext cx="7886700" cy="7248525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4" name="Shape 2"/>
          <p:cNvSpPr/>
          <p:nvPr/>
        </p:nvSpPr>
        <p:spPr>
          <a:xfrm>
            <a:off x="952500" y="2181225"/>
            <a:ext cx="7886700" cy="5715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2581275"/>
            <a:ext cx="7338441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Neurons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600200" y="3181350"/>
            <a:ext cx="7071741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Types: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sensory (afferent), motor (efferent), interneurons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600200" y="3661321"/>
            <a:ext cx="7071741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Structure: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dendrites receive, axon transmits, myelin speeds conduction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600200" y="4487912"/>
            <a:ext cx="7071741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Function: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generate/transmit action potentials; communicate via neurotransmitters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9448800" y="2181225"/>
            <a:ext cx="7886700" cy="7248525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10" name="Shape 8"/>
          <p:cNvSpPr/>
          <p:nvPr/>
        </p:nvSpPr>
        <p:spPr>
          <a:xfrm>
            <a:off x="9448800" y="2181225"/>
            <a:ext cx="7886700" cy="571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11" name="Text 9"/>
          <p:cNvSpPr/>
          <p:nvPr/>
        </p:nvSpPr>
        <p:spPr>
          <a:xfrm>
            <a:off x="9829800" y="2581275"/>
            <a:ext cx="7338441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Glial cells (neuroglia)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10096500" y="3181350"/>
            <a:ext cx="7071741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Astrocytes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BBB support, neuronal environment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0096500" y="3661321"/>
            <a:ext cx="7071741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Oligodendrocytes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CNS myelin formation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096500" y="4141291"/>
            <a:ext cx="7071741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Microglia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CNS immune defense, debris clearance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0096500" y="4621262"/>
            <a:ext cx="7071741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Schwann cells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PNS myelin formation and repair</a:t>
            </a:r>
            <a:endParaRPr lang="en-US" sz="19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4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38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2930872"/>
            <a:ext cx="8594217" cy="1558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7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Myelin &amp; saltatory conduction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952500" y="4755803"/>
            <a:ext cx="8594217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potentials "jump" from one node of Ranvier to the next along myelinated axons — orders of magnitude faster than continuous conduction.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952500" y="6270278"/>
            <a:ext cx="8594217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Demyelination (MS, Guillain-Barré) disrupts this pattern → slowed signals, sensory and motor deficits.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10058400" y="0"/>
            <a:ext cx="8229600" cy="10287000"/>
          </a:xfrm>
          <a:prstGeom prst="rect">
            <a:avLst/>
          </a:prstGeom>
          <a:solidFill>
            <a:srgbClr val="EBEBE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058400" y="0"/>
            <a:ext cx="8229600" cy="10287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5133141" y="9582150"/>
            <a:ext cx="2850059" cy="400050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15285541" y="9677400"/>
            <a:ext cx="263076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D3D3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// myelin / Ranvier diagram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Brain structures and functions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52500" y="2181225"/>
            <a:ext cx="16383000" cy="497904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957263" y="2185988"/>
            <a:ext cx="3602087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76338" y="2347913"/>
            <a:ext cx="32720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4559350" y="2185988"/>
            <a:ext cx="12771388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78425" y="2347913"/>
            <a:ext cx="1271638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957263" y="2795588"/>
            <a:ext cx="3602087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6338" y="2938463"/>
            <a:ext cx="327200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Cerebrum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4559350" y="2795588"/>
            <a:ext cx="12771388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8425" y="2938463"/>
            <a:ext cx="1271638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cognition, voluntary movement, sensation, language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57263" y="3418433"/>
            <a:ext cx="3602087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6338" y="3561308"/>
            <a:ext cx="327200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Cerebellum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4559350" y="3418433"/>
            <a:ext cx="12771388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78425" y="3561308"/>
            <a:ext cx="1271638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Coordination, balance, fine-motor control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57263" y="4041279"/>
            <a:ext cx="3602087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76338" y="4184154"/>
            <a:ext cx="327200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Brainstem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4559350" y="4041279"/>
            <a:ext cx="12771388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78425" y="4184154"/>
            <a:ext cx="1271638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Vital functions: respiration, heart rate, consciousness pathways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957263" y="4664125"/>
            <a:ext cx="3602087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76338" y="4807000"/>
            <a:ext cx="327200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Hypothalamus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4559350" y="4664125"/>
            <a:ext cx="12771388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78425" y="4807000"/>
            <a:ext cx="1271638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Homeostasis — temperature, hunger, hormones, circadian rhythm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957263" y="5286970"/>
            <a:ext cx="3602087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76338" y="5429845"/>
            <a:ext cx="327200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Thalamus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4559350" y="5286970"/>
            <a:ext cx="12771388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78425" y="5429845"/>
            <a:ext cx="1271638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Sensory relay station to cortex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957263" y="5909816"/>
            <a:ext cx="3602087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76338" y="6052691"/>
            <a:ext cx="327200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Basal ganglia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4559350" y="5909816"/>
            <a:ext cx="12771388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78425" y="6052691"/>
            <a:ext cx="1271638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Movement initiation, motor learning</a:t>
            </a:r>
            <a:endParaRPr lang="en-US" sz="1950" dirty="0"/>
          </a:p>
        </p:txBody>
      </p:sp>
      <p:sp>
        <p:nvSpPr>
          <p:cNvPr id="32" name="Shape 30"/>
          <p:cNvSpPr/>
          <p:nvPr/>
        </p:nvSpPr>
        <p:spPr>
          <a:xfrm>
            <a:off x="957263" y="6532662"/>
            <a:ext cx="3602087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76338" y="6675537"/>
            <a:ext cx="327200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Limbic system</a:t>
            </a:r>
            <a:endParaRPr lang="en-US" sz="1950" dirty="0"/>
          </a:p>
        </p:txBody>
      </p:sp>
      <p:sp>
        <p:nvSpPr>
          <p:cNvPr id="34" name="Shape 32"/>
          <p:cNvSpPr/>
          <p:nvPr/>
        </p:nvSpPr>
        <p:spPr>
          <a:xfrm>
            <a:off x="4559350" y="6532662"/>
            <a:ext cx="12771388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78425" y="6675537"/>
            <a:ext cx="1271638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Emotion, memory, motivation</a:t>
            </a:r>
            <a:endParaRPr lang="en-US" sz="1950" dirty="0"/>
          </a:p>
        </p:txBody>
      </p:sp>
      <p:pic>
        <p:nvPicPr>
          <p:cNvPr id="3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4</a:t>
            </a:r>
            <a:endParaRPr lang="en-US" sz="1650" dirty="0"/>
          </a:p>
        </p:txBody>
      </p:sp>
      <p:sp>
        <p:nvSpPr>
          <p:cNvPr id="38" name="Text 35"/>
          <p:cNvSpPr/>
          <p:nvPr/>
        </p:nvSpPr>
        <p:spPr>
          <a:xfrm>
            <a:off x="16651486" y="9686925"/>
            <a:ext cx="76021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38</a:t>
            </a:r>
            <a:endParaRPr lang="en-US" sz="1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3773835"/>
            <a:ext cx="8594217" cy="1558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7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Ventricular system &amp; CSF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1226820" y="5674965"/>
            <a:ext cx="814578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06680" indent="-106680">
              <a:buSzPct val="100000"/>
              <a:buChar char="•"/>
              <a:tabLst>
                <a:tab pos="106680" algn="l"/>
              </a:tabLst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CSF produced by choroid plexus in lateral ventricles.</a:t>
            </a:r>
            <a:endParaRPr lang="en-US" sz="1200" dirty="0"/>
          </a:p>
          <a:p>
            <a:pPr algn="l" marL="106680" indent="-106680">
              <a:buSzPct val="100000"/>
              <a:buChar char="•"/>
              <a:tabLst>
                <a:tab pos="106680" algn="l"/>
              </a:tabLst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Flows: lateral → 3rd → 4th → subarachnoid space.</a:t>
            </a:r>
            <a:endParaRPr lang="en-US" sz="1200" dirty="0"/>
          </a:p>
          <a:p>
            <a:pPr algn="l" marL="106680" indent="-106680">
              <a:buSzPct val="100000"/>
              <a:buChar char="•"/>
              <a:tabLst>
                <a:tab pos="106680" algn="l"/>
              </a:tabLst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Reabsorbed by arachnoid villi into venous system.</a:t>
            </a:r>
            <a:endParaRPr lang="en-US" sz="1200" dirty="0"/>
          </a:p>
          <a:p>
            <a:pPr algn="l" marL="106680" indent="-106680">
              <a:buSzPct val="100000"/>
              <a:buChar char="•"/>
              <a:tabLst>
                <a:tab pos="106680" algn="l"/>
              </a:tabLst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Disruption → hydrocephalus, ↑ ICP.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0058400" y="0"/>
            <a:ext cx="8229600" cy="10287000"/>
          </a:xfrm>
          <a:prstGeom prst="rect">
            <a:avLst/>
          </a:prstGeom>
          <a:solidFill>
            <a:srgbClr val="EBEBE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058400" y="0"/>
            <a:ext cx="8229600" cy="10287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4944725" y="9582150"/>
            <a:ext cx="3038475" cy="400050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15097125" y="9677400"/>
            <a:ext cx="282482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D3D3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// ventricular system diagram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Lobes of the cerebral cortex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52500" y="2181225"/>
            <a:ext cx="16383000" cy="373335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957263" y="2185988"/>
            <a:ext cx="3602087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76338" y="2347913"/>
            <a:ext cx="32720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Lobe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4559350" y="2185988"/>
            <a:ext cx="12771388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78425" y="2347913"/>
            <a:ext cx="1271638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957263" y="2795588"/>
            <a:ext cx="3602087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6338" y="2938463"/>
            <a:ext cx="327200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Frontal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4559350" y="2795588"/>
            <a:ext cx="12771388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8425" y="2938463"/>
            <a:ext cx="1271638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Voluntary motor, executive function, judgment, Broca's area (speech production)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57263" y="3418433"/>
            <a:ext cx="3602087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6338" y="3561308"/>
            <a:ext cx="327200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Parietal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4559350" y="3418433"/>
            <a:ext cx="12771388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78425" y="3561308"/>
            <a:ext cx="1271638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Somatosensory processing, spatial awareness, sensory integration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57263" y="4041279"/>
            <a:ext cx="3602087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76338" y="4184154"/>
            <a:ext cx="327200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4559350" y="4041279"/>
            <a:ext cx="12771388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78425" y="4184154"/>
            <a:ext cx="1271638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Auditory processing, memory, Wernicke's area (speech comprehension)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957263" y="4664125"/>
            <a:ext cx="3602087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76338" y="4807000"/>
            <a:ext cx="327200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Occipital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4559350" y="4664125"/>
            <a:ext cx="12771388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78425" y="4807000"/>
            <a:ext cx="1271638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cortex — processes all visual input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957263" y="5286970"/>
            <a:ext cx="3602087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76338" y="5429845"/>
            <a:ext cx="327200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Limbic system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4559350" y="5286970"/>
            <a:ext cx="12771388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78425" y="5429845"/>
            <a:ext cx="1271638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Emotions, memory, motivation — hippocampus &amp; amygdala</a:t>
            </a:r>
            <a:endParaRPr lang="en-US" sz="1950" dirty="0"/>
          </a:p>
        </p:txBody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4</a:t>
            </a:r>
            <a:endParaRPr lang="en-US" sz="1650" dirty="0"/>
          </a:p>
        </p:txBody>
      </p:sp>
      <p:sp>
        <p:nvSpPr>
          <p:cNvPr id="30" name="Text 27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38</a:t>
            </a:r>
            <a:endParaRPr lang="en-US" sz="1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Cranial nerves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706755" y="2085975"/>
            <a:ext cx="1687449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Mnemonic — "On Old Olympus Towering Top, A Finn And German Viewed Some Hops"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52500" y="2581275"/>
            <a:ext cx="16383000" cy="567228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957263" y="2586038"/>
            <a:ext cx="1309836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76338" y="2747963"/>
            <a:ext cx="94788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2267099" y="2586038"/>
            <a:ext cx="3602087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86174" y="2747963"/>
            <a:ext cx="32720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Nerve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5869186" y="2586038"/>
            <a:ext cx="11461552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88261" y="2747963"/>
            <a:ext cx="1136724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 / clinical pearl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57263" y="3195638"/>
            <a:ext cx="1309836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76338" y="3338513"/>
            <a:ext cx="947886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2267099" y="3195638"/>
            <a:ext cx="3602087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86174" y="3338513"/>
            <a:ext cx="327200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Olfactory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5869186" y="3195638"/>
            <a:ext cx="11461552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88261" y="3338513"/>
            <a:ext cx="11367248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Smell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957263" y="3818483"/>
            <a:ext cx="1309836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76338" y="3961358"/>
            <a:ext cx="947886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2267099" y="3818483"/>
            <a:ext cx="3602087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86174" y="3961358"/>
            <a:ext cx="327200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Optic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5869186" y="3818483"/>
            <a:ext cx="11461552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88261" y="3961358"/>
            <a:ext cx="11367248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957263" y="4441329"/>
            <a:ext cx="1309836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76338" y="4584204"/>
            <a:ext cx="947886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III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2267099" y="4441329"/>
            <a:ext cx="3602087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86174" y="4584204"/>
            <a:ext cx="327200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Oculomotor</a:t>
            </a:r>
            <a:endParaRPr lang="en-US" sz="1950" dirty="0"/>
          </a:p>
        </p:txBody>
      </p:sp>
      <p:sp>
        <p:nvSpPr>
          <p:cNvPr id="27" name="Shape 25"/>
          <p:cNvSpPr/>
          <p:nvPr/>
        </p:nvSpPr>
        <p:spPr>
          <a:xfrm>
            <a:off x="5869186" y="4441329"/>
            <a:ext cx="11461552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88261" y="4584204"/>
            <a:ext cx="11367248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Eye/pupil — damage → fixed dilated pupil (uncal herniation)</a:t>
            </a:r>
            <a:endParaRPr lang="en-US" sz="1950" dirty="0"/>
          </a:p>
        </p:txBody>
      </p:sp>
      <p:sp>
        <p:nvSpPr>
          <p:cNvPr id="29" name="Shape 27"/>
          <p:cNvSpPr/>
          <p:nvPr/>
        </p:nvSpPr>
        <p:spPr>
          <a:xfrm>
            <a:off x="957263" y="5064175"/>
            <a:ext cx="1309836" cy="96946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76338" y="5207050"/>
            <a:ext cx="947886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IV–VI</a:t>
            </a:r>
            <a:endParaRPr lang="en-US" sz="1950" dirty="0"/>
          </a:p>
        </p:txBody>
      </p:sp>
      <p:sp>
        <p:nvSpPr>
          <p:cNvPr id="31" name="Shape 29"/>
          <p:cNvSpPr/>
          <p:nvPr/>
        </p:nvSpPr>
        <p:spPr>
          <a:xfrm>
            <a:off x="2267099" y="5064175"/>
            <a:ext cx="3602087" cy="96946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486174" y="5207050"/>
            <a:ext cx="3272000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Trochlear, Trigeminal, Abducens</a:t>
            </a:r>
            <a:endParaRPr lang="en-US" sz="1950" dirty="0"/>
          </a:p>
        </p:txBody>
      </p:sp>
      <p:sp>
        <p:nvSpPr>
          <p:cNvPr id="33" name="Shape 31"/>
          <p:cNvSpPr/>
          <p:nvPr/>
        </p:nvSpPr>
        <p:spPr>
          <a:xfrm>
            <a:off x="5869186" y="5064175"/>
            <a:ext cx="11461552" cy="96946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88261" y="5207050"/>
            <a:ext cx="11367248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Eye movement; face sensation/chewing; lateral eye</a:t>
            </a:r>
            <a:endParaRPr lang="en-US" sz="1950" dirty="0"/>
          </a:p>
        </p:txBody>
      </p:sp>
      <p:sp>
        <p:nvSpPr>
          <p:cNvPr id="35" name="Shape 33"/>
          <p:cNvSpPr/>
          <p:nvPr/>
        </p:nvSpPr>
        <p:spPr>
          <a:xfrm>
            <a:off x="957263" y="6033641"/>
            <a:ext cx="1309836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176338" y="6176516"/>
            <a:ext cx="947886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VII</a:t>
            </a:r>
            <a:endParaRPr lang="en-US" sz="1950" dirty="0"/>
          </a:p>
        </p:txBody>
      </p:sp>
      <p:sp>
        <p:nvSpPr>
          <p:cNvPr id="37" name="Shape 35"/>
          <p:cNvSpPr/>
          <p:nvPr/>
        </p:nvSpPr>
        <p:spPr>
          <a:xfrm>
            <a:off x="2267099" y="6033641"/>
            <a:ext cx="3602087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486174" y="6176516"/>
            <a:ext cx="327200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Facial</a:t>
            </a:r>
            <a:endParaRPr lang="en-US" sz="1950" dirty="0"/>
          </a:p>
        </p:txBody>
      </p:sp>
      <p:sp>
        <p:nvSpPr>
          <p:cNvPr id="39" name="Shape 37"/>
          <p:cNvSpPr/>
          <p:nvPr/>
        </p:nvSpPr>
        <p:spPr>
          <a:xfrm>
            <a:off x="5869186" y="6033641"/>
            <a:ext cx="11461552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88261" y="6176516"/>
            <a:ext cx="11367248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Expression, taste — damage → facial droop (Bell's palsy or stroke)</a:t>
            </a:r>
            <a:endParaRPr lang="en-US" sz="1950" dirty="0"/>
          </a:p>
        </p:txBody>
      </p:sp>
      <p:sp>
        <p:nvSpPr>
          <p:cNvPr id="41" name="Shape 39"/>
          <p:cNvSpPr/>
          <p:nvPr/>
        </p:nvSpPr>
        <p:spPr>
          <a:xfrm>
            <a:off x="957263" y="6656487"/>
            <a:ext cx="1309836" cy="96946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176338" y="6799362"/>
            <a:ext cx="947886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VIII–X</a:t>
            </a:r>
            <a:endParaRPr lang="en-US" sz="1950" dirty="0"/>
          </a:p>
        </p:txBody>
      </p:sp>
      <p:sp>
        <p:nvSpPr>
          <p:cNvPr id="43" name="Shape 41"/>
          <p:cNvSpPr/>
          <p:nvPr/>
        </p:nvSpPr>
        <p:spPr>
          <a:xfrm>
            <a:off x="2267099" y="6656487"/>
            <a:ext cx="3602087" cy="96946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486174" y="6799362"/>
            <a:ext cx="3272000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Vestibulocochlear, Glossopharyngeal, Vagus</a:t>
            </a:r>
            <a:endParaRPr lang="en-US" sz="1950" dirty="0"/>
          </a:p>
        </p:txBody>
      </p:sp>
      <p:sp>
        <p:nvSpPr>
          <p:cNvPr id="45" name="Shape 43"/>
          <p:cNvSpPr/>
          <p:nvPr/>
        </p:nvSpPr>
        <p:spPr>
          <a:xfrm>
            <a:off x="5869186" y="6656487"/>
            <a:ext cx="11461552" cy="96946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088261" y="6799362"/>
            <a:ext cx="11367248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Hearing/balance; swallow/gag; parasympathetic, voice</a:t>
            </a:r>
            <a:endParaRPr lang="en-US" sz="1950" dirty="0"/>
          </a:p>
        </p:txBody>
      </p:sp>
      <p:sp>
        <p:nvSpPr>
          <p:cNvPr id="47" name="Shape 45"/>
          <p:cNvSpPr/>
          <p:nvPr/>
        </p:nvSpPr>
        <p:spPr>
          <a:xfrm>
            <a:off x="957263" y="7625953"/>
            <a:ext cx="1309836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176338" y="7768828"/>
            <a:ext cx="947886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XI–XII</a:t>
            </a:r>
            <a:endParaRPr lang="en-US" sz="1950" dirty="0"/>
          </a:p>
        </p:txBody>
      </p:sp>
      <p:sp>
        <p:nvSpPr>
          <p:cNvPr id="49" name="Shape 47"/>
          <p:cNvSpPr/>
          <p:nvPr/>
        </p:nvSpPr>
        <p:spPr>
          <a:xfrm>
            <a:off x="2267099" y="7625953"/>
            <a:ext cx="3602087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486174" y="7768828"/>
            <a:ext cx="327200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Accessory, Hypoglossal</a:t>
            </a:r>
            <a:endParaRPr lang="en-US" sz="1950" dirty="0"/>
          </a:p>
        </p:txBody>
      </p:sp>
      <p:sp>
        <p:nvSpPr>
          <p:cNvPr id="51" name="Shape 49"/>
          <p:cNvSpPr/>
          <p:nvPr/>
        </p:nvSpPr>
        <p:spPr>
          <a:xfrm>
            <a:off x="5869186" y="7625953"/>
            <a:ext cx="11461552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088261" y="7768828"/>
            <a:ext cx="11367248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Shoulder/neck; tongue movement</a:t>
            </a:r>
            <a:endParaRPr lang="en-US" sz="1950" dirty="0"/>
          </a:p>
        </p:txBody>
      </p:sp>
      <p:pic>
        <p:nvPicPr>
          <p:cNvPr id="5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54" name="Text 51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4</a:t>
            </a:r>
            <a:endParaRPr lang="en-US" sz="1650" dirty="0"/>
          </a:p>
        </p:txBody>
      </p:sp>
      <p:sp>
        <p:nvSpPr>
          <p:cNvPr id="55" name="Text 52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38</a:t>
            </a:r>
            <a:endParaRPr lang="en-US" sz="16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3" name="Shape 1"/>
          <p:cNvSpPr/>
          <p:nvPr/>
        </p:nvSpPr>
        <p:spPr>
          <a:xfrm>
            <a:off x="952500" y="876300"/>
            <a:ext cx="3173611" cy="4381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1162050" y="971550"/>
            <a:ext cx="284971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CHECK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4316611" y="857250"/>
            <a:ext cx="3118132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 of 4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952500" y="1600200"/>
            <a:ext cx="15697200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patient with a demyelinating disorder develops delayed voluntary movement. Which pathophysiologic change accounts for this finding?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52500" y="2796480"/>
            <a:ext cx="8096250" cy="895350"/>
          </a:xfrm>
          <a:prstGeom prst="rect">
            <a:avLst/>
          </a:prstGeom>
          <a:solidFill>
            <a:srgbClr val="F1F8EE"/>
          </a:solidFill>
          <a:ln w="9525">
            <a:solidFill>
              <a:srgbClr val="4295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09675" y="3015555"/>
            <a:ext cx="457200" cy="457200"/>
          </a:xfrm>
          <a:prstGeom prst="rect">
            <a:avLst/>
          </a:prstGeom>
          <a:solidFill>
            <a:srgbClr val="42955F"/>
          </a:solidFill>
          <a:ln/>
        </p:spPr>
      </p:sp>
      <p:sp>
        <p:nvSpPr>
          <p:cNvPr id="9" name="Text 7"/>
          <p:cNvSpPr/>
          <p:nvPr/>
        </p:nvSpPr>
        <p:spPr>
          <a:xfrm>
            <a:off x="1171575" y="301555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914525" y="3015555"/>
            <a:ext cx="7083362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Slower impulse conduction from loss of saltatory conduction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239250" y="2796480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96425" y="301555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3" name="Text 11"/>
          <p:cNvSpPr/>
          <p:nvPr/>
        </p:nvSpPr>
        <p:spPr>
          <a:xfrm>
            <a:off x="9458325" y="301555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201275" y="3015555"/>
            <a:ext cx="7083362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Slower impulse conduction from less synaptic release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52500" y="3882330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09675" y="410140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7" name="Text 15"/>
          <p:cNvSpPr/>
          <p:nvPr/>
        </p:nvSpPr>
        <p:spPr>
          <a:xfrm>
            <a:off x="1171575" y="410140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914525" y="4101405"/>
            <a:ext cx="7083362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Slower impulse conduction from poor membrane exchange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9239250" y="3882330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96425" y="410140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21" name="Text 19"/>
          <p:cNvSpPr/>
          <p:nvPr/>
        </p:nvSpPr>
        <p:spPr>
          <a:xfrm>
            <a:off x="9458325" y="410140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0201275" y="4101405"/>
            <a:ext cx="7083362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Slower impulse conduction from reduced neural blood flow</a:t>
            </a:r>
            <a:endParaRPr lang="en-US" sz="195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4</a:t>
            </a:r>
            <a:endParaRPr lang="en-US" sz="1650" dirty="0"/>
          </a:p>
        </p:txBody>
      </p:sp>
      <p:sp>
        <p:nvSpPr>
          <p:cNvPr id="25" name="Text 22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38</a:t>
            </a:r>
            <a:endParaRPr lang="en-US" sz="16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· PAIN &amp; SENSATION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687449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objective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952500" y="3609975"/>
            <a:ext cx="16383000" cy="9525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5" name="Shape 3"/>
          <p:cNvSpPr/>
          <p:nvPr/>
        </p:nvSpPr>
        <p:spPr>
          <a:xfrm>
            <a:off x="952500" y="2733675"/>
            <a:ext cx="723900" cy="7239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73367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2133600" y="2867025"/>
            <a:ext cx="1565795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pain, temperature, sleep, and sensory function.</a:t>
            </a:r>
            <a:endParaRPr lang="en-US" sz="22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4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38</a:t>
            </a:r>
            <a:endParaRPr lang="en-US" sz="16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 pathways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52500" y="2181225"/>
            <a:ext cx="3352800" cy="2137321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4" name="Shape 2"/>
          <p:cNvSpPr/>
          <p:nvPr/>
        </p:nvSpPr>
        <p:spPr>
          <a:xfrm>
            <a:off x="952500" y="2181225"/>
            <a:ext cx="3352800" cy="5715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5" name="Text 3"/>
          <p:cNvSpPr/>
          <p:nvPr/>
        </p:nvSpPr>
        <p:spPr>
          <a:xfrm>
            <a:off x="1200150" y="2466975"/>
            <a:ext cx="294322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200150" y="2790825"/>
            <a:ext cx="294322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Nociceptors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200150" y="3209925"/>
            <a:ext cx="2943225" cy="91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Specialized receptors detect tissue damage / noxious stimuli.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4533900" y="2181225"/>
            <a:ext cx="609600" cy="21754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4200" dirty="0"/>
          </a:p>
        </p:txBody>
      </p:sp>
      <p:sp>
        <p:nvSpPr>
          <p:cNvPr id="9" name="Shape 7"/>
          <p:cNvSpPr/>
          <p:nvPr/>
        </p:nvSpPr>
        <p:spPr>
          <a:xfrm>
            <a:off x="5295900" y="2181225"/>
            <a:ext cx="3352800" cy="2137321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10" name="Shape 8"/>
          <p:cNvSpPr/>
          <p:nvPr/>
        </p:nvSpPr>
        <p:spPr>
          <a:xfrm>
            <a:off x="5295900" y="2181225"/>
            <a:ext cx="3352800" cy="5715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1" name="Text 9"/>
          <p:cNvSpPr/>
          <p:nvPr/>
        </p:nvSpPr>
        <p:spPr>
          <a:xfrm>
            <a:off x="5543550" y="2466975"/>
            <a:ext cx="294322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5543550" y="2790825"/>
            <a:ext cx="294322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Spinal cord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5543550" y="3209925"/>
            <a:ext cx="2943225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Sensory neurons carry signal to dorsal horn.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8877300" y="2181225"/>
            <a:ext cx="609600" cy="21754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4200" dirty="0"/>
          </a:p>
        </p:txBody>
      </p:sp>
      <p:sp>
        <p:nvSpPr>
          <p:cNvPr id="15" name="Shape 13"/>
          <p:cNvSpPr/>
          <p:nvPr/>
        </p:nvSpPr>
        <p:spPr>
          <a:xfrm>
            <a:off x="9639300" y="2181225"/>
            <a:ext cx="3352800" cy="2137321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16" name="Shape 14"/>
          <p:cNvSpPr/>
          <p:nvPr/>
        </p:nvSpPr>
        <p:spPr>
          <a:xfrm>
            <a:off x="9639300" y="2181225"/>
            <a:ext cx="3352800" cy="5715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7" name="Text 15"/>
          <p:cNvSpPr/>
          <p:nvPr/>
        </p:nvSpPr>
        <p:spPr>
          <a:xfrm>
            <a:off x="9886950" y="2466975"/>
            <a:ext cx="294322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9886950" y="2790825"/>
            <a:ext cx="294322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Thalamus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9886950" y="3209925"/>
            <a:ext cx="2943225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Ascending tract relays to cortex.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3220700" y="2181225"/>
            <a:ext cx="609600" cy="21754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4200" dirty="0"/>
          </a:p>
        </p:txBody>
      </p:sp>
      <p:sp>
        <p:nvSpPr>
          <p:cNvPr id="21" name="Shape 19"/>
          <p:cNvSpPr/>
          <p:nvPr/>
        </p:nvSpPr>
        <p:spPr>
          <a:xfrm>
            <a:off x="13982700" y="2181225"/>
            <a:ext cx="3352800" cy="2137321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22" name="Shape 20"/>
          <p:cNvSpPr/>
          <p:nvPr/>
        </p:nvSpPr>
        <p:spPr>
          <a:xfrm>
            <a:off x="13982700" y="2181225"/>
            <a:ext cx="3352800" cy="5715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23" name="Text 21"/>
          <p:cNvSpPr/>
          <p:nvPr/>
        </p:nvSpPr>
        <p:spPr>
          <a:xfrm>
            <a:off x="14230350" y="2466975"/>
            <a:ext cx="294322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14230350" y="2790825"/>
            <a:ext cx="294322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Perception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14230350" y="3209925"/>
            <a:ext cx="2943225" cy="91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Somatosensory cortex; descending modulation (gate control).</a:t>
            </a:r>
            <a:endParaRPr lang="en-US" sz="1650" dirty="0"/>
          </a:p>
        </p:txBody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4547146"/>
            <a:ext cx="209550" cy="26670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276350" y="4556671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4</a:t>
            </a:r>
            <a:endParaRPr lang="en-US" sz="1650" dirty="0"/>
          </a:p>
        </p:txBody>
      </p:sp>
      <p:sp>
        <p:nvSpPr>
          <p:cNvPr id="28" name="Text 25"/>
          <p:cNvSpPr/>
          <p:nvPr/>
        </p:nvSpPr>
        <p:spPr>
          <a:xfrm>
            <a:off x="16635859" y="4556671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38</a:t>
            </a:r>
            <a:endParaRPr lang="en-US" sz="16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 TYPE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6874490" cy="1122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Nociceptive pain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295400" y="2836515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Arises from actual or potential </a:t>
            </a:r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tissue damage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somatic or visceral.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295400" y="3499396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Somatic: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well-localized, sharp, aching — skin, muscle, bone.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95400" y="4162276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Visceral: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poorly localized, cramping, often referred — internal organs.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295400" y="4825157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Referred: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cardiac ischemia → left arm/jaw; liver pain → right shoulder.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295400" y="5488037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Treatment: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NSAIDs, opioids, acetaminophen — COX pathway and opioid receptors.</a:t>
            </a:r>
            <a:endParaRPr lang="en-US" sz="25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4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38</a:t>
            </a:r>
            <a:endParaRPr lang="en-US" sz="16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 TYPE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6874490" cy="1122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Neuropathic pain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295400" y="2836515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Arises from damage or dysfunction of the </a:t>
            </a:r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nervous system itself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not tissue injury.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295400" y="3499396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burning, shooting, electric-shock; allodynia and hyperalgesia.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95400" y="4162276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Causes: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diabetic neuropathy, postherpetic neuralgia, phantom limb, MS, SCI.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295400" y="4825157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ectopic discharge, central sensitization, loss of inhibitory interneurons.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295400" y="5488037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Treatment: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gabapentin, TCAs, SNRIs — often resistant to standard analgesics.</a:t>
            </a:r>
            <a:endParaRPr lang="en-US" sz="25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4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38</a:t>
            </a:r>
            <a:endParaRPr lang="en-US" sz="16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Sensory pathways and tracts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52500" y="2181225"/>
            <a:ext cx="16383000" cy="248766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957263" y="2185988"/>
            <a:ext cx="4911923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76338" y="2347913"/>
            <a:ext cx="462113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5869186" y="2185988"/>
            <a:ext cx="5908030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88261" y="2347913"/>
            <a:ext cx="564712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Carries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11777216" y="2185988"/>
            <a:ext cx="5553521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996291" y="2347913"/>
            <a:ext cx="528197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Crosses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957263" y="2795588"/>
            <a:ext cx="4911923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6338" y="2938463"/>
            <a:ext cx="4621131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Spinothalamic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5869186" y="2795588"/>
            <a:ext cx="5908030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88261" y="2938463"/>
            <a:ext cx="5647121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 and temperature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11777216" y="2795588"/>
            <a:ext cx="5553521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996291" y="2938463"/>
            <a:ext cx="5281977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spinal cord level (contralateral)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57263" y="3418433"/>
            <a:ext cx="4911923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76338" y="3561308"/>
            <a:ext cx="4621131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Dorsal column / medial lemniscus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5869186" y="3418433"/>
            <a:ext cx="5908030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88261" y="3561308"/>
            <a:ext cx="5647121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 touch, vibration, proprioception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11777216" y="3418433"/>
            <a:ext cx="5553521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996291" y="3561308"/>
            <a:ext cx="5281977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medulla (ipsilateral until then)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957263" y="4041279"/>
            <a:ext cx="4911923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76338" y="4184154"/>
            <a:ext cx="4621131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Spinocerebellar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5869186" y="4041279"/>
            <a:ext cx="5908030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88261" y="4184154"/>
            <a:ext cx="5647121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Unconscious proprioception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11777216" y="4041279"/>
            <a:ext cx="5553521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996291" y="4184154"/>
            <a:ext cx="5281977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cerebellum — coordination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952500" y="4954637"/>
            <a:ext cx="1687449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Clinical: </a:t>
            </a:r>
            <a:pPr algn="l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Brown-Séquard syndrome — ipsilateral motor/proprioception loss + contralateral pain/temp loss below the lesion.</a:t>
            </a:r>
            <a:endParaRPr lang="en-US" sz="1800" dirty="0"/>
          </a:p>
        </p:txBody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4</a:t>
            </a:r>
            <a:endParaRPr lang="en-US" sz="1650" dirty="0"/>
          </a:p>
        </p:txBody>
      </p:sp>
      <p:sp>
        <p:nvSpPr>
          <p:cNvPr id="31" name="Text 28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38</a:t>
            </a:r>
            <a:endParaRPr lang="en-US" sz="16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AROUSAL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6874490" cy="1122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Reticular Activating System (RAS)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295400" y="2836515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arousal, wakefulness, attention; relays sensory signals to cortex.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295400" y="3499396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brainstem (pons, midbrain) → projects to thalamus and cortex.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95400" y="4162276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 high during wakefulness; decreases during sleep.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295400" y="4825157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 injury → coma; anesthetics suppress RAS; stimulants activate it.</a:t>
            </a:r>
            <a:endParaRPr lang="en-US" sz="25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4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/ 38</a:t>
            </a:r>
            <a:endParaRPr lang="en-US" sz="16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Sleep, circadian rhythm &amp; temperature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52500" y="2181225"/>
            <a:ext cx="7886700" cy="7248525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4" name="Shape 2"/>
          <p:cNvSpPr/>
          <p:nvPr/>
        </p:nvSpPr>
        <p:spPr>
          <a:xfrm>
            <a:off x="952500" y="2181225"/>
            <a:ext cx="7886700" cy="5715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2581275"/>
            <a:ext cx="7338441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Sleep &amp; circadian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160145" y="3181350"/>
            <a:ext cx="7374255" cy="21712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Hypothalamus — suprachiasmatic nucleus drives circadian rhythm</a:t>
            </a:r>
            <a:endParaRPr lang="en-US" sz="1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NREM (N1, N2, N3) — N3 is restorative slow-wave sleep</a:t>
            </a:r>
            <a:endParaRPr lang="en-US" sz="1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 — dreaming, memory consolidation</a:t>
            </a:r>
            <a:endParaRPr lang="en-US" sz="1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 injury disrupts sleep–wake cycles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9448800" y="2181225"/>
            <a:ext cx="7886700" cy="7248525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8" name="Shape 6"/>
          <p:cNvSpPr/>
          <p:nvPr/>
        </p:nvSpPr>
        <p:spPr>
          <a:xfrm>
            <a:off x="9448800" y="2181225"/>
            <a:ext cx="7886700" cy="571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9" name="Text 7"/>
          <p:cNvSpPr/>
          <p:nvPr/>
        </p:nvSpPr>
        <p:spPr>
          <a:xfrm>
            <a:off x="9829800" y="2581275"/>
            <a:ext cx="7338441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 regulation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9656445" y="3181350"/>
            <a:ext cx="7374255" cy="16912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Hypothalamus = body's thermostat</a:t>
            </a:r>
            <a:endParaRPr lang="en-US" sz="1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Fever — pyrogens reset the set point upward</a:t>
            </a:r>
            <a:endParaRPr lang="en-US" sz="1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Hypothalamic damage → poikilothermia (cannot regulate temperature)</a:t>
            </a:r>
            <a:endParaRPr lang="en-US" sz="195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4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/ 38</a:t>
            </a:r>
            <a:endParaRPr lang="en-US" sz="16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3" name="Shape 1"/>
          <p:cNvSpPr/>
          <p:nvPr/>
        </p:nvSpPr>
        <p:spPr>
          <a:xfrm>
            <a:off x="952500" y="876300"/>
            <a:ext cx="3173611" cy="4381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1162050" y="971550"/>
            <a:ext cx="284971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CHECK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4316611" y="857250"/>
            <a:ext cx="3118132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 of 4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952500" y="1600200"/>
            <a:ext cx="15697200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patient describes burning, shooting pain that began months after a nerve injury, without any new tissue damage. Which type of pain best describes this presentation?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52500" y="2796480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09675" y="301555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9" name="Text 7"/>
          <p:cNvSpPr/>
          <p:nvPr/>
        </p:nvSpPr>
        <p:spPr>
          <a:xfrm>
            <a:off x="1171575" y="301555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914525" y="3015555"/>
            <a:ext cx="7083362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Nociceptive pain from activated pain receptors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239250" y="2796480"/>
            <a:ext cx="8096250" cy="895350"/>
          </a:xfrm>
          <a:prstGeom prst="rect">
            <a:avLst/>
          </a:prstGeom>
          <a:solidFill>
            <a:srgbClr val="F1F8EE"/>
          </a:solidFill>
          <a:ln w="9525">
            <a:solidFill>
              <a:srgbClr val="4295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96425" y="3015555"/>
            <a:ext cx="457200" cy="457200"/>
          </a:xfrm>
          <a:prstGeom prst="rect">
            <a:avLst/>
          </a:prstGeom>
          <a:solidFill>
            <a:srgbClr val="42955F"/>
          </a:solidFill>
          <a:ln/>
        </p:spPr>
      </p:sp>
      <p:sp>
        <p:nvSpPr>
          <p:cNvPr id="13" name="Text 11"/>
          <p:cNvSpPr/>
          <p:nvPr/>
        </p:nvSpPr>
        <p:spPr>
          <a:xfrm>
            <a:off x="9458325" y="301555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201275" y="3015555"/>
            <a:ext cx="7083362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Neuropathic pain from abnormal nerve signaling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52500" y="3882330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09675" y="410140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7" name="Text 15"/>
          <p:cNvSpPr/>
          <p:nvPr/>
        </p:nvSpPr>
        <p:spPr>
          <a:xfrm>
            <a:off x="1171575" y="410140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914525" y="4101405"/>
            <a:ext cx="7083362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Referred pain felt at a distance from the source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9239250" y="3882330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96425" y="410140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21" name="Text 19"/>
          <p:cNvSpPr/>
          <p:nvPr/>
        </p:nvSpPr>
        <p:spPr>
          <a:xfrm>
            <a:off x="9458325" y="410140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0201275" y="4101405"/>
            <a:ext cx="7083362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Acute inflammatory pain from recent tissue injury</a:t>
            </a:r>
            <a:endParaRPr lang="en-US" sz="195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4</a:t>
            </a:r>
            <a:endParaRPr lang="en-US" sz="1650" dirty="0"/>
          </a:p>
        </p:txBody>
      </p:sp>
      <p:sp>
        <p:nvSpPr>
          <p:cNvPr id="25" name="Text 22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/ 38</a:t>
            </a:r>
            <a:endParaRPr lang="en-US" sz="16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3" name="Shape 1"/>
          <p:cNvSpPr/>
          <p:nvPr/>
        </p:nvSpPr>
        <p:spPr>
          <a:xfrm>
            <a:off x="952500" y="876300"/>
            <a:ext cx="3173611" cy="4381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1162050" y="971550"/>
            <a:ext cx="284971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CHECK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4316611" y="857250"/>
            <a:ext cx="3118132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3 of 4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952500" y="1600200"/>
            <a:ext cx="156972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patient becomes difficult to arouse after brainstem injury. Which system is most likely affected?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52500" y="2369790"/>
            <a:ext cx="8096250" cy="895350"/>
          </a:xfrm>
          <a:prstGeom prst="rect">
            <a:avLst/>
          </a:prstGeom>
          <a:solidFill>
            <a:srgbClr val="F1F8EE"/>
          </a:solidFill>
          <a:ln w="9525">
            <a:solidFill>
              <a:srgbClr val="4295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09675" y="2588865"/>
            <a:ext cx="457200" cy="457200"/>
          </a:xfrm>
          <a:prstGeom prst="rect">
            <a:avLst/>
          </a:prstGeom>
          <a:solidFill>
            <a:srgbClr val="42955F"/>
          </a:solidFill>
          <a:ln/>
        </p:spPr>
      </p:sp>
      <p:sp>
        <p:nvSpPr>
          <p:cNvPr id="9" name="Text 7"/>
          <p:cNvSpPr/>
          <p:nvPr/>
        </p:nvSpPr>
        <p:spPr>
          <a:xfrm>
            <a:off x="1171575" y="258886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914525" y="2588865"/>
            <a:ext cx="7083362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Reticular Activating System (RAS)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239250" y="2369790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96425" y="258886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3" name="Text 11"/>
          <p:cNvSpPr/>
          <p:nvPr/>
        </p:nvSpPr>
        <p:spPr>
          <a:xfrm>
            <a:off x="9458325" y="258886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201275" y="2588865"/>
            <a:ext cx="7083362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Limbic System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52500" y="3455640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09675" y="367471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7" name="Text 15"/>
          <p:cNvSpPr/>
          <p:nvPr/>
        </p:nvSpPr>
        <p:spPr>
          <a:xfrm>
            <a:off x="1171575" y="367471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914525" y="3674715"/>
            <a:ext cx="7083362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Basal Ganglia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9239250" y="3455640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96425" y="367471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21" name="Text 19"/>
          <p:cNvSpPr/>
          <p:nvPr/>
        </p:nvSpPr>
        <p:spPr>
          <a:xfrm>
            <a:off x="9458325" y="367471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0201275" y="3674715"/>
            <a:ext cx="7083362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Cerebellum</a:t>
            </a:r>
            <a:endParaRPr lang="en-US" sz="195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4</a:t>
            </a:r>
            <a:endParaRPr lang="en-US" sz="1650" dirty="0"/>
          </a:p>
        </p:txBody>
      </p:sp>
      <p:sp>
        <p:nvSpPr>
          <p:cNvPr id="25" name="Text 22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/ 38</a:t>
            </a:r>
            <a:endParaRPr lang="en-US" sz="16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· COGNITION, HEMODYNAMICS &amp; MOTOR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687449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objective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952500" y="3609975"/>
            <a:ext cx="16383000" cy="9525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5" name="Shape 3"/>
          <p:cNvSpPr/>
          <p:nvPr/>
        </p:nvSpPr>
        <p:spPr>
          <a:xfrm>
            <a:off x="952500" y="2733675"/>
            <a:ext cx="723900" cy="7239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73367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2133600" y="2867025"/>
            <a:ext cx="1565795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 alterations in cognitive systems, cerebral hemodynamics, and motor function.</a:t>
            </a:r>
            <a:endParaRPr lang="en-US" sz="22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4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/ 38</a:t>
            </a:r>
            <a:endParaRPr lang="en-US" sz="16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3530947"/>
            <a:ext cx="8594217" cy="1558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7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Alterations in consciousness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952500" y="5355878"/>
            <a:ext cx="8594217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 prompts: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1226820" y="6089303"/>
            <a:ext cx="814578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06680" indent="-106680">
              <a:buSzPct val="100000"/>
              <a:buChar char="•"/>
              <a:tabLst>
                <a:tab pos="106680" algn="l"/>
              </a:tabLst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Glasgow Coma Scale and how is it used?</a:t>
            </a:r>
            <a:endParaRPr lang="en-US" sz="1200" dirty="0"/>
          </a:p>
          <a:p>
            <a:pPr algn="l" marL="106680" indent="-106680">
              <a:buSzPct val="100000"/>
              <a:buChar char="•"/>
              <a:tabLst>
                <a:tab pos="106680" algn="l"/>
              </a:tabLst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does increased intracranial pressure alter consciousness?</a:t>
            </a:r>
            <a:endParaRPr lang="en-US" sz="1200" dirty="0"/>
          </a:p>
          <a:p>
            <a:pPr algn="l" marL="106680" indent="-106680">
              <a:buSzPct val="100000"/>
              <a:buChar char="•"/>
              <a:tabLst>
                <a:tab pos="106680" algn="l"/>
              </a:tabLst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causes altered levels of consciousness?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058400" y="0"/>
            <a:ext cx="8229600" cy="10287000"/>
          </a:xfrm>
          <a:prstGeom prst="rect">
            <a:avLst/>
          </a:prstGeom>
          <a:solidFill>
            <a:srgbClr val="EBEBE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058400" y="0"/>
            <a:ext cx="8229600" cy="10287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6170176" y="9582150"/>
            <a:ext cx="1813024" cy="400050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16322576" y="9677400"/>
            <a:ext cx="158442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D3D3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// GCS reference</a:t>
            </a:r>
            <a:endParaRPr lang="en-US" sz="13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HEMODYNAMICS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6874490" cy="1122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Cerebral hemodynamics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295400" y="2836515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CBF: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50–60 mL/100g/min; ischemia &lt; 20; coma &lt; 10.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295400" y="3499396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Autoregulation: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constant CBF across MAP 50–150 mmHg; lost in severe injury.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95400" y="4162276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CPP = MAP − ICP;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&gt; 60 mmHg.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295400" y="4825157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CO₂: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hypercapnia → vasodilation, ↑ CBF; hyperventilation temporarily ↓ ICP.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295400" y="5488037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Brain uses ~20% of body O₂; CMRO₂ couples to CBF; fever ↑ demand.</a:t>
            </a:r>
            <a:endParaRPr lang="en-US" sz="25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4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/ 38</a:t>
            </a:r>
            <a:endParaRPr lang="en-US" sz="16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6874490" cy="1122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Increased intracranial pressure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295400" y="2836515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ICP: </a:t>
            </a:r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5–15 mmHg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Causes: hematoma, edema, hydrocephalus, tumor.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295400" y="3499396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Monro–Kellie doctrine: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Brain + blood + CSF = constant volume; ↑ in one must ↓ another.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95400" y="4162276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signs: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headache, vomiting, papilledema, altered consciousness.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295400" y="4825157"/>
            <a:ext cx="14373225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Cushing's triad (late):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bradycardia + hypertension + irregular respirations → impending herniation.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295400" y="5941368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osmotic therapy, HOB 30°, hyperventilation; monitor CPP.</a:t>
            </a:r>
            <a:endParaRPr lang="en-US" sz="25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4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/ 38</a:t>
            </a:r>
            <a:endParaRPr lang="en-US" sz="16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Herniation syndromes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52500" y="2181225"/>
            <a:ext cx="16383000" cy="248766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957263" y="2185988"/>
            <a:ext cx="3602087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76338" y="2347913"/>
            <a:ext cx="32720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4559350" y="2185988"/>
            <a:ext cx="6720036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78425" y="2347913"/>
            <a:ext cx="648348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11279386" y="2185988"/>
            <a:ext cx="6051352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98461" y="2347913"/>
            <a:ext cx="579474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Hallmark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957263" y="2795588"/>
            <a:ext cx="3602087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6338" y="2938463"/>
            <a:ext cx="327200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Uncal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4559350" y="2795588"/>
            <a:ext cx="6720036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78425" y="2938463"/>
            <a:ext cx="6483487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lobe over tentorium; compresses CN III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11279386" y="2795588"/>
            <a:ext cx="6051352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98461" y="2938463"/>
            <a:ext cx="5794742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dilated ipsilateral pupil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57263" y="3418433"/>
            <a:ext cx="3602087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76338" y="3561308"/>
            <a:ext cx="327200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4559350" y="3418433"/>
            <a:ext cx="6720036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78425" y="3561308"/>
            <a:ext cx="6483487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Downward displacement of brainstem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11279386" y="3418433"/>
            <a:ext cx="6051352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498461" y="3561308"/>
            <a:ext cx="5794742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Cushing's triad, ↓ consciousness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957263" y="4041279"/>
            <a:ext cx="3602087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76338" y="4184154"/>
            <a:ext cx="327200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Tonsillar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4559350" y="4041279"/>
            <a:ext cx="6720036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78425" y="4184154"/>
            <a:ext cx="6483487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Cerebellar tonsils through foramen magnum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11279386" y="4041279"/>
            <a:ext cx="6051352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498461" y="4184154"/>
            <a:ext cx="5794742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Medullary compression → respiratory arrest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952500" y="4954637"/>
            <a:ext cx="1687449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finding: </a:t>
            </a:r>
            <a:pPr algn="l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unilateral fixed and dilated pupil is a neurosurgical emergency.</a:t>
            </a:r>
            <a:endParaRPr lang="en-US" sz="1800" dirty="0"/>
          </a:p>
        </p:txBody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4</a:t>
            </a:r>
            <a:endParaRPr lang="en-US" sz="1650" dirty="0"/>
          </a:p>
        </p:txBody>
      </p:sp>
      <p:sp>
        <p:nvSpPr>
          <p:cNvPr id="31" name="Text 28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/ 38</a:t>
            </a:r>
            <a:endParaRPr lang="en-US" sz="16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 function — UMN vs. LMN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52500" y="2181225"/>
            <a:ext cx="7886700" cy="6410325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4" name="Shape 2"/>
          <p:cNvSpPr/>
          <p:nvPr/>
        </p:nvSpPr>
        <p:spPr>
          <a:xfrm>
            <a:off x="952500" y="2181225"/>
            <a:ext cx="7886700" cy="5715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2581275"/>
            <a:ext cx="7338441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Upper motor neuron lesion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160145" y="3181350"/>
            <a:ext cx="7374255" cy="1824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Spasticity</a:t>
            </a:r>
            <a:endParaRPr lang="en-US" sz="1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Hyperreflexia</a:t>
            </a:r>
            <a:endParaRPr lang="en-US" sz="1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Babinski sign</a:t>
            </a:r>
            <a:endParaRPr lang="en-US" sz="1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significant atrophy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9448800" y="2181225"/>
            <a:ext cx="7886700" cy="6410325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8" name="Shape 6"/>
          <p:cNvSpPr/>
          <p:nvPr/>
        </p:nvSpPr>
        <p:spPr>
          <a:xfrm>
            <a:off x="9448800" y="2181225"/>
            <a:ext cx="7886700" cy="571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9" name="Text 7"/>
          <p:cNvSpPr/>
          <p:nvPr/>
        </p:nvSpPr>
        <p:spPr>
          <a:xfrm>
            <a:off x="9829800" y="2581275"/>
            <a:ext cx="7338441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motor neuron lesion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9656445" y="3181350"/>
            <a:ext cx="7374255" cy="1824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Flaccid paralysis</a:t>
            </a:r>
            <a:endParaRPr lang="en-US" sz="1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Muscle atrophy</a:t>
            </a:r>
            <a:endParaRPr lang="en-US" sz="1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Hyporeflexia</a:t>
            </a:r>
            <a:endParaRPr lang="en-US" sz="1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Fasciculations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706755" y="8934450"/>
            <a:ext cx="1687449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SCI: initial flaccid → progresses to spastic below lesion level.</a:t>
            </a:r>
            <a:endParaRPr lang="en-US" sz="18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4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/ 38</a:t>
            </a:r>
            <a:endParaRPr lang="en-US" sz="16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MOVEMENT DISORDER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6874490" cy="1122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Parkinson's disease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295400" y="2836515"/>
            <a:ext cx="14373225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Pathophysiology: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 of dopaminergic neurons in substantia nigra → disrupted motor control; acetylcholine becomes dominant.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295400" y="3952726"/>
            <a:ext cx="14373225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Cardinal signs (TRAP):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Tremor (resting), Rigidity (cogwheel), Akinesia/bradykinesia, Postural instability.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95400" y="5068937"/>
            <a:ext cx="14373225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Treatment: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Levodopa/carbidopa (gold standard); MAO-B inhibitors, dopamine agonists, anticholinergics; DBS for refractory cases.</a:t>
            </a:r>
            <a:endParaRPr lang="en-US" sz="25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4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 / 38</a:t>
            </a:r>
            <a:endParaRPr lang="en-US" sz="16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DEMYELINATING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6874490" cy="1122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sclerosis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295400" y="2836515"/>
            <a:ext cx="14373225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Pathophysiology: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autoimmune destruction of CNS myelin; oligodendrocytes damaged; demyelinated plaques.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295400" y="3952726"/>
            <a:ext cx="14373225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relapsing-remitting most common — episodes of deficit followed by partial/full recovery; over time → progressive disability.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95400" y="5068937"/>
            <a:ext cx="14373225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Symptoms: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optic neuritis, limb weakness, numbness, ataxia, fatigue, bladder dysfunction, cognitive change.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295400" y="6185148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Distinction: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CNS only — Guillain-Barré is the peripheral counterpart.</a:t>
            </a:r>
            <a:endParaRPr lang="en-US" sz="25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4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/ 38</a:t>
            </a:r>
            <a:endParaRPr lang="en-US" sz="16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 NEURON DISEASE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6874490" cy="1122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Amyotrophic lateral sclerosis (ALS)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295400" y="2836515"/>
            <a:ext cx="14373225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Progressive degeneration of </a:t>
            </a:r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upper and lower motor neurons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cortex, brainstem, spinal cord.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295400" y="3952726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Hallmark: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progressive muscle weakness and wasting </a:t>
            </a:r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preserved sensation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95400" y="4615607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fasciculations, atrophy, dysphagia, dysarthria → respiratory failure.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295400" y="5278487"/>
            <a:ext cx="14373225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Prognosis: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cure; median survival 3–5 yrs. Riluzole (glutamate blocker) modestly slows progression.</a:t>
            </a:r>
            <a:endParaRPr lang="en-US" sz="25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4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 / 38</a:t>
            </a:r>
            <a:endParaRPr lang="en-US" sz="16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Stroke pathophysiology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52500" y="2181225"/>
            <a:ext cx="7886700" cy="6467475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4" name="Shape 2"/>
          <p:cNvSpPr/>
          <p:nvPr/>
        </p:nvSpPr>
        <p:spPr>
          <a:xfrm>
            <a:off x="952500" y="2181225"/>
            <a:ext cx="7886700" cy="5715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2581275"/>
            <a:ext cx="7338441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Ischemic (87%)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600200" y="3181350"/>
            <a:ext cx="7071741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CBF → O₂ and glucose deprivation → neuron death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600200" y="3661321"/>
            <a:ext cx="7071741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Causes: thrombosis, embolism, systemic hypoperfusion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600200" y="4141291"/>
            <a:ext cx="7071741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Penumbra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ischemic but salvageable tissue (target of tPA)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9448800" y="2181225"/>
            <a:ext cx="7886700" cy="6467475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10" name="Shape 8"/>
          <p:cNvSpPr/>
          <p:nvPr/>
        </p:nvSpPr>
        <p:spPr>
          <a:xfrm>
            <a:off x="9448800" y="2181225"/>
            <a:ext cx="7886700" cy="571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11" name="Text 9"/>
          <p:cNvSpPr/>
          <p:nvPr/>
        </p:nvSpPr>
        <p:spPr>
          <a:xfrm>
            <a:off x="9829800" y="2581275"/>
            <a:ext cx="7338441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Hemorrhagic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9656445" y="3181350"/>
            <a:ext cx="7374255" cy="8646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Vessel rupture → blood in parenchyma or subarachnoid space</a:t>
            </a:r>
            <a:endParaRPr lang="en-US" sz="1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Causes: hypertension, aneurysm rupture, AVM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706755" y="8934450"/>
            <a:ext cx="1687449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</a:t>
            </a:r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Face drooping · Arm weakness · Speech difficulty · Time to call 911.</a:t>
            </a:r>
            <a:endParaRPr lang="en-US" sz="18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4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 / 38</a:t>
            </a:r>
            <a:endParaRPr lang="en-US" sz="16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Traumatic brain injury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52500" y="2181225"/>
            <a:ext cx="16383000" cy="373335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957263" y="2185988"/>
            <a:ext cx="3929509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76338" y="2347913"/>
            <a:ext cx="360924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Injury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4886771" y="2185988"/>
            <a:ext cx="5801171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05846" y="2347913"/>
            <a:ext cx="553705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10687943" y="2185988"/>
            <a:ext cx="6642795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07018" y="2347913"/>
            <a:ext cx="640392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pearl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957263" y="2795588"/>
            <a:ext cx="3929509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6338" y="2938463"/>
            <a:ext cx="3609244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4886771" y="2795588"/>
            <a:ext cx="5801171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05846" y="2938463"/>
            <a:ext cx="5537057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mechanical damage at impact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10687943" y="2795588"/>
            <a:ext cx="6642795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07018" y="2938463"/>
            <a:ext cx="6403928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Contusion, laceration, diffuse axonal injury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57263" y="3418433"/>
            <a:ext cx="3929509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76338" y="3561308"/>
            <a:ext cx="3609244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4886771" y="3418433"/>
            <a:ext cx="5801171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05846" y="3561308"/>
            <a:ext cx="5537057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Hours to days after impact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10687943" y="3418433"/>
            <a:ext cx="6642795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07018" y="3561308"/>
            <a:ext cx="6403928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Edema, ischemia, excitotoxicity, herniation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957263" y="4041279"/>
            <a:ext cx="3929509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76338" y="4184154"/>
            <a:ext cx="3609244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Epidural hematoma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4886771" y="4041279"/>
            <a:ext cx="5801171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05846" y="4184154"/>
            <a:ext cx="5537057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Arterial — middle meningeal artery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10687943" y="4041279"/>
            <a:ext cx="6642795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907018" y="4184154"/>
            <a:ext cx="6403928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Lucid interval → rapid deterioration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957263" y="4664125"/>
            <a:ext cx="3929509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76338" y="4807000"/>
            <a:ext cx="3609244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Subdural hematoma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4886771" y="4664125"/>
            <a:ext cx="5801171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05846" y="4807000"/>
            <a:ext cx="5537057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Venous bridging-vein tear</a:t>
            </a:r>
            <a:endParaRPr lang="en-US" sz="1950" dirty="0"/>
          </a:p>
        </p:txBody>
      </p:sp>
      <p:sp>
        <p:nvSpPr>
          <p:cNvPr id="32" name="Shape 30"/>
          <p:cNvSpPr/>
          <p:nvPr/>
        </p:nvSpPr>
        <p:spPr>
          <a:xfrm>
            <a:off x="10687943" y="4664125"/>
            <a:ext cx="6642795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907018" y="4807000"/>
            <a:ext cx="6403928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Elderly, alcohol use, anticoagulation</a:t>
            </a:r>
            <a:endParaRPr lang="en-US" sz="1950" dirty="0"/>
          </a:p>
        </p:txBody>
      </p:sp>
      <p:sp>
        <p:nvSpPr>
          <p:cNvPr id="34" name="Shape 32"/>
          <p:cNvSpPr/>
          <p:nvPr/>
        </p:nvSpPr>
        <p:spPr>
          <a:xfrm>
            <a:off x="957263" y="5286970"/>
            <a:ext cx="3929509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76338" y="5429845"/>
            <a:ext cx="3609244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Concussion</a:t>
            </a:r>
            <a:endParaRPr lang="en-US" sz="1950" dirty="0"/>
          </a:p>
        </p:txBody>
      </p:sp>
      <p:sp>
        <p:nvSpPr>
          <p:cNvPr id="36" name="Shape 34"/>
          <p:cNvSpPr/>
          <p:nvPr/>
        </p:nvSpPr>
        <p:spPr>
          <a:xfrm>
            <a:off x="4886771" y="5286970"/>
            <a:ext cx="5801171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05846" y="5429845"/>
            <a:ext cx="5537057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Temporary neurologic dysfunction</a:t>
            </a:r>
            <a:endParaRPr lang="en-US" sz="1950" dirty="0"/>
          </a:p>
        </p:txBody>
      </p:sp>
      <p:sp>
        <p:nvSpPr>
          <p:cNvPr id="38" name="Shape 36"/>
          <p:cNvSpPr/>
          <p:nvPr/>
        </p:nvSpPr>
        <p:spPr>
          <a:xfrm>
            <a:off x="10687943" y="5286970"/>
            <a:ext cx="6642795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907018" y="5429845"/>
            <a:ext cx="6403928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structural damage; resolves with rest</a:t>
            </a:r>
            <a:endParaRPr lang="en-US" sz="1950" dirty="0"/>
          </a:p>
        </p:txBody>
      </p:sp>
      <p:pic>
        <p:nvPicPr>
          <p:cNvPr id="4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41" name="Text 38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4</a:t>
            </a:r>
            <a:endParaRPr lang="en-US" sz="1650" dirty="0"/>
          </a:p>
        </p:txBody>
      </p:sp>
      <p:sp>
        <p:nvSpPr>
          <p:cNvPr id="42" name="Text 39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/ 38</a:t>
            </a:r>
            <a:endParaRPr lang="en-US" sz="16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BEDSIDE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6874490" cy="1122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Neurological assessment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295400" y="2836515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Mental status: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LOC, orientation (person, place, time), GCS.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295400" y="3499396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Cranial nerves: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pairs; key — CN II vision, III pupils, VII facial, IX/X swallow/gag.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95400" y="4162276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 0–5, UMN vs. LMN signs, drift test.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295400" y="4825157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Sensory: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 touch, pain/temp (spinothalamic), proprioception (posterior column).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295400" y="5488037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Reflexes: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DTRs 0–4+; Babinski indicates UMN lesion.</a:t>
            </a:r>
            <a:endParaRPr lang="en-US" sz="25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4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 / 38</a:t>
            </a:r>
            <a:endParaRPr lang="en-US" sz="16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3" name="Shape 1"/>
          <p:cNvSpPr/>
          <p:nvPr/>
        </p:nvSpPr>
        <p:spPr>
          <a:xfrm>
            <a:off x="952500" y="876300"/>
            <a:ext cx="3173611" cy="4381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1162050" y="971550"/>
            <a:ext cx="284971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CHECK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4316611" y="857250"/>
            <a:ext cx="3118132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4 of 4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952500" y="1600200"/>
            <a:ext cx="15697200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patient with Parkinson's disease has slowed movement initiation and reduced voluntary motor control. Which pathophysiologic change accounts for these findings?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52500" y="2796480"/>
            <a:ext cx="8096250" cy="895350"/>
          </a:xfrm>
          <a:prstGeom prst="rect">
            <a:avLst/>
          </a:prstGeom>
          <a:solidFill>
            <a:srgbClr val="F1F8EE"/>
          </a:solidFill>
          <a:ln w="9525">
            <a:solidFill>
              <a:srgbClr val="4295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09675" y="3015555"/>
            <a:ext cx="457200" cy="457200"/>
          </a:xfrm>
          <a:prstGeom prst="rect">
            <a:avLst/>
          </a:prstGeom>
          <a:solidFill>
            <a:srgbClr val="42955F"/>
          </a:solidFill>
          <a:ln/>
        </p:spPr>
      </p:sp>
      <p:sp>
        <p:nvSpPr>
          <p:cNvPr id="9" name="Text 7"/>
          <p:cNvSpPr/>
          <p:nvPr/>
        </p:nvSpPr>
        <p:spPr>
          <a:xfrm>
            <a:off x="1171575" y="301555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914525" y="3015555"/>
            <a:ext cx="7083362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 of dopamine disrupts signaling in motor pathways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239250" y="2796480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96425" y="301555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3" name="Text 11"/>
          <p:cNvSpPr/>
          <p:nvPr/>
        </p:nvSpPr>
        <p:spPr>
          <a:xfrm>
            <a:off x="9458325" y="301555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201275" y="3015555"/>
            <a:ext cx="7083362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 of myelin slows signaling in motor pathways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52500" y="3882330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09675" y="410140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7" name="Text 15"/>
          <p:cNvSpPr/>
          <p:nvPr/>
        </p:nvSpPr>
        <p:spPr>
          <a:xfrm>
            <a:off x="1171575" y="410140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914525" y="4101405"/>
            <a:ext cx="7083362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 of neurons reduces signaling in motor pathways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9239250" y="3882330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96425" y="410140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21" name="Text 19"/>
          <p:cNvSpPr/>
          <p:nvPr/>
        </p:nvSpPr>
        <p:spPr>
          <a:xfrm>
            <a:off x="9458325" y="410140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0201275" y="4101405"/>
            <a:ext cx="7083362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 of coordination disrupts signaling in motor pathways</a:t>
            </a:r>
            <a:endParaRPr lang="en-US" sz="195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4</a:t>
            </a:r>
            <a:endParaRPr lang="en-US" sz="1650" dirty="0"/>
          </a:p>
        </p:txBody>
      </p:sp>
      <p:sp>
        <p:nvSpPr>
          <p:cNvPr id="25" name="Text 22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 / 38</a:t>
            </a:r>
            <a:endParaRPr lang="en-US" sz="16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3" name="Shape 1"/>
          <p:cNvSpPr/>
          <p:nvPr/>
        </p:nvSpPr>
        <p:spPr>
          <a:xfrm>
            <a:off x="952500" y="876300"/>
            <a:ext cx="3173611" cy="4381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1162050" y="971550"/>
            <a:ext cx="284971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CHECK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4316611" y="857250"/>
            <a:ext cx="3118132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5 of 5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952500" y="1600200"/>
            <a:ext cx="15697200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patient with a head injury develops bradycardia, widened pulse pressure, and irregular respirations. What do these findings strongly indicate?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52500" y="2796480"/>
            <a:ext cx="8096250" cy="895350"/>
          </a:xfrm>
          <a:prstGeom prst="rect">
            <a:avLst/>
          </a:prstGeom>
          <a:solidFill>
            <a:srgbClr val="F1F8EE"/>
          </a:solidFill>
          <a:ln w="9525">
            <a:solidFill>
              <a:srgbClr val="4295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09675" y="3015555"/>
            <a:ext cx="457200" cy="457200"/>
          </a:xfrm>
          <a:prstGeom prst="rect">
            <a:avLst/>
          </a:prstGeom>
          <a:solidFill>
            <a:srgbClr val="42955F"/>
          </a:solidFill>
          <a:ln/>
        </p:spPr>
      </p:sp>
      <p:sp>
        <p:nvSpPr>
          <p:cNvPr id="9" name="Text 7"/>
          <p:cNvSpPr/>
          <p:nvPr/>
        </p:nvSpPr>
        <p:spPr>
          <a:xfrm>
            <a:off x="1171575" y="301555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914525" y="3015555"/>
            <a:ext cx="7083362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Progression to increased ICP with brainstem involvement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239250" y="2796480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96425" y="301555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3" name="Text 11"/>
          <p:cNvSpPr/>
          <p:nvPr/>
        </p:nvSpPr>
        <p:spPr>
          <a:xfrm>
            <a:off x="9458325" y="301555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201275" y="3015555"/>
            <a:ext cx="7083362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Progression to reduced blood flow with cortical involvement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52500" y="3882330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09675" y="410140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7" name="Text 15"/>
          <p:cNvSpPr/>
          <p:nvPr/>
        </p:nvSpPr>
        <p:spPr>
          <a:xfrm>
            <a:off x="1171575" y="410140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914525" y="4101405"/>
            <a:ext cx="7083362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Progression to diffuse swelling with hemispheric involvement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9239250" y="3882330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96425" y="410140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21" name="Text 19"/>
          <p:cNvSpPr/>
          <p:nvPr/>
        </p:nvSpPr>
        <p:spPr>
          <a:xfrm>
            <a:off x="9458325" y="410140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0201275" y="4101405"/>
            <a:ext cx="7083362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Progression to excess fluid with ventricular enlargement</a:t>
            </a:r>
            <a:endParaRPr lang="en-US" sz="195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4</a:t>
            </a:r>
            <a:endParaRPr lang="en-US" sz="1650" dirty="0"/>
          </a:p>
        </p:txBody>
      </p:sp>
      <p:sp>
        <p:nvSpPr>
          <p:cNvPr id="25" name="Text 22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 / 38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2026-04-30T13:25:37Z</dcterms:created>
  <dcterms:modified xsi:type="dcterms:W3CDTF">2026-04-30T13:25:37Z</dcterms:modified>
</cp:coreProperties>
</file>