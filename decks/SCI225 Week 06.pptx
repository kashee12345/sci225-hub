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6: the Endocrine System. We are walking through hormonal regulation, the major endocrine disorders, and the diabetic emergencies — DKA, HHS, and thyroid storm. Midterm is next week, so let us focus and pay close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today's agenda —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 — hormonal regulation, alterations of regulation, and the consequences of dysregulation.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is Chapters 19 through 21. Please review the hypothalamic-pituitary axes diagrams before the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6 — Week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 — pre-assessment, discussion, webinar quiz, case study. All by Saturday June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hormone mechanisms and feedback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Endocrine system overview — the hypothalamic-pituitary axis is the master conductor.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Hormone classes — steroid, peptide, amine. Mechanism dictates where the receptor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feedback is the dominant control loop. Trace it both directions and most disorders make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HPT axis — TRH from hypothalamus, TSH from pituitary, T3/T4 from thyroid. High T3/T4 suppresses TRH and TSH.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Receptor regulation — down-regulation and up-regulation. Important for understanding tachyphylaxis to long-term hormone therapy.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patterns of endocrine dysfunction — primary gland, secondary pituitary, tertiary hypothalamic. Lab pattern tells you the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Graves disease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receptor down-regulation.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pituitary and thyroid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Posterior pituitary — SIADH versus diabetes insipidus. Mirror images of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SIADH versus DI side by side — sodium, osmolality, urine.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Anterior pituitary disorders — hyperpituitarism (acromegaly, Cushing) and hypopituitarism (panhypopituitarism, Sheehan).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Thyroid hormone synthesis — five steps from iodide uptake to T3/T4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Hyperthyroidism and Graves disease — TSI antibodies stimulate the TSH receptor.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Hypothyroidism and Hashimoto — primary gland failure with high TSH.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Thyroid storm versus myxedema coma — both are emergencies, but they pull in opposite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SIADH.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primary hypothyroidism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myxedema coma. Thermoregulation and cardiac involvement make this a true emergency.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adrenal and pancreatic disorders, diabetes, and the diabetic emergencies.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Adrenal anatomy — cortex (zones) and medulla; what each zone secretes.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Cushing syndrome and Addison disease — hyperfunction versus hypofunction.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Pheochromocytoma — catecholamine-secreting medullary tumor.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Diabetes pathophysiology — type 1 versus type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Ps — polyuria, polydipsia, polyphagia.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Diabetic emergencies — DKA versus HHS comparison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Treating DKA — fluids, insulin, potassium. Watch for hypokalemia as insulin shifts K into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DKA mechanisms (SATA).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DKA potassium shift during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hormones are invisible, but their effects are measurable. Reach out anytime.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67105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Endocrine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6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mechanisms &amp; feedback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Pituitary &amp; thyroid disorders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Adrenal, pancreas &amp; diabetes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 emergencies — DKA &amp; HHS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SIX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mechanisms of hormonal regulation and why they occur.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alterations of hormonal regulation.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resultant consequences of altered hormonal regulation.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19 — Mechanisms of Hormonal Regulation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20 — Alterations of Hormonal Regulation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21 — Consequences of Hormonal Alterations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1211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Standards of Care — DKA and HHS management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Thyroid Association — hyper- and hypothyroidism guidelines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203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HPA, HPT, HPG axis diagrams — draw each before the webinar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DKA vs. HHS comparison table — review before case study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storm vs. myxedema coma — high-yield NCLEX content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710434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186684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Six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333405"/>
            <a:ext cx="68675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endocrine system — hormonal regulation, pituitary and thyroid disorders, diabetes, and the diabetic emergencies.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· JUNE 8 – JUNE 14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404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 Pre-Assessment.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"Endocrine Crisis: Myxedema Coma and Feedback Dysfunction" —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due Saturday, June 14 by 11:59 PM (DKA, HHS, thyroid storm, myxedema coma).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due Saturday, June 14 by 11:59 PM (DKA pathophysiology and treatment).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midterm review — Week 7 next week.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HORMONAL REGULATION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mechanisms of hormonal regulation — endocrine anatomy, hormone classes, feedback control, the HPT axis, and receptor regulation.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endocrine system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long-distance chemical signaling — regulates metabolism, growth, reproduction, fluid and electrolyte balance, and stress response.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glands: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hypothalamus, pituitary, thyroid, parathyroids, adrenals, pancreas, gonads, pineal.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conductor: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 releases releasing/inhibiting hormones → anterior pituitary releases tropic hormones → target glands release end hormones.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pituitary: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&amp; releases hypothalamic hormones (ADH, oxytocin) — neural connection, not portal.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Half-lives matter: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 hormones short (minutes), thyroid &amp; steroid hormones long (hours to days).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37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classes &amp; mechanisms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Solubility determines where the receptor lives — surface vs. intracellular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5275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392191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3601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481268" y="2586038"/>
            <a:ext cx="422046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00343" y="2747963"/>
            <a:ext cx="39089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location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701736" y="2586038"/>
            <a:ext cx="462900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20811" y="2747963"/>
            <a:ext cx="43297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19563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33851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 / protein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59350" y="3195638"/>
            <a:ext cx="392191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8425" y="3338513"/>
            <a:ext cx="360142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Insulin, GH, ADH, TSH, ACTH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481268" y="3195638"/>
            <a:ext cx="422046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0343" y="3338513"/>
            <a:ext cx="390893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surface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701736" y="3195638"/>
            <a:ext cx="462900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20811" y="3338513"/>
            <a:ext cx="432972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messengers (cAMP, IP₃) — fast effect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4165104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4307979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559350" y="4165104"/>
            <a:ext cx="392191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8425" y="4307979"/>
            <a:ext cx="360142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Catecholamines · Thyroid hormones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481268" y="4165104"/>
            <a:ext cx="422046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0343" y="4307979"/>
            <a:ext cx="390893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(catechols) · Intracellular (T3/T4)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2701736" y="4165104"/>
            <a:ext cx="4629001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20811" y="4307979"/>
            <a:ext cx="432972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— depends on member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134570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77445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Steroid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134570"/>
            <a:ext cx="392191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77445"/>
            <a:ext cx="360142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Cortisol, aldosterone, sex steroids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8481268" y="5134570"/>
            <a:ext cx="422046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0343" y="5277445"/>
            <a:ext cx="390893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Intracellular / nuclear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2701736" y="5134570"/>
            <a:ext cx="462900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20811" y="5277445"/>
            <a:ext cx="432972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Alters gene transcription — slow but durable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706755" y="6337399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hormones are amines but act like steroids — lipid-soluble, enter the cell, change gene expression.</a:t>
            </a:r>
            <a:endParaRPr lang="en-US" sz="18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37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regulation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feedback (dominant):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end-hormone level inhibits its own releasing/tropic hormones — keeps levels in range.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feedback (rare):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amplifies the signal — LH surge before ovulation; oxytocin during labor.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loop: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hormone → hypothalamus + pituitary.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loop: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pituitary hormone → hypothalamus.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use: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pattern tells you where the defect is — primary gland, secondary pituitary, or tertiary hypothalamic.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37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hypothalamic–pituitary–thyroid (HPT) axis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TRH (thyrotropin-releasing hormone).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pituitary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TRH stimulates TSH release.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gland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 stimulates T3 and T4 production.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feedback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T3/T4 suppresses TRH and TSH.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50145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 applies to: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axis (CRH → ACTH → cortisol) · HPG axis (GnRH → LH/FSH → estrogens/testosterone).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806255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4815780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51486" y="4815780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37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regulation at the target cell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Down-regulation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Prolonged high hormone levels → fewer surface receptors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target-cell response at the same hormone concentration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487912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tachyphylaxis with chronic hormone therapy; type 2 DM insulin resistance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Up-regulation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Prolonged low hormone levels → more surface receptors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target-cell response when hormone returns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14129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denervation hypersensitivity; postpartum thyroid dynamics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6755" y="89344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hormone level + no target-cell response = receptor problem (binding defect or receptor resistance).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37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patterns of endocrine dysfunction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pattern tells you the level of the defect — the HPT axis as a worked example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12084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846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767834" y="2586038"/>
            <a:ext cx="12084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6909" y="2747963"/>
            <a:ext cx="846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976318" y="2586038"/>
            <a:ext cx="1035441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5393" y="2747963"/>
            <a:ext cx="102269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gland failure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59350" y="3195638"/>
            <a:ext cx="12084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8425" y="3338513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767834" y="3195638"/>
            <a:ext cx="12084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6909" y="3338513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976318" y="3195638"/>
            <a:ext cx="1035441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5393" y="3338513"/>
            <a:ext cx="102269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cannot make hormone — pituitary compensates by raising TSH (Hashimoto)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gland excess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559350" y="3818483"/>
            <a:ext cx="12084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8425" y="3961358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767834" y="3818483"/>
            <a:ext cx="12084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6909" y="3961358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976318" y="3818483"/>
            <a:ext cx="1035441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5393" y="3961358"/>
            <a:ext cx="102269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autonomously makes hormone — pituitary suppresses TSH (Graves)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(pituitary)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4441329"/>
            <a:ext cx="12084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4584204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5767834" y="4441329"/>
            <a:ext cx="12084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6909" y="4584204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6976318" y="4441329"/>
            <a:ext cx="1035441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5393" y="4584204"/>
            <a:ext cx="102269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Pituitary cannot drive thyroid — both hormones fall together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(hypothalamic)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4559350" y="5064175"/>
            <a:ext cx="12084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8425" y="5207050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5767834" y="5064175"/>
            <a:ext cx="12084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6909" y="5207050"/>
            <a:ext cx="8465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6976318" y="5064175"/>
            <a:ext cx="1035441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5393" y="5207050"/>
            <a:ext cx="102269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TRH absent — pituitary not stimulated; same lab as secondary</a:t>
            </a:r>
            <a:endParaRPr lang="en-US" sz="195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37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untreated Graves disease has elevated T3 and T4 levels with suppressed TSH. Which physiologic mechanism explains the decreased TSH level in this patient?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negative feedback on TRH and TSH release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TRH stimulation of pituitary thyrotrophs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negative feedback on TRH and TSH release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TRH stimulation of pituitary thyrotrophs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37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63-year-old patient has been receiving the same dose of a hormone-based medication for several months. Although circulating hormone levels remain elevated, the medication now produces less clinical effect than it did initially. Which receptor change explains this finding?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3223171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442246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44224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442246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Down-regulation of receptors → reduced target-cell response to the same hormone concentration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3223171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442246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44224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442246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Up-regulation of receptors → increased target-cell response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54506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76413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76413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76413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receptor affinity → greater binding at lower concentration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54506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76413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76413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76413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Constitutive receptor activation → activity without hormone binding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PITUITARY &amp; THYROID DISORDERS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alterations of hormonal regulation — posterior pituitary (SIADH, DI), anterior pituitary tumors, and the spectrum of thyroid disease.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37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PITUITARY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 — antidiuretic hormone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Stimuli for release: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plasma osmolality (osmoreceptors); ↓ blood volume / hypotension (baroreceptors); angiotensin II.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aquaporin channels in collecting ducts → reabsorbs free water → concentrated urine.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(SIADH):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retention → dilutional hyponatremia, low serum osmolality, concentrated urine.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(Diabetes Insipidus):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water loss → hypernatremia, high serum osmolality, dilute urine.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730135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of SIADH: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 injury, small-cell lung cancer (ectopic ADH), medications, post-op stress.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37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SIADH vs. diabetes insipidus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images — too much ADH vs. not enough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86771" y="2586038"/>
            <a:ext cx="628560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5846" y="2747963"/>
            <a:ext cx="603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SIADH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172379" y="2586038"/>
            <a:ext cx="615835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91454" y="2747963"/>
            <a:ext cx="59049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insipidus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 activity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86771" y="3195638"/>
            <a:ext cx="628560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5846" y="3338513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Excess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172379" y="3195638"/>
            <a:ext cx="615835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91454" y="3338513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Deficient (central) or unresponsive (nephrogenic)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Serum sodium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886771" y="3818483"/>
            <a:ext cx="628560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846" y="3961358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Hyponatremia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172379" y="3818483"/>
            <a:ext cx="615835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91454" y="3961358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Hypernatremia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Serum osmolality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886771" y="4441329"/>
            <a:ext cx="628560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5846" y="4584204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172379" y="4441329"/>
            <a:ext cx="615835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91454" y="4584204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Urine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886771" y="5064175"/>
            <a:ext cx="628560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5846" y="5207050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Concentrated, low volume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172379" y="5064175"/>
            <a:ext cx="615835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91454" y="5207050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Dilute, high volume (polyuria)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886771" y="5687020"/>
            <a:ext cx="628560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5846" y="5829895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Confusion, seizures, weight gain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1172379" y="5687020"/>
            <a:ext cx="615835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91454" y="5829895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Polydipsia, dehydration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886771" y="6309866"/>
            <a:ext cx="628560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5846" y="6452741"/>
            <a:ext cx="603602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restriction; vaptans; hypertonic saline if severe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1172379" y="6309866"/>
            <a:ext cx="615835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391454" y="6452741"/>
            <a:ext cx="59049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Desmopressin (central); thiazides (nephrogenic)</a:t>
            </a:r>
            <a:endParaRPr lang="en-US" sz="1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pituitary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Hyperpituitarism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adenoma → autonomous hormone secretion that escapes feedback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 excess: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acromegaly (adults — enlarged hands/face/jaw); gigantism (children)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83453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ACTH excess: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 disease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531450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Prolactinoma: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galactorrhea, amenorrhea, infertility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5794474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effect: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upward expansion compresses optic chiasm → bitemporal hemianopia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Hypopituitarism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965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stalk damage, surgery, hemorrhage (Sheehan), or compressing mass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hypothalamic signals → multiple tropic hormones fall (TSH, ACTH, LH/FSH, GH)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483453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pattern: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end-hormone with inappropriately low pituitary hormone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96500" y="566112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replacement for each deficient axis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37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hormone synthesis — five steps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2484090" cy="243066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Iodide uptake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Na⁺/I⁻ symporter pulls iodide into follicular cell.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665190" y="2181225"/>
            <a:ext cx="609600" cy="2468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427190" y="2181225"/>
            <a:ext cx="2484239" cy="243066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27190" y="2181225"/>
            <a:ext cx="2484239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4674840" y="2466975"/>
            <a:ext cx="20651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74840" y="2790825"/>
            <a:ext cx="20651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74840" y="3209925"/>
            <a:ext cx="2065139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peroxidase oxidizes I⁻ and binds to tyrosine on thyroglobulin.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40029" y="2181225"/>
            <a:ext cx="609600" cy="2468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7902029" y="2181225"/>
            <a:ext cx="2484090" cy="243066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2029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8149679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49679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149679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Iodinated tyrosines couple to form T3 and T4.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14720" y="2181225"/>
            <a:ext cx="609600" cy="2468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1376720" y="2181225"/>
            <a:ext cx="2484090" cy="243066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672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437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62437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62437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Iodinated thyroglobulin stored in follicular colloid.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089410" y="2181225"/>
            <a:ext cx="609600" cy="2468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14851410" y="2181225"/>
            <a:ext cx="2484090" cy="243066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141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Text 27"/>
          <p:cNvSpPr/>
          <p:nvPr/>
        </p:nvSpPr>
        <p:spPr>
          <a:xfrm>
            <a:off x="1509906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09906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09906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 stimulates release of T3/T4 into circulation.</a:t>
            </a:r>
            <a:endParaRPr lang="en-US" sz="16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745236"/>
            <a:ext cx="209550" cy="2667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76350" y="475476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6635859" y="475476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37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HYPERTHYROIDISM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Graves disease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thyroid-stimulating immunoglobulins (TSI) mimic TSH at the receptor → autonomous T3/T4 production.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pattern: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T3/T4, ↓ TSH (suppressed by negative feedback).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features: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loss despite ↑ appetite, heat intolerance, tachycardia/palpitations, tremor, anxiety, diffuse goiter.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exophthalmos and pretibial myxedema (autoantibody effect on orbital and skin tissues).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antithyroid drugs (methimazole), radioactive iodine, β-blockers for symptoms, thyroidectomy.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37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HYPOTHYROIDISM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Hashimoto thyroiditis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destruction of thyroid follicles by anti-TPO and anti-thyroglobulin antibodies → primary gland failure.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pattern: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T4 with ↑ TSH (compensatory rise via negative feedback).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features: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fatigue, weight gain, constipation, cold intolerance, dry skin, bradycardia, depressed mood.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Goiter: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present from chronic TSH stimulation and lymphocytic infiltration.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levothyroxine (synthetic T4); titrate to TSH in normal range.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37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emergencies — opposite poles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life-threatening — recognize early and treat aggressively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702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596131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570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storm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520660" y="2586038"/>
            <a:ext cx="681007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9735" y="2747963"/>
            <a:ext cx="65762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Myxedema coma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state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596131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570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hyperthyroidism — usually Graves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520660" y="3195638"/>
            <a:ext cx="681007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39735" y="3338513"/>
            <a:ext cx="65762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hypothyroidism — usually Hashimoto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596131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570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Surgery, infection, trauma, iodine load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20660" y="3818483"/>
            <a:ext cx="681007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39735" y="3961358"/>
            <a:ext cx="65762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exposure, infection, sedatives, missed levothyroxine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596131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570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Hyperthermia (often &gt; 104°F)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20660" y="4441329"/>
            <a:ext cx="681007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39735" y="4584204"/>
            <a:ext cx="65762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Hypothermia (often &lt; 95°F)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064175"/>
            <a:ext cx="596131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07050"/>
            <a:ext cx="570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Tachycardia, AFib, high-output failure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520660" y="5064175"/>
            <a:ext cx="681007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39735" y="5207050"/>
            <a:ext cx="65762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Bradycardia, hypotension, low-output failure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status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5687020"/>
            <a:ext cx="596131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5829895"/>
            <a:ext cx="570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Agitation, delirium, psychosis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520660" y="5687020"/>
            <a:ext cx="681007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39735" y="5829895"/>
            <a:ext cx="65762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Lethargy, stupor, coma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559350" y="6309866"/>
            <a:ext cx="5961311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8425" y="6452741"/>
            <a:ext cx="570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β-blockers, PTU/methimazole, iodine, steroids, cooling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520660" y="6309866"/>
            <a:ext cx="681007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39735" y="6452741"/>
            <a:ext cx="657623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levothyroxine, hydrocortisone, passive rewarming, ventilation</a:t>
            </a:r>
            <a:endParaRPr lang="en-US" sz="1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37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lung cancer develops confusion and fatigue. Lab results show low sodium, low blood osmolality, and concentrated urine. Which physiologic mechanism explains the development of SIADH in this patient?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ADH secretion from hypothalamic regulatory centers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ADH secretion from malignant pulmonary tumor cells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renal tubular responsiveness to circulating ADH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aquaporin channel expression in renal tubular cells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37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has fatigue, weight gain, constipation, and cold intolerance. Labs show low T4 and high TSH. This pattern reflects ___ and occurs because of ___.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Pituitary hyperfunction · positive feedback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gland failure · negative feedback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resistance · feedforward loop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secretion · random secretion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37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myxedema coma a true endocrine emergency? Trace how loss of thyroid hormone disrupts thermoregulation and cardiac output, and explain why simply giving levothyroxine is not enough without simultaneous cortisol replacement.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6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37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ADRENAL, PANCREAS &amp; DIABETIC EMERGENCIES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alterations of adrenal and pancreatic function and their consequences — Cushing, Addison, pheochromocytoma, diabetes mellitus, DKA, and HHS.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37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Adrenal anatomy &amp; output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"Salt, sugar, sex" — outer to inner cortical zones; medulla makes catecholamines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/ region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86771" y="2586038"/>
            <a:ext cx="379109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5846" y="2747963"/>
            <a:ext cx="34666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677870" y="2586038"/>
            <a:ext cx="865286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96945" y="2747963"/>
            <a:ext cx="8474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effect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glomerulosa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86771" y="3195638"/>
            <a:ext cx="379109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5846" y="3338513"/>
            <a:ext cx="34666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Aldosterone (mineralocorticoid)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677870" y="3195638"/>
            <a:ext cx="865286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6945" y="3338513"/>
            <a:ext cx="847430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Na⁺ reabsorption, K⁺ excretion — controlled by RAAS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165104"/>
            <a:ext cx="392950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307979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fasciculata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886771" y="4165104"/>
            <a:ext cx="379109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846" y="4307979"/>
            <a:ext cx="34666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Cortisol (glucocorticoid)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677870" y="4165104"/>
            <a:ext cx="865286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96945" y="4307979"/>
            <a:ext cx="847430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Gluconeogenesis, anti-inflammatory, stress response — controlled by ACTH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5134570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5277445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reticularis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886771" y="5134570"/>
            <a:ext cx="379109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5846" y="5277445"/>
            <a:ext cx="34666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Androgens (DHEA)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677870" y="5134570"/>
            <a:ext cx="865286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6945" y="5277445"/>
            <a:ext cx="847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development, secondary characteristics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757416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900291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Adrenal medulla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886771" y="5757416"/>
            <a:ext cx="379109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5846" y="5900291"/>
            <a:ext cx="34666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Epinephrine, norepinephrine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8677870" y="5757416"/>
            <a:ext cx="865286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6945" y="5900291"/>
            <a:ext cx="847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 "fight or flight" response</a:t>
            </a:r>
            <a:endParaRPr lang="en-US" sz="1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37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 syndrome &amp; Addison disease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 — cortisol excess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exogenous steroids (most common), pituitary adenoma (Cushing disease), adrenal tumor, ectopic ACTH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obesity, moon face, buffalo hump, purple striae, thin skin, hyperglycemia, hypertension, osteoporosis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83453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gluconeogenesis, protein catabolism, immunosuppression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Addison — cortisol &amp; aldosterone deficiency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590925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adrenalitis (most common in U.S.), TB, hemorrhage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4417516"/>
            <a:ext cx="7071741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fatigue, weight loss, hypotension, hyperpigmentation (↑ ACTH/MSH), hyponatremia, hyperkalemia, hypoglycemia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5590729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requiring IV hydrocortisone + fluids</a:t>
            </a:r>
            <a:endParaRPr lang="en-US" sz="1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37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ADRENAL MEDULLA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Pheochromocytoma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catecholamine-secreting tumor of the adrenal medulla (chromaffin cells) → autonomous epinephrine/norepinephrine release.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triad: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episodic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headache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palpitations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diaphoresis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severe paroxysmal hypertension.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plasma free metanephrines or 24-hour urine catecholamines/metanephrines; CT/MRI to localize.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sequence: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α-blockade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(phenoxybenzamine),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β-blockade — never reverse the order.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730135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Definitive: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adrenalectomy.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37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mellitus — type 1 vs. type 2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4265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73449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7127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904315" y="2185988"/>
            <a:ext cx="542642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23390" y="2347913"/>
            <a:ext cx="51510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7344966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712716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destruction of β-cells → absolute insulin deficiency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904315" y="2795588"/>
            <a:ext cx="542642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23390" y="2938463"/>
            <a:ext cx="515106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resistance + relative insulin deficiency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765054"/>
            <a:ext cx="7344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907929"/>
            <a:ext cx="71271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/ young adult; abrupt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904315" y="3765054"/>
            <a:ext cx="542642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23390" y="3907929"/>
            <a:ext cx="51510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onset; gradual; rising in younger ages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habitus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387900"/>
            <a:ext cx="7344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530775"/>
            <a:ext cx="71271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lean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904315" y="4387900"/>
            <a:ext cx="542642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23390" y="4530775"/>
            <a:ext cx="51510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overweight; central adiposity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01074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15362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Ketosis risk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010745"/>
            <a:ext cx="7344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5153620"/>
            <a:ext cx="71271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DKA prone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904315" y="5010745"/>
            <a:ext cx="542642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23390" y="5153620"/>
            <a:ext cx="515106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— HHS more typical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633591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776466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633591"/>
            <a:ext cx="7344966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776466"/>
            <a:ext cx="712716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(always)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904315" y="5633591"/>
            <a:ext cx="542642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23390" y="5776466"/>
            <a:ext cx="515106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Lifestyle, oral agents, GLP-1, insulin if needed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706755" y="683642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polyuria · polydipsia · polyphagia. Hyperglycemia &gt; renal threshold → glucosuria → osmotic diuresis → dehydration → thirst.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37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 ketoacidosis — pathophysiology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deficiency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cannot use glucose for energy.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Counterregulation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Glucagon, cortisol, epinephrine drive gluconeogenesis &amp; lipolysis.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Ketogenesis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Hepatic β-oxidation of fatty acids → acetoacetate &amp; β-hydroxybutyrate.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Acidosis &amp; dehydration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5528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Anion-gap metabolic acidosis, osmotic diuresis, Kussmaul respirations.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5042446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new-onset T1DM · missed insulin · infection · physiologic stress.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37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DKA vs. HHS — distinguishing features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Hyperosmolar Hyperglycemic State — same family, different physiology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979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585236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55897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11718" y="2586038"/>
            <a:ext cx="691902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30793" y="2747963"/>
            <a:ext cx="6688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patient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585236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 DM (or new-onset)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11718" y="3195638"/>
            <a:ext cx="691902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30793" y="3338513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DM, often elderly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585236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250 mg/dL (often 300–600)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11718" y="3818483"/>
            <a:ext cx="691902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30793" y="3961358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600 mg/dL (often &gt; 1000)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Ketones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585236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positive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411718" y="4441329"/>
            <a:ext cx="691902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0793" y="4584204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or absent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/ bicarbonate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064175"/>
            <a:ext cx="585236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07050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Acidosis (pH &lt; 7.30, HCO₃ &lt; 18)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411718" y="5064175"/>
            <a:ext cx="691902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30793" y="5207050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or near-normal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Osmolality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5687020"/>
            <a:ext cx="585236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5829895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411718" y="5687020"/>
            <a:ext cx="691902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30793" y="5829895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Markedly elevated (&gt; 320 mOsm/kg)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status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559350" y="6309866"/>
            <a:ext cx="585236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8425" y="6452741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→ lethargic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11718" y="6309866"/>
            <a:ext cx="691902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30793" y="6452741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Profound altered consciousness, coma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957263" y="6932712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76338" y="7075587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4559350" y="6932712"/>
            <a:ext cx="585236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8425" y="7075587"/>
            <a:ext cx="558978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Kussmaul respirations, fruity breath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0411718" y="6932712"/>
            <a:ext cx="691902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30793" y="7075587"/>
            <a:ext cx="668844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dehydration, focal neurologic signs</a:t>
            </a:r>
            <a:endParaRPr lang="en-US" sz="195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55" name="Text 5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37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DKA — fluids, insulin, potassium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Fluids first: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saline to restore intravascular volume; switch to 0.45% NaCl when stable; add D5 once glucose ≈ 200 mg/dL to prevent hypoglycemia.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Insulin: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IV infusion — drives glucose into cells, suppresses ketogenesis.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Potassium: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K⁺ may look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or high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(acidosis shifts K⁺ out of cells), but total body K⁺ is depleted. Insulin shifts K⁺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→ can drop fast.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K⁺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serum K⁺ &lt; 5.3 mEq/L;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insulin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K⁺ &lt; 3.3 mEq/L until replaced.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Sick-day rules for prevention: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illness raises stress hormones → never stop insulin; check glucose &amp; ketones every 4 hr; hydrate; call provider for persistent ketones.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37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Olivia is a 19-year-old with new-onset Type 1 diabetes presenting with hyperglycemia and positive urine ketones. Which findings support the pathophysiology of DKA?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urine ketones from increased fat breakdown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glucose 368 mg/dL from insulin deficiency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thirst from hyperglycemia-related dehydration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loss from increased fluid retention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9681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51872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51872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51872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urination from glucosuria above the renal threshold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37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hours into DKA treatment, Olivia's potassium has fallen from 4.8 to 3.2 mEq/L. Which mechanism best explains this change?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therapy shifts potassium from extracellular fluid into cells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Ketone production increases renal potassium reabsorption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Osmotic diuresis shifts potassium from extracellular fluid into cells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acidosis shifts potassium from cells into extracellular fluid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37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invisible, but their effects on your patients are profound and measurable. You are learning to see what many miss — the subtle signs of endocrine dysfunction that can change a patient's outcome if caught early.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6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2026-04-30T13:39:19Z</dcterms:created>
  <dcterms:modified xsi:type="dcterms:W3CDTF">2026-04-30T13:39:19Z</dcterms:modified>
</cp:coreProperties>
</file>