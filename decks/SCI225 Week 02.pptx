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2. Frame the topic: immunity and inflammation.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today's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Week 2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to use the weekly study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2 — Week Two core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objectives — immunity and adaptive 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discussion: what is immunity?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innate vs adaptive 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inflammation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immunity — B and T cell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Antibodies and adaptive 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of immunity — natural vs artificial, active vs passive.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Vaccine types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newborn 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objectives — hypersensitivity and immune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hypersensitivity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 hypersensitivity.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II hypersensitivity.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III hypersensitivity.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IV hypersensitivity.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 mnemonic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Transplant rejection.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TB skin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autoimmune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of autoimmune diseases.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immune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Hypersensitivity reactions review terminology.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Infection progression concept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Wound healing concept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textbook publisher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Hypersensitivity reactions —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Allergy and anaphylaxis.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Autoimmunity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Systemic lupus erythematosus.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Transfusion reactions — ABO.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Transfusion reactions — Rh.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Transplant rejection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Immune deficiencies — primary vs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immune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Antibody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Phagocyte and innate defects.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Treatment for primary immune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Secondary immune deficiencies.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Malignancies and immunosuppression.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AIDS — overview and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HIV life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AIDS clinical manifestations and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671055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Immunity &amp; Inflammation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XYZ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2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Immunity &amp; inflammation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Innate vs. adaptive defenses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 &amp; vaccines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 reactions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40067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791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019300" y="484346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Autoimmunity &amp; alloimmunity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01200" y="540067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4791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668000" y="484346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 &amp; HIV/AIDS</a:t>
            </a:r>
            <a:endParaRPr lang="en-US" sz="22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51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TWO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immunity and inflammation; describe the inflammatory response.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process of adaptive immunity, including humoral and cell-mediated branches.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hypersensitivity reactions, immune deficiencies, and their clinical consequences.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51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YOUR STUDY TIME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study guides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1817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in each weekly module — covers every learning objective.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drive your reading and to self-quiz before the webinar quiz.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the textbook chapters and your webinar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51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917603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TWO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393853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Two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540573"/>
            <a:ext cx="68675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Immunity, inflammation, hypersensitivity, autoimmunity, and immune deficiencies.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51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805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2 Pre-assessment.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Chapters 8, 9, and 10 — Innate Immunity, Adaptive Immunity, Infection &amp; Defects.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Chapters 6 and 7 (carry-forward from Week 1).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a Week 2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2 Case Study.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Week 2 Webinar Quiz.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51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IMMUNITY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immunity and inflammation.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process of adaptive immunity.</a:t>
            </a:r>
            <a:endParaRPr lang="en-US" sz="2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51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10905"/>
            <a:ext cx="8594217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Immunity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4975771"/>
            <a:ext cx="85942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prompts — let learners answer aloud: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26820" y="5709196"/>
            <a:ext cx="81457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 to be immune to something?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body recognize self vs. non-self?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difference between immunity and inflammation?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698837" y="9582150"/>
            <a:ext cx="2284363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851237" y="9677400"/>
            <a:ext cx="20557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immune cells image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Innate vs. adaptive immunity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Innate defenses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barriers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skin, mucous membranes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Cell-derived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defensins, antimicrobial peptides, lysozyme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microbiome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62126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Inflammation, fever, vascular response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" y="5101233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 cells, phagocytes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defenses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Humoral immunity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 cells produce antibodies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immunity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 cells (CD4 helper, CD8 cytotoxic, regulatory)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96500" y="448791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faster, stronger response on re-exposure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096500" y="4967883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targets a particular antigen</a:t>
            </a:r>
            <a:endParaRPr lang="en-US" sz="1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51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inflammation cascade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48006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48006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4434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4434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injury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443445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 cells release histamine; complement activated; cytokines recruit responders.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981700" y="2181225"/>
            <a:ext cx="60960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743700" y="2181225"/>
            <a:ext cx="48006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743700" y="2181225"/>
            <a:ext cx="48006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6991350" y="2466975"/>
            <a:ext cx="4434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91350" y="2790825"/>
            <a:ext cx="4434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response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91350" y="3209925"/>
            <a:ext cx="443445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Vasodilation + increased permeability → redness, heat, swelling.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72900" y="2181225"/>
            <a:ext cx="60960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12534900" y="2181225"/>
            <a:ext cx="4800600" cy="18439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34900" y="2181225"/>
            <a:ext cx="48006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2782550" y="2466975"/>
            <a:ext cx="4434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82550" y="2790825"/>
            <a:ext cx="4434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response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782550" y="3209925"/>
            <a:ext cx="443445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Neutrophils first, then macrophages — phagocytose pathogens and debris.</a:t>
            </a:r>
            <a:endParaRPr lang="en-US" sz="16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253805"/>
            <a:ext cx="20955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6350" y="4263330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635859" y="4263330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51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immunity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cells (humoral)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 cells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antibody factories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 cells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long-lived, faster recall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extracellular pathogens and toxins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cells (cellular)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 helper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orchestrates the response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CD8 cytotoxic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kills infected/cancer cells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dampens response, maintains tolerance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462126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 cells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long-lived recall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51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 &amp; adaptive immunity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229225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1930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249513" y="2185988"/>
            <a:ext cx="623783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68588" y="2347913"/>
            <a:ext cx="59868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87346" y="2185988"/>
            <a:ext cx="784339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06421" y="2347913"/>
            <a:ext cx="76405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2292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249513" y="2795588"/>
            <a:ext cx="623783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8588" y="2938463"/>
            <a:ext cx="59868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abundant in serum; crosses placenta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87346" y="2795588"/>
            <a:ext cx="784339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06421" y="2938463"/>
            <a:ext cx="764054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immunity; opsonization; neonatal protection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229225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3249513" y="3418433"/>
            <a:ext cx="623783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8588" y="3561308"/>
            <a:ext cx="59868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Mucosal surfaces; breast milk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487346" y="3418433"/>
            <a:ext cx="784339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06421" y="3561308"/>
            <a:ext cx="764054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Mucosal defense; passive immunity to infants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2292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IgM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3249513" y="4041279"/>
            <a:ext cx="623783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8588" y="4184154"/>
            <a:ext cx="59868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Blood; first responder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487346" y="4041279"/>
            <a:ext cx="784339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6421" y="4184154"/>
            <a:ext cx="764054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antibody made; strong agglutination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229225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249513" y="4664125"/>
            <a:ext cx="623783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8588" y="4807000"/>
            <a:ext cx="59868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to mast cells/basophils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487346" y="4664125"/>
            <a:ext cx="784339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06421" y="4807000"/>
            <a:ext cx="764054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Allergic reactions; parasite defense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2292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3249513" y="5286970"/>
            <a:ext cx="623783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8588" y="5429845"/>
            <a:ext cx="59868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B-cell surface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487346" y="5286970"/>
            <a:ext cx="784339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06421" y="5429845"/>
            <a:ext cx="764054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B-cell receptor; activation signaling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51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immunity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08930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58338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648652" y="2185988"/>
            <a:ext cx="668208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67727" y="2347913"/>
            <a:ext cx="64443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active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08930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583383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→ own immune response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48652" y="2795588"/>
            <a:ext cx="668208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67727" y="2938463"/>
            <a:ext cx="644439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from chickenpox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passive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608930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583383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antibodies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648652" y="3418433"/>
            <a:ext cx="668208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67727" y="3561308"/>
            <a:ext cx="644439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 across placenta; IgA in breast milk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active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608930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583383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648652" y="4041279"/>
            <a:ext cx="668208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67727" y="4184154"/>
            <a:ext cx="644439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MMR, Tdap, COVID-19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passive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608930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583383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 injection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648652" y="4664125"/>
            <a:ext cx="668208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67727" y="4807000"/>
            <a:ext cx="644439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Rabies Ig, RSV monoclonals, IVIG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51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Vaccine types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754662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73348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105977" y="2185988"/>
            <a:ext cx="522476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25052" y="2347913"/>
            <a:ext cx="4943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attenuated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754662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73348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Weakened pathogen — strong, lasting immunity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105977" y="2795588"/>
            <a:ext cx="522476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25052" y="2938463"/>
            <a:ext cx="49433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MMR, varicella, rotavirus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Inactivated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754662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73348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 pathogen — needs boosters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105977" y="3418433"/>
            <a:ext cx="522476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25052" y="3561308"/>
            <a:ext cx="49433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IPV, hepatitis A, rabies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Subunit / conjugate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754662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73348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antigen pieces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105977" y="4041279"/>
            <a:ext cx="522476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25052" y="4184154"/>
            <a:ext cx="49433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Hib, pneumococcal, HPV, hep B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Toxoid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754662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73348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Inactivated toxin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105977" y="4664125"/>
            <a:ext cx="522476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25052" y="4807000"/>
            <a:ext cx="49433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Tetanus, diphtheria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mRNA / viral vector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286970"/>
            <a:ext cx="754662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5429845"/>
            <a:ext cx="733487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makes the antigen from instructions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105977" y="5286970"/>
            <a:ext cx="522476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25052" y="5429845"/>
            <a:ext cx="49433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mRNA vaccines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51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newborn is born full-term to a fully vaccinated mother and is exclusively breastfed. The infant is protected from many pathogens during the first six months by: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active immunity from in utero infection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passive immunity from maternal IgG across the placenta and IgA in breast milk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active immunity from vaccination at birth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Innate immunity alone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51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hypersensitivity reactions, immune deficiencies, and their clinical consequences.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51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spc="-81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52500" y="2905125"/>
            <a:ext cx="14716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immunologic response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 antigen that results in disease or damage to the host.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3781425"/>
            <a:ext cx="5156150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781425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029075"/>
            <a:ext cx="4663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4438650"/>
            <a:ext cx="466332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IgE-mediated · immediate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65850" y="3781425"/>
            <a:ext cx="5156299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850" y="3781425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6908750" y="4029075"/>
            <a:ext cx="46634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08750" y="4438650"/>
            <a:ext cx="466347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Cytotoxic · IgG/IgM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179350" y="3781425"/>
            <a:ext cx="5156150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79350" y="3781425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5" name="Text 13"/>
          <p:cNvSpPr/>
          <p:nvPr/>
        </p:nvSpPr>
        <p:spPr>
          <a:xfrm>
            <a:off x="12522250" y="4029075"/>
            <a:ext cx="46633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522250" y="4438650"/>
            <a:ext cx="466332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complex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5490121"/>
            <a:ext cx="16383000" cy="1251496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5490121"/>
            <a:ext cx="57150" cy="12514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5737771"/>
            <a:ext cx="162269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95400" y="6147346"/>
            <a:ext cx="1622698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· T-cell mediated</a:t>
            </a:r>
            <a:endParaRPr lang="en-US" sz="1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51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 — IgE-mediated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(minutes).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Effector cells: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 cells, basophils.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 → IgE → mast-cell activation → histamine release.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Asthma, seasonal allergies, anaphylaxis.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524000" y="6150918"/>
            <a:ext cx="1414462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minutes after peanut exposure → wheezing &amp; hives = Type I.</a:t>
            </a:r>
            <a:endParaRPr lang="en-US" sz="2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51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 — Cytotoxic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IgG, IgM.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Effector cells: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 cells, macrophages, neutrophils.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 bind cell-surface antigen → cell destruction.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hemolytic anemia, hemolytic disease of the newborn, Graves disease, myasthenia gravis, rheumatic fever, thrombocytopenia, hyperacute transplant rejection.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51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III — Immune complex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IgG, IgM.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Effector cells: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Neutrophils.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complexes deposit in tissues → inflammation.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lupus erythematosus, serum sickness, post-streptococcal glomerulonephritis, Farmer's lung, Arthus reaction.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51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IV — Delayed, cell-mediated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(24–72 hours).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Effector cells: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lymphocytes, macrophages.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cells release cytokines → inflammation.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ivy, nickel/latex sensitivity, PPD (TB skin test), contact dermatitis, chronic transplant rejection, GVHD, Type 1 Diabetes, multiple sclerosis.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51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 summary — ACID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19646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16027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2921943" y="2185988"/>
            <a:ext cx="229225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41018" y="2347913"/>
            <a:ext cx="1930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14193" y="2185988"/>
            <a:ext cx="726117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33268" y="2347913"/>
            <a:ext cx="70408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475369" y="2185988"/>
            <a:ext cx="485536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94444" y="2347913"/>
            <a:ext cx="45628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2795588"/>
            <a:ext cx="19646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2938463"/>
            <a:ext cx="16027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2921943" y="2795588"/>
            <a:ext cx="2292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1018" y="2938463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214193" y="2795588"/>
            <a:ext cx="726117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3268" y="2938463"/>
            <a:ext cx="7040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llergic — IgE → mast cells → histamine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475369" y="2795588"/>
            <a:ext cx="485536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94444" y="2938463"/>
            <a:ext cx="45628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Anaphylaxis, asthma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3418433"/>
            <a:ext cx="19646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3561308"/>
            <a:ext cx="16027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2921943" y="3418433"/>
            <a:ext cx="229225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1018" y="3561308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4193" y="3418433"/>
            <a:ext cx="726117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268" y="3561308"/>
            <a:ext cx="7040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highlight>
                  <a:srgbClr val="F5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ytotoxic — IgG/IgM bind cell antigens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475369" y="3418433"/>
            <a:ext cx="485536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94444" y="3561308"/>
            <a:ext cx="45628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HDN, Graves, myasthenia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041279"/>
            <a:ext cx="19646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184154"/>
            <a:ext cx="16027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2921943" y="4041279"/>
            <a:ext cx="2292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1018" y="4184154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III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5214193" y="4041279"/>
            <a:ext cx="726117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33268" y="4184154"/>
            <a:ext cx="7040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mmune-complex deposition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75369" y="4041279"/>
            <a:ext cx="485536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94444" y="4184154"/>
            <a:ext cx="45628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SLE, serum sickness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57263" y="4664125"/>
            <a:ext cx="19646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6338" y="4807000"/>
            <a:ext cx="160273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2921943" y="4664125"/>
            <a:ext cx="229225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1018" y="4807000"/>
            <a:ext cx="19303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IV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5214193" y="4664125"/>
            <a:ext cx="726117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3268" y="4807000"/>
            <a:ext cx="704086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highlight>
                  <a:srgbClr val="F5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elayed — T-cell mediated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475369" y="4664125"/>
            <a:ext cx="485536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694444" y="4807000"/>
            <a:ext cx="456288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PPD, contact dermatitis</a:t>
            </a:r>
            <a:endParaRPr lang="en-US" sz="19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51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Transplant rejection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24876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324013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28991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799487" y="2185988"/>
            <a:ext cx="953125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18562" y="2347913"/>
            <a:ext cx="9379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Hyperacute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324013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289919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to hours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799487" y="2795588"/>
            <a:ext cx="9531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8562" y="2938463"/>
            <a:ext cx="937903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Pre-existing antibodies to graft antigens (Type II)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324013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289919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months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799487" y="3418433"/>
            <a:ext cx="953125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8562" y="3561308"/>
            <a:ext cx="937903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Cell-mediated immune response (Type IV)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324013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289919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to years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799487" y="4041279"/>
            <a:ext cx="953125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8562" y="4184154"/>
            <a:ext cx="937903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cell-mediated reaction against minor HLA antigens</a:t>
            </a:r>
            <a:endParaRPr lang="en-US" sz="1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51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31181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nursing student develops a firm, raised, red induration 48 hours after a TB skin test. Which hypersensitivity type?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 — IgE-mediated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 — cytotoxic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III — immune complex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IV — T-cell mediated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51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10905"/>
            <a:ext cx="8594217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disorders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4975771"/>
            <a:ext cx="85942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prompts: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26820" y="5709196"/>
            <a:ext cx="81457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autoimmune disease?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 within the body when you have one?</a:t>
            </a:r>
            <a:endParaRPr lang="en-US" sz="1200" dirty="0"/>
          </a:p>
          <a:p>
            <a:pPr algn="l" marL="106680" indent="-106680"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some examples you've encountered in clinic?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0" y="0"/>
            <a:ext cx="8229600" cy="10287000"/>
          </a:xfrm>
          <a:prstGeom prst="rect">
            <a:avLst/>
          </a:prstGeom>
          <a:solidFill>
            <a:srgbClr val="EBE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887254" y="9582150"/>
            <a:ext cx="2095946" cy="40005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039654" y="9677400"/>
            <a:ext cx="18673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autoimmune image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diseases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2185988"/>
            <a:ext cx="465266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2347913"/>
            <a:ext cx="4354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194429" y="2185988"/>
            <a:ext cx="71363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13504" y="2347913"/>
            <a:ext cx="6912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lupus erythematosus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541764" y="2795588"/>
            <a:ext cx="46526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839" y="2938463"/>
            <a:ext cx="43540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Multisystem (DNA, nuclear)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194429" y="2795588"/>
            <a:ext cx="71363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13504" y="2938463"/>
            <a:ext cx="6912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+ANA, malar rash, nephritis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Rheumatoid arthritis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3418433"/>
            <a:ext cx="46526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3561308"/>
            <a:ext cx="43540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Synovial joints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194429" y="3418433"/>
            <a:ext cx="71363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13504" y="3561308"/>
            <a:ext cx="6912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joint inflammation, +RF/anti-CCP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Hashimoto thyroiditis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541764" y="4041279"/>
            <a:ext cx="46526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839" y="4184154"/>
            <a:ext cx="43540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 gland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194429" y="4041279"/>
            <a:ext cx="71363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13504" y="4184154"/>
            <a:ext cx="6912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Hypothyroid, anti-TPO antibodies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Graves disease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541764" y="4664125"/>
            <a:ext cx="46526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839" y="4807000"/>
            <a:ext cx="43540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 receptor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194429" y="4664125"/>
            <a:ext cx="71363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13504" y="4807000"/>
            <a:ext cx="6912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Hyperthyroid, exophthalmos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sclerosis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541764" y="5286970"/>
            <a:ext cx="465266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839" y="5429845"/>
            <a:ext cx="43540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 myelin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194429" y="5286970"/>
            <a:ext cx="71363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13504" y="5429845"/>
            <a:ext cx="6912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Relapsing neurologic deficits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57263" y="5909816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6338" y="6052691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 diabetes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5541764" y="5909816"/>
            <a:ext cx="465266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839" y="6052691"/>
            <a:ext cx="43540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β-cells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0194429" y="5909816"/>
            <a:ext cx="71363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13504" y="6052691"/>
            <a:ext cx="6912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deficiency</a:t>
            </a:r>
            <a:endParaRPr lang="en-US" sz="19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51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(congenital)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anomaly — usually a single gene defect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Rare; often appears early in life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SCID, DiGeorge, Wiskott-Aldrich, Bruton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(acquired)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Caused by another illness or treatment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more common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Malignancy, immunosuppressants, AIDS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51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 reactions — review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886771" y="2185988"/>
            <a:ext cx="1244396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846" y="2347913"/>
            <a:ext cx="123791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886771" y="2795588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5846" y="2938463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Deleterious effects of hypersensitivity to environmental (exogenous) antigens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Autoimmunity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886771" y="3418433"/>
            <a:ext cx="12443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846" y="3561308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Disturbance in the immunologic tolerance of self-antigens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Alloimmunity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886771" y="4041279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846" y="4184154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reaction to tissues of another individual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886771" y="4664125"/>
            <a:ext cx="12443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5846" y="4807000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insufficient to protect the host</a:t>
            </a:r>
            <a:endParaRPr lang="en-US" sz="19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51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progression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248409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06499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with pathogen.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66519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427190" y="2181225"/>
            <a:ext cx="2484239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427190" y="2181225"/>
            <a:ext cx="2484239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4674840" y="2466975"/>
            <a:ext cx="20651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74840" y="2790825"/>
            <a:ext cx="20651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74840" y="3209925"/>
            <a:ext cx="206513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 replicates; no symptoms.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40029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7902029" y="2181225"/>
            <a:ext cx="248409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2029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8149679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49679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Prodromal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149679" y="3209925"/>
            <a:ext cx="206499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Mild, nonspecific symptoms.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61472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1376720" y="2181225"/>
            <a:ext cx="248409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7672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437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62437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Illness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624370" y="3209925"/>
            <a:ext cx="206499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Severe, characteristic symptoms.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08941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14851410" y="2181225"/>
            <a:ext cx="248409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1410" y="2181225"/>
            <a:ext cx="248409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Text 27"/>
          <p:cNvSpPr/>
          <p:nvPr/>
        </p:nvSpPr>
        <p:spPr>
          <a:xfrm>
            <a:off x="15099060" y="2466975"/>
            <a:ext cx="20649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099060" y="2790825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5099060" y="3209925"/>
            <a:ext cx="206499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resolve; immunity may form.</a:t>
            </a:r>
            <a:endParaRPr lang="en-US" sz="16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547146"/>
            <a:ext cx="209550" cy="2667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76350" y="455667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6635859" y="455667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51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Wound healing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Hemostasis — vasoconstriction, platelet plug, fibrin clot.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Neutrophils, macrophages clear debris.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Proliferation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Granulation tissue, angiogenesis, epithelialization.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Remodeling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Collagen reorganization; scar matures.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4699546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of delay: persistent redness, drainage, slow closure.</a:t>
            </a:r>
            <a:endParaRPr lang="en-US" sz="16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890046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489957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489957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51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917603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SLIDES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393853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deep dive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540573"/>
            <a:ext cx="68675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Hypersensitivity, autoimmunity, alloimmunity, transfusion, transplant, and HIV/AIDS.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51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 reactions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886771" y="2185988"/>
            <a:ext cx="1244396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846" y="2347913"/>
            <a:ext cx="123791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886771" y="2795588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5846" y="2938463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Deleterious effects of hypersensitivity to environmental (exogenous) antigens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Autoimmunity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886771" y="3418433"/>
            <a:ext cx="12443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846" y="3561308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Disturbance in the immunologic tolerance of self-antigens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Alloimmunity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886771" y="4041279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846" y="4184154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reaction to tissues of another individual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886771" y="4664125"/>
            <a:ext cx="12443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5846" y="4807000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insufficient to protect the host</a:t>
            </a:r>
            <a:endParaRPr lang="en-US" sz="19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51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Allergy &amp; anaphylaxis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environmental antigens producing atypical responses (pollens, molds, foods, animals, smoke, dust).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hypersensitivity; usually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Anaphylaxis: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rapid and severe — minutes after re-exposure; systemic or cutaneous.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triggers: bee stings, peanuts, shellfish, eggs.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Desensitization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reduce severity but can also provoke anaphylaxis.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51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Autoimmunity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Genetic, environmental, and random factors converge.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self-antigens normally hidden from the immune system.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of tolerance → body recognizes self-antigens as foreign.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RA, type 1 diabetes, MS, Graves, Hashimoto.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51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lupus erythematosus (SLE)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2651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autoimmune disease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multisystem inflammation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Autoantibodies against nucleic acids, histones, ribonucleoproteins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Immune-complex deposition (Type II/III)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common in females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manifestations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2304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Arthralgias / arthritis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Vasculitis and rash (malar, photosensitive)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Lupus nephritis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Hematologic changes; cardiovascular disease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positive ANA screen + clinical criteria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51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HYPERSENSITIVITY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Alloimmunity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against another individual's tissues.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reactions, transplant rejection, fetal antigens during pregnancy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Alloantigens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non-self antigens from members of the same species.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blood-group antigens (ABO, Rh) and histocompatibility antigens (HLA).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51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reactions — ABO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29470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25973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904357" y="2185988"/>
            <a:ext cx="412164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23432" y="2347913"/>
            <a:ext cx="3807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Antigens on RBC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026003" y="2185988"/>
            <a:ext cx="48820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5078" y="2347913"/>
            <a:ext cx="45903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 in plasma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908012" y="2185988"/>
            <a:ext cx="442272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27087" y="2347913"/>
            <a:ext cx="41172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2795588"/>
            <a:ext cx="29470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2938463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3904357" y="2795588"/>
            <a:ext cx="412164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3432" y="2938463"/>
            <a:ext cx="380714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026003" y="2795588"/>
            <a:ext cx="48820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5078" y="2938463"/>
            <a:ext cx="459031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Anti-B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908012" y="2795588"/>
            <a:ext cx="442272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27087" y="2938463"/>
            <a:ext cx="41172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3418433"/>
            <a:ext cx="29470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3561308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3904357" y="3418433"/>
            <a:ext cx="412164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432" y="3561308"/>
            <a:ext cx="380714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026003" y="3418433"/>
            <a:ext cx="48820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5078" y="3561308"/>
            <a:ext cx="459031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908012" y="3418433"/>
            <a:ext cx="442272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127087" y="3561308"/>
            <a:ext cx="41172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041279"/>
            <a:ext cx="29470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184154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904357" y="4041279"/>
            <a:ext cx="412164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23432" y="4184154"/>
            <a:ext cx="380714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B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026003" y="4041279"/>
            <a:ext cx="48820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5078" y="4184154"/>
            <a:ext cx="459031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908012" y="4041279"/>
            <a:ext cx="442272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127087" y="4184154"/>
            <a:ext cx="41172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recipient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57263" y="4664125"/>
            <a:ext cx="29470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6338" y="4807000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3904357" y="4664125"/>
            <a:ext cx="412164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23432" y="4807000"/>
            <a:ext cx="380714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8026003" y="4664125"/>
            <a:ext cx="48820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5078" y="4807000"/>
            <a:ext cx="459031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 and Anti-B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908012" y="4664125"/>
            <a:ext cx="442272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127087" y="4807000"/>
            <a:ext cx="41172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donor</a:t>
            </a:r>
            <a:endParaRPr lang="en-US" sz="19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51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/ PREGNANCY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blood group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Antigens expressed only on RBCs.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Rh-positive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Rh antigen present.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Rh-negative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absent.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Hemolytic disease of the newborn: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Rh-negative mother carrying an Rh-positive fetus develops anti-Rh antibodies; subsequent pregnancies at risk.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Prevention: Rh immunoglobulin (RhoGAM) at 28 weeks and after delivery.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51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ALLOIMMUNITY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Transplant rejection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molecules (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are the major target.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Hyperacute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immediate; rare; pre-existing antibody to graft.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days to months; cell-mediated immune response.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months to years; weak cell-mediated reaction against minor HLA antigens.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51</a:t>
            </a:r>
            <a:endParaRPr lang="en-US" sz="1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IMMUNOPATHOLOGY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of immune mechanisms to function normally → ↑ susceptibility to infection.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(congenital):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anomaly.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(acquired):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caused by another illness — far more common.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clue: unusual or recurrent severe infections.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T-cell defects → viral, fungal, atypical organisms. B-cell / phagocyte defects → encapsulated bacteria.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51</a:t>
            </a:r>
            <a:endParaRPr lang="en-US" sz="1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immune deficiencies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are the result of a single gene defect; generally not inherited.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appear early or late in life. Rare but increasing.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groups: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phagocytic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innate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51</a:t>
            </a:r>
            <a:endParaRPr lang="en-US" sz="1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deficiencies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457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combined immunodeficiency — few detectable lymphocytes; underdeveloped thymus; ↓ IgM/IgA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lymphocyte deficiency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765054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907929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 B/T cells but defective cooperation; inability to produce MHC class I/II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Wiskott-Aldrich syndrome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38790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53077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Depressed IgM production with bleeding (thrombocytopenia)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501074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515362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DiGeorge syndrome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869186" y="501074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8261" y="515362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or partial lack of thymus and parathyroid → calcium deficiency</a:t>
            </a:r>
            <a:endParaRPr lang="en-US" sz="19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51</a:t>
            </a:r>
            <a:endParaRPr lang="en-US" sz="1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Predominantly antibody deficiencies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immune deficiency.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Defective B-cell development; may affect one antibody class or several.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Hypogammaglobulinemia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reduced antibody levels.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Agammaglobulinemia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near absence of antibodies.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Bruton agammaglobulinemia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X-linked; absent B cells.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51</a:t>
            </a:r>
            <a:endParaRPr lang="en-US" sz="1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Phagocyte &amp; innate defects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Phagocyte defects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Inadequate numbers or defective function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granulomatous disease (CGD)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defect in myeloperoxidase-H₂O₂ system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48791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pneumonia; tumor-like granulomata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Innate immunity defects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in capacity to produce immune response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mucocutaneous candidiasis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severe recurrent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infections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51</a:t>
            </a:r>
            <a:endParaRPr lang="en-US" sz="1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 deficiencies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deficiency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most severe; central role in cascade; recurrent life-threatening infections.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Mannose-binding lectin (MBL) deficiency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primary defect of lectin pathway; ↑ risk of mannose-rich encapsulated organisms.</a:t>
            </a:r>
            <a:endParaRPr lang="en-US" sz="2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51</a:t>
            </a:r>
            <a:endParaRPr lang="en-US" sz="1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for primary immune deficiencies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missing component.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IVIg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intravenous immune globulin.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Stem-cell transplantation; bone-marrow transplant.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transfusion when indicated.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Mesenchymal stem cell injection.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51</a:t>
            </a:r>
            <a:endParaRPr lang="en-US" sz="1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DEFICIENCIES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immune deficiencies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 — far more common than primary.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clinically irrelevant; minor without ↑ susceptibility.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substantial but short-lived.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causes: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malignancy, immunosuppressive therapy, AIDS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51</a:t>
            </a:r>
            <a:endParaRPr lang="en-US" sz="16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Malignancies &amp; immunosuppressive treatment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Malignancies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Late-stage malignancies → generalized immune deficiency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risk of opportunistic infection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will die from infection rather than the tumor itself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Immunosuppressive therapy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Corticosteroids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Chemotherapeutic agents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Irradiation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Anti-rejection drugs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51</a:t>
            </a:r>
            <a:endParaRPr lang="en-US" sz="1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DEFICIENCY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AIDS — HIV overview &amp; structure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AIDS is the most advanced stage of HIV infection — depletes Th cells, generalized immune deficiency.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Blood-borne pathogen; heterosexual activity is the most common route worldwide; women affected more often.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Retrovirus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RNA genome inside a capsid + envelope.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transcriptase, integrase, protease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glycoproteins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gp120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gp41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51</a:t>
            </a:r>
            <a:endParaRPr lang="en-US" sz="16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 life cycle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gp120 binds CD4 on Th lymphocyte.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capsid releases into cytoplasm.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transcriptase + integrase insert viral DNA into host genome.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virions form and release wrapped in host membrane — evades adaptive attack.</a:t>
            </a:r>
            <a:endParaRPr lang="en-US" sz="16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547146"/>
            <a:ext cx="20955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6350" y="4556671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35859" y="4556671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51</a:t>
            </a:r>
            <a:endParaRPr lang="en-US" sz="16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 — diagnosis, treatment, pediatric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&amp; treatment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AIDS dx: CD4+ count &lt; 200/mm³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89896"/>
            <a:ext cx="5851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177951" y="3689896"/>
            <a:ext cx="26939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combination therapy: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6845" y="4065091"/>
            <a:ext cx="7107555" cy="2304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Chemokine receptor inhibitors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inhibitors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transcriptase inhibitors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Integrase inhibitors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Protease inhibitors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" y="6464945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reduces mortality; not curative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AIDS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6564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Transmitted in pregnancy, at delivery, or via breastfeeding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in pregnancy markedly reduces transmission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 involvement common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progression — treat at diagnosis</a:t>
            </a:r>
            <a:endParaRPr lang="en-US" sz="1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2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51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2026-04-30T13:11:16Z</dcterms:created>
  <dcterms:modified xsi:type="dcterms:W3CDTF">2026-04-30T13:11:16Z</dcterms:modified>
</cp:coreProperties>
</file>