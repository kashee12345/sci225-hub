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12 — the Reproductive Systems. We cover female and male reproductive physiology and the disorders that follow from the hormonal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agenda — female system, male system, and clinical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weekly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reading and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12 — Week Twelve.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female reproductive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menstrual cycle — the hypothalamus-pituitary-ovary-uterus relay.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Progesterone is the stay hormone — its withdrawal triggers menstruation.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Menstrual and ovulatory disorders — PCOS, dysmenorrhea, abnormal bleeding.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PCOS in depth — insulin resistance to anovulation.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and proliferative disorders — endometriosis, fibroids, hyperplasia.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Infections, PID, and menopause.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progesterone withdrawal.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PCOS anovulation.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PID and ectopic pregnancy.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male reproductive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Male physiology — testosterone, sperm, erection as a vascular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Testicular and scrotal disorders — torsion versus epididymitis.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Prostate disorders — BPH versus cancer.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Erectile and sexual dysfunction.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sperm motility.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testicular torsion.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prostate obstruction.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applying reproductive pathophysiology.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the hormonal logic ties 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716661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716661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Reproductive Systems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gradFill rotWithShape="1">
            <a:gsLst>
              <a:gs pos="0">
                <a:srgbClr val="1A3260">
                  <a:alpha val="55000"/>
                </a:srgbClr>
              </a:gs>
              <a:gs pos="60000">
                <a:srgbClr val="1A3260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rcRect l="20680" r="2068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292066" y="9648825"/>
            <a:ext cx="169113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425416" y="9725025"/>
            <a:ext cx="15006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week 12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reproductive — cycle &amp; disorders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PCOS, endometriosis &amp; menopause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reproductive — testicular &amp; prostate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checks &amp; discussion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26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TWELVE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structure, function, and hormonal control of the female reproductive system.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alterations of female and male reproductive function and their consequences.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clinical manifestations of common reproductive disorders.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26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reproductive structure &amp; alterations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reproductive structure &amp; alterations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Study Guide — covers all objectives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773662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5373737"/>
            <a:ext cx="7374255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Menstrual cycle hormone diagram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Scrotal pain differential refresher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PCOS diagnostic criteria overview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Torsion vs. epididymitis quick reference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Reproductive cheat sheet — highest-yield patterns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26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591550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710434"/>
            <a:ext cx="859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TWELVE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186684"/>
            <a:ext cx="85915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Twelve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333405"/>
            <a:ext cx="686752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reproductive systems — the menstrual cycle and its disorders, PCOS and endometriosis, testicular emergencies, and prostate disease.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26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596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Pre-Assessment — complete before the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apply reproductive pathophysiology to a clinical scenario;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covers the menstrual cycle, PCOS, scrotal emergencies, and prostate disease.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apply hormonal logic to a patient presentation.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— PCOS, endometriosis, testicular torsion, and BPH. Bring your reading notes.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FEMALE REPRODUCTIVE SYSTEM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menstrual cycle and its hormonal control, then trace the disorders of ovulation, structure, infection, and menopause back to that hormonal logic.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26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menstrual cycle &amp; hormonal control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" y="20859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hormonal relay: hypothalamus → pituitary → ovary → uterus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(source)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869186" y="258603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8261" y="274796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7263" y="3195638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6338" y="3338513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GnRH (hypothalamus)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869186" y="3195638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8261" y="3338513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the pituitary to release FSH &amp; LH; rises at puberty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7263" y="3818483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338" y="3961358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(pituitary)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869186" y="3818483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8261" y="3961358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Stimulates ovarian follicles to mature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441329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584204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(pituitary)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869186" y="4441329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8261" y="4584204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LH surge triggers ovulation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7263" y="5064175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6338" y="5207050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Estrogen (follicle)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5869186" y="5064175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8261" y="5207050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up (proliferates) the endometrium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7263" y="5687020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6338" y="5829895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(corpus luteum)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5869186" y="5687020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8261" y="5829895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ovulation, maintains/stabilizes the endometrium for possible pregnancy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3350" y="6505129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hook: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grows the egg · LH "launches" ovulation · corpus luteum = progesterone = "pro-gestation."</a:t>
            </a:r>
            <a:endParaRPr lang="en-US" sz="18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26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cycle — progesterone is the "stay" hormone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3009900"/>
            <a:ext cx="335280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009900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295650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3619500"/>
            <a:ext cx="3143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Follicle matures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4038600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matures a follicle → estrogen rises → endometrium thickens.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3009900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3009900"/>
            <a:ext cx="335280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3009900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3295650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3619500"/>
            <a:ext cx="29432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surge → ovulation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4381500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 released; fertilization usually in the fallopian tube (ampulla).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3009900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3009900"/>
            <a:ext cx="335280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3009900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3295650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3619500"/>
            <a:ext cx="3143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luteum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4038600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Ruptured follicle makes progesterone to hold the lining.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3009900"/>
            <a:ext cx="609600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3009900"/>
            <a:ext cx="3352800" cy="24802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3009900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3295650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3619500"/>
            <a:ext cx="3143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Menstruation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4038600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pregnancy → progesterone falls → lining loses support and sheds.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3350" y="5871121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withdrawal removes endometrial support → the lining breaks down and sheds.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26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Menstrual &amp; ovulatory disorders — PCOS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PCOS chain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82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resistance → high insulin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insulin → excess ovarian androgens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Androgens disrupt the LH surge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chronic anovulation → infertility, acne, hirsutism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disorders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096500" y="3181350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dysmenorrhea: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prostaglandins → cramping + ↓ uterine blood flow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96500" y="400794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 uterine bleeding: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anovulation → no progesterone → lining overgrows then sheds irregularly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96500" y="4834533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Amenorrhea: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periods — hormonal or structural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" y="89344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in PCOS: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endometrial cancer (unopposed estrogen) and type 2 diabetes (insulin resistance).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26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&amp; proliferative disorders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150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5845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2838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541764" y="2185988"/>
            <a:ext cx="645437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839" y="2347913"/>
            <a:ext cx="62098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996142" y="2185988"/>
            <a:ext cx="53345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15217" y="2347913"/>
            <a:ext cx="50564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58450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428388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Endometriosis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541764" y="2795588"/>
            <a:ext cx="645437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839" y="2938463"/>
            <a:ext cx="6209859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Ectopic endometrial tissue outside the uterus that still responds to cyclic hormones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996142" y="2795588"/>
            <a:ext cx="5334595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15217" y="2938463"/>
            <a:ext cx="505648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Cyclic bleeding → inflammation, pelvic adhesions, pain, infertility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Uterine fibroids (leiomyoma)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541764" y="3765054"/>
            <a:ext cx="645437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839" y="3907929"/>
            <a:ext cx="620985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smooth-muscle tumors of the uterus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996142" y="3765054"/>
            <a:ext cx="53345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15217" y="3907929"/>
            <a:ext cx="505648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bleeding, bulk/pressure symptoms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387900"/>
            <a:ext cx="458450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530775"/>
            <a:ext cx="428388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Endometrial hyperplasia / cancer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541764" y="4387900"/>
            <a:ext cx="645437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839" y="4530775"/>
            <a:ext cx="6209859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Overgrowth from prolonged estrogen without progesterone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996142" y="4387900"/>
            <a:ext cx="5334595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15217" y="4530775"/>
            <a:ext cx="505648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 bleeding; can progress to cancer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357366"/>
            <a:ext cx="4584502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500241"/>
            <a:ext cx="428388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Androgen insensitivity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541764" y="5357366"/>
            <a:ext cx="645437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839" y="5500241"/>
            <a:ext cx="6209859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Genetically male, body can't respond to androgens; no uterus develops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996142" y="5357366"/>
            <a:ext cx="5334595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15217" y="5500241"/>
            <a:ext cx="505648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menstruation (no endometrium to shed)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706755" y="6522095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 — unopposed estrogen: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estrogen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lining; progesterone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it. Estrogen for a long time without progesterone → hyperplasia → endometrial cancer.</a:t>
            </a:r>
            <a:endParaRPr lang="en-US" sz="18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26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Infections, PID &amp; menopause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Vaginitis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Disrupted flora / raised vaginal pH lets microorganisms overgrow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Douching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418433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561308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Washes out protective flora → ↑ pH → infection risk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Postmenopausal vaginitis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041279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184154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estrogen thins/atrophies the lining and raises pH → infection risk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→ ectopic pregnancy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869186" y="4664125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8261" y="4807000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scars the fallopian tubes → egg implants in the tube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7263" y="5286970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6338" y="5429845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Menopause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869186" y="5286970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8261" y="5429845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Ovarian estrogen declines → cycles stop; atrophy, vasomotor symptoms, bone loss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3350" y="6105079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estrogen keeps the vagina acidic and protective. Less estrogen (menopause) or washed-out flora (douching) → higher pH → more infections.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26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luteum degenerates and progesterone falls. Which mechanism leads to menstruation?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endometrial support causing tissue breakdown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estrogen thickening the lining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LH surge triggering ovulation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progesterone stabilizing the lining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26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pathophysiologic mechanism best explains chronic anovulation in PCOS?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insulin raises androgens and disrupts the LH surge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insulin promotes normal follicular maturation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androgens prevent follicle growth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progesterone blocks ovulation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26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a history of PID is at increased ectopic pregnancy risk. Which change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Fallopian tube scarring blocking normal egg transport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Thickened endometrium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ovarian reserve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progesterone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26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MALE REPRODUCTIVE SYSTEM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male reproductive physiology and its disorders — scrotal emergencies, prostate disease, and erectile dysfunction.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26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JOBS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physiology, sperm &amp; aging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(Leydig cells):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testosterone; sperm form in the seminiferous tubules.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Epididymis: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 mature and gain motility here.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 flagellum (tail):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motility; tail dysfunction → impaired sperm movement.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is a vascular event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arterial inflow fills the erectile tissue while venous outflow is restricted to trap it.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testosterone gradually declines → ↓ libido, ↓ muscle mass, slower sperm production, more erectile and prostate issues.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26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Testicular &amp; scrotal disorders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886771" y="2185988"/>
            <a:ext cx="1244396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5846" y="2347913"/>
            <a:ext cx="123791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/ clues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Testicular torsion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886771" y="2795588"/>
            <a:ext cx="124439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5846" y="2938463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Spermatic cord twists → ischemia.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Sudden, severe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pain, nausea, high-riding testicle.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emergency.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Epididymitis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886771" y="3418433"/>
            <a:ext cx="124439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5846" y="3561308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highlight>
                  <a:srgbClr val="F5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Often STI;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highlight>
                  <a:srgbClr val="F5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pain/swelling +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burning urination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highlight>
                  <a:srgbClr val="F5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(dysuria)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Orchitis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886771" y="4041279"/>
            <a:ext cx="124439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5846" y="4184154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Testicular inflammation, classically after a viral illness (mumps) → fever + painful swelling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Varicocele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886771" y="4664125"/>
            <a:ext cx="124439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5846" y="4807000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Dilated scrotal veins → pooled blood raises temperature → reduced sperm quality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7263" y="5286970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6338" y="5429845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Cryptorchidism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4886771" y="5286970"/>
            <a:ext cx="124439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5846" y="5429845"/>
            <a:ext cx="123791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Undescended testis → ↑ risk of infertility and testicular cancer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3350" y="6105079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torsion =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ischemic pain, high-riding testicle (minutes matter); epididymitis =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with STI and dysuria. Timing + dysuria separate them.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26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Prostate disorders — BPH vs. cancer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2579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BPH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enlargement — very common with aging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Enlarged prostate compresses the urethra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Hesitancy, weak stream, incomplete emptying, nocturia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62579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Prostate cancer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 growth, often peripheral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compresses/obstructs the urethra (often later)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asymptomatic early; can metastasize to bone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6755" y="8667750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urinary symptoms of both come from the same mechanism — the enlarged prostate compressing the urethra. Cancer must be ruled out (exam, PSA).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26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VASCULAR PROBLEM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Erectile &amp; sexual dysfunction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 ED: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arterial inflow can't fill the erectile tissue — atherosclerosis, diabetes, hypertension. Often the first sign of systemic vascular disease.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Priapism: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prolonged, unwanted erection → trapped blood becomes deoxygenated → ischemia damages erectile tissue → later ED.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 ED = not enough inflow (a "pipe" problem). Priapism is the opposite — blood gets stuck, goes ischemic, and the damage causes later ED, which is why prolonged priapism is an emergency.</a:t>
            </a:r>
            <a:endParaRPr lang="en-US" sz="2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26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has impaired sperm motility. Dysfunction of which structure best explains this?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sperm flagellum (tail)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prostate gland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seminal vesicle duct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bladder neck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26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17-year-old has sudden severe unilateral scrotal pain during sports, nausea, and a testicle positioned higher than the other. Which process explains this?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Spermatic cord twisting cutting off blood supply (ischemia)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STI-related inflammation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Dilated scrotal veins raising temperature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Post-viral testicular inflammation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26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older adult reports urinary hesitancy, a weak stream, and incomplete bladder emptying. What is the cause?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enlarged prostate compressing the urethra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Bladder muscle hypertrophy increasing flow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Urethral widening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prostate size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26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687690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66641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 · SELECT ALL THAT APPLY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01990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28-year-old with PCOS asks what she should be monitored for over time. Which long-term risks are increased by her anovulation and insulin resistance?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Endometrial hyperplasia / cancer (unopposed estrogen)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 diabetes mellitus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Infertility from chronic anovulation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menopause from high progesterone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49681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9675" y="51872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5" name="Text 23"/>
          <p:cNvSpPr/>
          <p:nvPr/>
        </p:nvSpPr>
        <p:spPr>
          <a:xfrm>
            <a:off x="1171575" y="51872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914525" y="51872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syndrome &amp; cardiovascular risk</a:t>
            </a:r>
            <a:endParaRPr lang="en-US" sz="19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26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reproductive disorder — PCOS, endometriosis, testicular torsion, or BPH — and trace it from the underlying hormonal or structural mechanism to the patient's presenting symptoms. How would understanding that mechanism shape your nursing assessment and teaching?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 — WEEK 12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26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652713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4214813"/>
            <a:ext cx="14716125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hormonal sequence — FSH grows, LH launches, progesterone holds — and almost every reproductive disorder becomes predictable. The same logic that explains a normal cycle explains why it breaks.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339012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· PATHOPHYSIOLOGY COURSE INSTRUCTOR · NIGHTINGALE COLLEGE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12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26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2026-06-28T14:36:26Z</dcterms:created>
  <dcterms:modified xsi:type="dcterms:W3CDTF">2026-06-28T14:36:26Z</dcterms:modified>
</cp:coreProperties>
</file>