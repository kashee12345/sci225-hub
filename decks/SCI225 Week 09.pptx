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9 — the heart of the matter, literally. Cardiovascular pathophysiology is one of the most clinically applicable modules in the entire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agenda — four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weekly learning objectives — structure and function, cardiovascular alterations, and clinical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Required reading is Chapters 26 and 27 — cardiovascular structure, function, and alterations.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Module 9 — Week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due this week — pre-assessment, discussion, webinar quiz, case study, and the Cardiac Care assignment. All by Saturday July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objective — recall the structure and function of the cardiovascular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anatomy — chambers, valves, layers, and the conduction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cardiac cycle — systole and diastole, filling and 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Coronary circulation — RCA, LCA, LAD, circumflex. Where MIs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Cardiac output — stroke volume × heart rate. Preload, afterload, contractility.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pressure regulation — short term (baroreceptors) and long term (RAAS, ADH).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oxygen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left ventricle wall thickness.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one-way blood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objective — alterations of cardiovascular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Atherosclerosis — the foundation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Modifiable vs. non-modifiable cardiovascular risk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Hypertension — primary and secondary; end-organ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Coronary artery disease — stable angina, unstable angina, 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Acute coronary syndrome — STEMI, NSTEMI, unstable angina.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failure — left-sided versus right-sided, systolic versus diastolic.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Pericarditis — the classic triad: pleuritic pain, friction rub, diffuse ST elevation.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Endocarditis and valvular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endothelial injury.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stable angina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modifiable risk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acute pericarditis.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objective — clinical management and nursing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management — MONA-B, time-is-muscle, troponin trending.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failure management — preload, afterload, contractility levers.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Pericarditis management — NSAIDs, colchicine, watch for tamponade.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Hypertension management — lifestyle plus pharmacology.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heart failure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 cardiology is the heart of nursing. Tie pathophysiology to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00" cy="10287000"/>
          </a:xfrm>
          <a:prstGeom prst="rect">
            <a:avLst/>
          </a:prstGeom>
          <a:solidFill>
            <a:srgbClr val="1A3260"/>
          </a:solidFill>
          <a:ln/>
        </p:spPr>
      </p:sp>
      <p:pic>
        <p:nvPicPr>
          <p:cNvPr id="3" name="Image 0" descr="preencoded.png">    </p:cNvPr>
          <p:cNvPicPr>
            <a:picLocks noChangeAspect="1"/>
          </p:cNvPicPr>
          <p:nvPr/>
        </p:nvPicPr>
        <p:blipFill>
          <a:blip r:embed="rId1"/>
          <a:stretch>
            <a:fillRect/>
          </a:stretch>
        </p:blipFill>
        <p:spPr>
          <a:xfrm>
            <a:off x="952500" y="762000"/>
            <a:ext cx="266700" cy="342900"/>
          </a:xfrm>
          <a:prstGeom prst="rect">
            <a:avLst/>
          </a:prstGeom>
        </p:spPr>
      </p:pic>
      <p:sp>
        <p:nvSpPr>
          <p:cNvPr id="4" name="Text 1"/>
          <p:cNvSpPr/>
          <p:nvPr/>
        </p:nvSpPr>
        <p:spPr>
          <a:xfrm>
            <a:off x="1390650" y="809625"/>
            <a:ext cx="4720044" cy="276225"/>
          </a:xfrm>
          <a:prstGeom prst="rect">
            <a:avLst/>
          </a:prstGeom>
          <a:noFill/>
          <a:ln/>
        </p:spPr>
        <p:txBody>
          <a:bodyPr wrap="square" lIns="0" tIns="0" rIns="0" bIns="0" rtlCol="0" anchor="t">
            <a:normAutofit/>
          </a:bodyPr>
          <a:lstStyle/>
          <a:p>
            <a:pPr algn="l" indent="0" marL="0">
              <a:buNone/>
            </a:pPr>
            <a:r>
              <a:rPr lang="en-US" sz="1650" b="1" spc="528" kern="0" dirty="0">
                <a:solidFill>
                  <a:srgbClr val="FFFFFF"/>
                </a:solidFill>
                <a:latin typeface="Arial" pitchFamily="34" charset="0"/>
                <a:ea typeface="Arial" pitchFamily="34" charset="-122"/>
                <a:cs typeface="Arial" pitchFamily="34" charset="-120"/>
              </a:rPr>
              <a:t>SCI225 · PATHOPHYSIOLOGY</a:t>
            </a:r>
            <a:endParaRPr lang="en-US" sz="1650" dirty="0"/>
          </a:p>
        </p:txBody>
      </p:sp>
      <p:sp>
        <p:nvSpPr>
          <p:cNvPr id="5" name="Text 2"/>
          <p:cNvSpPr/>
          <p:nvPr/>
        </p:nvSpPr>
        <p:spPr>
          <a:xfrm>
            <a:off x="952500" y="4195316"/>
            <a:ext cx="6710553" cy="970657"/>
          </a:xfrm>
          <a:prstGeom prst="rect">
            <a:avLst/>
          </a:prstGeom>
          <a:noFill/>
          <a:ln/>
        </p:spPr>
        <p:txBody>
          <a:bodyPr wrap="square" lIns="25400" tIns="25400" rIns="25400" bIns="25400" rtlCol="0" anchor="t">
            <a:normAutofit/>
          </a:bodyPr>
          <a:lstStyle/>
          <a:p>
            <a:pPr algn="l" indent="0" marL="0">
              <a:lnSpc>
                <a:spcPct val="102000"/>
              </a:lnSpc>
              <a:buNone/>
            </a:pPr>
            <a:r>
              <a:rPr lang="en-US" sz="7200" b="1" spc="-72" kern="0" dirty="0">
                <a:solidFill>
                  <a:srgbClr val="FFFFFF"/>
                </a:solidFill>
                <a:latin typeface="Arial" pitchFamily="34" charset="0"/>
                <a:ea typeface="Arial" pitchFamily="34" charset="-122"/>
                <a:cs typeface="Arial" pitchFamily="34" charset="-120"/>
              </a:rPr>
              <a:t>Week </a:t>
            </a:r>
            <a:pPr algn="l" indent="0" marL="0">
              <a:lnSpc>
                <a:spcPct val="102000"/>
              </a:lnSpc>
              <a:buNone/>
            </a:pPr>
            <a:r>
              <a:rPr lang="en-US" sz="7200" b="1" spc="-72" kern="0" dirty="0">
                <a:solidFill>
                  <a:srgbClr val="45CBE8"/>
                </a:solidFill>
                <a:latin typeface="Arial" pitchFamily="34" charset="0"/>
                <a:ea typeface="Arial" pitchFamily="34" charset="-122"/>
                <a:cs typeface="Arial" pitchFamily="34" charset="-120"/>
              </a:rPr>
              <a:t>Nine</a:t>
            </a:r>
            <a:endParaRPr lang="en-US" sz="7200" dirty="0"/>
          </a:p>
        </p:txBody>
      </p:sp>
      <p:sp>
        <p:nvSpPr>
          <p:cNvPr id="6" name="Text 3"/>
          <p:cNvSpPr/>
          <p:nvPr/>
        </p:nvSpPr>
        <p:spPr>
          <a:xfrm>
            <a:off x="952500" y="5356473"/>
            <a:ext cx="6710553" cy="514350"/>
          </a:xfrm>
          <a:prstGeom prst="rect">
            <a:avLst/>
          </a:prstGeom>
          <a:noFill/>
          <a:ln/>
        </p:spPr>
        <p:txBody>
          <a:bodyPr wrap="square" lIns="25400" tIns="25400" rIns="25400" bIns="25400" rtlCol="0" anchor="t">
            <a:normAutofit/>
          </a:bodyPr>
          <a:lstStyle/>
          <a:p>
            <a:pPr algn="l" indent="0" marL="0">
              <a:buNone/>
            </a:pPr>
            <a:r>
              <a:rPr lang="en-US" sz="3300" spc="198" kern="0" dirty="0">
                <a:solidFill>
                  <a:srgbClr val="FFFFFF">
                    <a:alpha val="78000"/>
                  </a:srgbClr>
                </a:solidFill>
                <a:latin typeface="Arial" pitchFamily="34" charset="0"/>
                <a:ea typeface="Arial" pitchFamily="34" charset="-122"/>
                <a:cs typeface="Arial" pitchFamily="34" charset="-120"/>
              </a:rPr>
              <a:t>Cardiovascular System</a:t>
            </a:r>
            <a:endParaRPr lang="en-US" sz="3300" dirty="0"/>
          </a:p>
        </p:txBody>
      </p:sp>
      <p:sp>
        <p:nvSpPr>
          <p:cNvPr id="7" name="Text 4"/>
          <p:cNvSpPr/>
          <p:nvPr/>
        </p:nvSpPr>
        <p:spPr>
          <a:xfrm>
            <a:off x="952500" y="8923139"/>
            <a:ext cx="6710553" cy="830461"/>
          </a:xfrm>
          <a:prstGeom prst="rect">
            <a:avLst/>
          </a:prstGeom>
          <a:noFill/>
          <a:ln/>
        </p:spPr>
        <p:txBody>
          <a:bodyPr wrap="square" lIns="25400" tIns="25400" rIns="25400" bIns="25400" rtlCol="0" anchor="t">
            <a:normAutofit/>
          </a:bodyPr>
          <a:lstStyle/>
          <a:p>
            <a:pPr algn="l" indent="0" marL="0">
              <a:lnSpc>
                <a:spcPct val="160000"/>
              </a:lnSpc>
              <a:buNone/>
            </a:pPr>
            <a:r>
              <a:rPr lang="en-US" sz="1950" b="1" dirty="0">
                <a:solidFill>
                  <a:srgbClr val="FFFFFF"/>
                </a:solidFill>
                <a:latin typeface="Arial" pitchFamily="34" charset="0"/>
                <a:ea typeface="Arial" pitchFamily="34" charset="-122"/>
                <a:cs typeface="Arial" pitchFamily="34" charset="-120"/>
              </a:rPr>
              <a:t>Dr. Vidya Aggrawal </a:t>
            </a:r>
            <a:pPr algn="l" indent="0" marL="0">
              <a:lnSpc>
                <a:spcPct val="160000"/>
              </a:lnSpc>
              <a:buNone/>
            </a:pPr>
            <a:r>
              <a:rPr lang="en-US" sz="1950" dirty="0">
                <a:solidFill>
                  <a:srgbClr val="FFFFFF">
                    <a:alpha val="92000"/>
                  </a:srgbClr>
                </a:solidFill>
                <a:latin typeface="Arial" pitchFamily="34" charset="0"/>
                <a:ea typeface="Arial" pitchFamily="34" charset="-122"/>
                <a:cs typeface="Arial" pitchFamily="34" charset="-120"/>
              </a:rPr>
              <a:t>Nightingale College</a:t>
            </a:r>
            <a:endParaRPr lang="en-US" sz="1950" dirty="0"/>
          </a:p>
        </p:txBody>
      </p:sp>
      <p:sp>
        <p:nvSpPr>
          <p:cNvPr id="8" name="Shape 5"/>
          <p:cNvSpPr/>
          <p:nvPr/>
        </p:nvSpPr>
        <p:spPr>
          <a:xfrm>
            <a:off x="8229600" y="0"/>
            <a:ext cx="10058400" cy="10287000"/>
          </a:xfrm>
          <a:prstGeom prst="rect">
            <a:avLst/>
          </a:prstGeom>
          <a:solidFill>
            <a:srgbClr val="1A3260">
              <a:alpha val="55000"/>
            </a:srgbClr>
          </a:solidFill>
          <a:ln/>
        </p:spPr>
      </p:sp>
      <p:pic>
        <p:nvPicPr>
          <p:cNvPr id="9" name="Image 1" descr="preencoded.png">    </p:cNvPr>
          <p:cNvPicPr>
            <a:picLocks noChangeAspect="1"/>
          </p:cNvPicPr>
          <p:nvPr/>
        </p:nvPicPr>
        <p:blipFill>
          <a:blip r:embed="rId2"/>
          <a:srcRect l="0" r="0" t="0" b="0"/>
          <a:stretch/>
        </p:blipFill>
        <p:spPr>
          <a:xfrm>
            <a:off x="8229600" y="0"/>
            <a:ext cx="10058400" cy="10287000"/>
          </a:xfrm>
          <a:prstGeom prst="rect">
            <a:avLst/>
          </a:prstGeom>
        </p:spPr>
      </p:pic>
      <p:sp>
        <p:nvSpPr>
          <p:cNvPr id="10" name="Shape 6"/>
          <p:cNvSpPr/>
          <p:nvPr/>
        </p:nvSpPr>
        <p:spPr>
          <a:xfrm>
            <a:off x="16375856" y="9648825"/>
            <a:ext cx="1607344" cy="333375"/>
          </a:xfrm>
          <a:prstGeom prst="rect">
            <a:avLst/>
          </a:prstGeom>
          <a:solidFill>
            <a:srgbClr val="FFFFFF">
              <a:alpha val="92000"/>
            </a:srgbClr>
          </a:solidFill>
          <a:ln/>
        </p:spPr>
      </p:sp>
      <p:sp>
        <p:nvSpPr>
          <p:cNvPr id="11" name="Text 7"/>
          <p:cNvSpPr/>
          <p:nvPr/>
        </p:nvSpPr>
        <p:spPr>
          <a:xfrm>
            <a:off x="16509206" y="9725025"/>
            <a:ext cx="1416844" cy="219075"/>
          </a:xfrm>
          <a:prstGeom prst="rect">
            <a:avLst/>
          </a:prstGeom>
          <a:noFill/>
          <a:ln/>
        </p:spPr>
        <p:txBody>
          <a:bodyPr wrap="square" lIns="25400" tIns="25400" rIns="25400" bIns="25400" rtlCol="0" anchor="t">
            <a:normAutofit/>
          </a:bodyPr>
          <a:lstStyle/>
          <a:p>
            <a:pPr algn="l" indent="0" marL="0">
              <a:buNone/>
            </a:pPr>
            <a:r>
              <a:rPr lang="en-US" sz="1200" dirty="0">
                <a:solidFill>
                  <a:srgbClr val="3D3D3D"/>
                </a:solidFill>
                <a:latin typeface="ui-monospace" pitchFamily="34" charset="0"/>
                <a:ea typeface="ui-monospace" pitchFamily="34" charset="-122"/>
                <a:cs typeface="ui-monospace" pitchFamily="34" charset="-120"/>
              </a:rPr>
              <a:t>// week 9 visual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TODAY'S SESSION</a:t>
            </a:r>
            <a:endParaRPr lang="en-US" sz="1650" dirty="0"/>
          </a:p>
        </p:txBody>
      </p:sp>
      <p:sp>
        <p:nvSpPr>
          <p:cNvPr id="3" name="Text 1"/>
          <p:cNvSpPr/>
          <p:nvPr/>
        </p:nvSpPr>
        <p:spPr>
          <a:xfrm>
            <a:off x="952500" y="125730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Agenda</a:t>
            </a:r>
            <a:endParaRPr lang="en-US" sz="5700" dirty="0"/>
          </a:p>
        </p:txBody>
      </p:sp>
      <p:sp>
        <p:nvSpPr>
          <p:cNvPr id="4" name="Shape 2"/>
          <p:cNvSpPr/>
          <p:nvPr/>
        </p:nvSpPr>
        <p:spPr>
          <a:xfrm>
            <a:off x="952500" y="3362325"/>
            <a:ext cx="7734300" cy="9525"/>
          </a:xfrm>
          <a:prstGeom prst="rect">
            <a:avLst/>
          </a:prstGeom>
          <a:solidFill>
            <a:srgbClr val="EBEBEB"/>
          </a:solidFill>
          <a:ln/>
        </p:spPr>
      </p:sp>
      <p:sp>
        <p:nvSpPr>
          <p:cNvPr id="5" name="Text 3"/>
          <p:cNvSpPr/>
          <p:nvPr/>
        </p:nvSpPr>
        <p:spPr>
          <a:xfrm>
            <a:off x="952500" y="2752725"/>
            <a:ext cx="914400"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01</a:t>
            </a:r>
            <a:endParaRPr lang="en-US" sz="3300" dirty="0"/>
          </a:p>
        </p:txBody>
      </p:sp>
      <p:sp>
        <p:nvSpPr>
          <p:cNvPr id="6" name="Text 4"/>
          <p:cNvSpPr/>
          <p:nvPr/>
        </p:nvSpPr>
        <p:spPr>
          <a:xfrm>
            <a:off x="2019300" y="2805113"/>
            <a:ext cx="68675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11827"/>
                </a:solidFill>
                <a:latin typeface="Arial" pitchFamily="34" charset="0"/>
                <a:ea typeface="Arial" pitchFamily="34" charset="-122"/>
                <a:cs typeface="Arial" pitchFamily="34" charset="-120"/>
              </a:rPr>
              <a:t>Cardiovascular structure &amp; function</a:t>
            </a:r>
            <a:endParaRPr lang="en-US" sz="2250" dirty="0"/>
          </a:p>
        </p:txBody>
      </p:sp>
      <p:sp>
        <p:nvSpPr>
          <p:cNvPr id="7" name="Shape 5"/>
          <p:cNvSpPr/>
          <p:nvPr/>
        </p:nvSpPr>
        <p:spPr>
          <a:xfrm>
            <a:off x="9601200" y="3362325"/>
            <a:ext cx="7734300" cy="9525"/>
          </a:xfrm>
          <a:prstGeom prst="rect">
            <a:avLst/>
          </a:prstGeom>
          <a:solidFill>
            <a:srgbClr val="EBEBEB"/>
          </a:solidFill>
          <a:ln/>
        </p:spPr>
      </p:sp>
      <p:sp>
        <p:nvSpPr>
          <p:cNvPr id="8" name="Text 6"/>
          <p:cNvSpPr/>
          <p:nvPr/>
        </p:nvSpPr>
        <p:spPr>
          <a:xfrm>
            <a:off x="9601200" y="2752725"/>
            <a:ext cx="914400"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02</a:t>
            </a:r>
            <a:endParaRPr lang="en-US" sz="3300" dirty="0"/>
          </a:p>
        </p:txBody>
      </p:sp>
      <p:sp>
        <p:nvSpPr>
          <p:cNvPr id="9" name="Text 7"/>
          <p:cNvSpPr/>
          <p:nvPr/>
        </p:nvSpPr>
        <p:spPr>
          <a:xfrm>
            <a:off x="10668000" y="2805113"/>
            <a:ext cx="68675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11827"/>
                </a:solidFill>
                <a:latin typeface="Arial" pitchFamily="34" charset="0"/>
                <a:ea typeface="Arial" pitchFamily="34" charset="-122"/>
                <a:cs typeface="Arial" pitchFamily="34" charset="-120"/>
              </a:rPr>
              <a:t>CAD, MI &amp; heart failure</a:t>
            </a:r>
            <a:endParaRPr lang="en-US" sz="2250" dirty="0"/>
          </a:p>
        </p:txBody>
      </p:sp>
      <p:sp>
        <p:nvSpPr>
          <p:cNvPr id="10" name="Shape 8"/>
          <p:cNvSpPr/>
          <p:nvPr/>
        </p:nvSpPr>
        <p:spPr>
          <a:xfrm>
            <a:off x="952500" y="4381500"/>
            <a:ext cx="7734300" cy="9525"/>
          </a:xfrm>
          <a:prstGeom prst="rect">
            <a:avLst/>
          </a:prstGeom>
          <a:solidFill>
            <a:srgbClr val="EBEBEB"/>
          </a:solidFill>
          <a:ln/>
        </p:spPr>
      </p:sp>
      <p:sp>
        <p:nvSpPr>
          <p:cNvPr id="11" name="Text 9"/>
          <p:cNvSpPr/>
          <p:nvPr/>
        </p:nvSpPr>
        <p:spPr>
          <a:xfrm>
            <a:off x="952500" y="3771900"/>
            <a:ext cx="914400"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03</a:t>
            </a:r>
            <a:endParaRPr lang="en-US" sz="3300" dirty="0"/>
          </a:p>
        </p:txBody>
      </p:sp>
      <p:sp>
        <p:nvSpPr>
          <p:cNvPr id="12" name="Text 10"/>
          <p:cNvSpPr/>
          <p:nvPr/>
        </p:nvSpPr>
        <p:spPr>
          <a:xfrm>
            <a:off x="2019300" y="3824288"/>
            <a:ext cx="68675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11827"/>
                </a:solidFill>
                <a:latin typeface="Arial" pitchFamily="34" charset="0"/>
                <a:ea typeface="Arial" pitchFamily="34" charset="-122"/>
                <a:cs typeface="Arial" pitchFamily="34" charset="-120"/>
              </a:rPr>
              <a:t>Pericarditis &amp; valvular disease</a:t>
            </a:r>
            <a:endParaRPr lang="en-US" sz="2250" dirty="0"/>
          </a:p>
        </p:txBody>
      </p:sp>
      <p:sp>
        <p:nvSpPr>
          <p:cNvPr id="13" name="Shape 11"/>
          <p:cNvSpPr/>
          <p:nvPr/>
        </p:nvSpPr>
        <p:spPr>
          <a:xfrm>
            <a:off x="9601200" y="4381500"/>
            <a:ext cx="7734300" cy="9525"/>
          </a:xfrm>
          <a:prstGeom prst="rect">
            <a:avLst/>
          </a:prstGeom>
          <a:solidFill>
            <a:srgbClr val="EBEBEB"/>
          </a:solidFill>
          <a:ln/>
        </p:spPr>
      </p:sp>
      <p:sp>
        <p:nvSpPr>
          <p:cNvPr id="14" name="Text 12"/>
          <p:cNvSpPr/>
          <p:nvPr/>
        </p:nvSpPr>
        <p:spPr>
          <a:xfrm>
            <a:off x="9601200" y="3771900"/>
            <a:ext cx="914400"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04</a:t>
            </a:r>
            <a:endParaRPr lang="en-US" sz="3300" dirty="0"/>
          </a:p>
        </p:txBody>
      </p:sp>
      <p:sp>
        <p:nvSpPr>
          <p:cNvPr id="15" name="Text 13"/>
          <p:cNvSpPr/>
          <p:nvPr/>
        </p:nvSpPr>
        <p:spPr>
          <a:xfrm>
            <a:off x="10668000" y="3824288"/>
            <a:ext cx="68675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111827"/>
                </a:solidFill>
                <a:latin typeface="Arial" pitchFamily="34" charset="0"/>
                <a:ea typeface="Arial" pitchFamily="34" charset="-122"/>
                <a:cs typeface="Arial" pitchFamily="34" charset="-120"/>
              </a:rPr>
              <a:t>Clinical management</a:t>
            </a:r>
            <a:endParaRPr lang="en-US" sz="2250" dirty="0"/>
          </a:p>
        </p:txBody>
      </p:sp>
      <p:pic>
        <p:nvPicPr>
          <p:cNvPr id="16"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7" name="Text 14"/>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8" name="Text 15"/>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02 / 35</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WEEK NINE</a:t>
            </a:r>
            <a:endParaRPr lang="en-US" sz="1650" dirty="0"/>
          </a:p>
        </p:txBody>
      </p:sp>
      <p:sp>
        <p:nvSpPr>
          <p:cNvPr id="3" name="Text 1"/>
          <p:cNvSpPr/>
          <p:nvPr/>
        </p:nvSpPr>
        <p:spPr>
          <a:xfrm>
            <a:off x="952500" y="125730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Learning objectives</a:t>
            </a:r>
            <a:endParaRPr lang="en-US" sz="5700" dirty="0"/>
          </a:p>
        </p:txBody>
      </p:sp>
      <p:sp>
        <p:nvSpPr>
          <p:cNvPr id="4" name="Shape 2"/>
          <p:cNvSpPr/>
          <p:nvPr/>
        </p:nvSpPr>
        <p:spPr>
          <a:xfrm>
            <a:off x="952500" y="3609975"/>
            <a:ext cx="16383000" cy="9525"/>
          </a:xfrm>
          <a:prstGeom prst="rect">
            <a:avLst/>
          </a:prstGeom>
          <a:solidFill>
            <a:srgbClr val="EBEBEB"/>
          </a:solidFill>
          <a:ln/>
        </p:spPr>
      </p:sp>
      <p:sp>
        <p:nvSpPr>
          <p:cNvPr id="5" name="Shape 3"/>
          <p:cNvSpPr/>
          <p:nvPr/>
        </p:nvSpPr>
        <p:spPr>
          <a:xfrm>
            <a:off x="952500" y="2733675"/>
            <a:ext cx="723900" cy="723900"/>
          </a:xfrm>
          <a:prstGeom prst="rect">
            <a:avLst/>
          </a:prstGeom>
          <a:solidFill>
            <a:srgbClr val="1A3260"/>
          </a:solidFill>
          <a:ln/>
        </p:spPr>
      </p:sp>
      <p:sp>
        <p:nvSpPr>
          <p:cNvPr id="6" name="Text 4"/>
          <p:cNvSpPr/>
          <p:nvPr/>
        </p:nvSpPr>
        <p:spPr>
          <a:xfrm>
            <a:off x="914400" y="2733675"/>
            <a:ext cx="800100" cy="762000"/>
          </a:xfrm>
          <a:prstGeom prst="rect">
            <a:avLst/>
          </a:prstGeom>
          <a:noFill/>
          <a:ln/>
        </p:spPr>
        <p:txBody>
          <a:bodyPr wrap="square" lIns="25400" tIns="25400" rIns="25400" bIns="25400" rtlCol="0" anchor="ctr">
            <a:normAutofit/>
          </a:bodyPr>
          <a:lstStyle/>
          <a:p>
            <a:pPr algn="ctr" indent="0" marL="0">
              <a:buNone/>
            </a:pPr>
            <a:r>
              <a:rPr lang="en-US" sz="2700" b="1" dirty="0">
                <a:solidFill>
                  <a:srgbClr val="FFFFFF"/>
                </a:solidFill>
                <a:latin typeface="Arial" pitchFamily="34" charset="0"/>
                <a:ea typeface="Arial" pitchFamily="34" charset="-122"/>
                <a:cs typeface="Arial" pitchFamily="34" charset="-120"/>
              </a:rPr>
              <a:t>1</a:t>
            </a:r>
            <a:endParaRPr lang="en-US" sz="2700" dirty="0"/>
          </a:p>
        </p:txBody>
      </p:sp>
      <p:sp>
        <p:nvSpPr>
          <p:cNvPr id="7" name="Text 5"/>
          <p:cNvSpPr/>
          <p:nvPr/>
        </p:nvSpPr>
        <p:spPr>
          <a:xfrm>
            <a:off x="2133600" y="2867025"/>
            <a:ext cx="15657957"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11827"/>
                </a:solidFill>
                <a:latin typeface="Arial" pitchFamily="34" charset="0"/>
                <a:ea typeface="Arial" pitchFamily="34" charset="-122"/>
                <a:cs typeface="Arial" pitchFamily="34" charset="-120"/>
              </a:rPr>
              <a:t>Recall the structure and function of the cardiovascular and lymphatic systems.</a:t>
            </a:r>
            <a:endParaRPr lang="en-US" sz="2250" dirty="0"/>
          </a:p>
        </p:txBody>
      </p:sp>
      <p:sp>
        <p:nvSpPr>
          <p:cNvPr id="8" name="Shape 6"/>
          <p:cNvSpPr/>
          <p:nvPr/>
        </p:nvSpPr>
        <p:spPr>
          <a:xfrm>
            <a:off x="952500" y="4857750"/>
            <a:ext cx="16383000" cy="9525"/>
          </a:xfrm>
          <a:prstGeom prst="rect">
            <a:avLst/>
          </a:prstGeom>
          <a:solidFill>
            <a:srgbClr val="EBEBEB"/>
          </a:solidFill>
          <a:ln/>
        </p:spPr>
      </p:sp>
      <p:sp>
        <p:nvSpPr>
          <p:cNvPr id="9" name="Shape 7"/>
          <p:cNvSpPr/>
          <p:nvPr/>
        </p:nvSpPr>
        <p:spPr>
          <a:xfrm>
            <a:off x="952500" y="3981450"/>
            <a:ext cx="723900" cy="723900"/>
          </a:xfrm>
          <a:prstGeom prst="rect">
            <a:avLst/>
          </a:prstGeom>
          <a:solidFill>
            <a:srgbClr val="1A3260"/>
          </a:solidFill>
          <a:ln/>
        </p:spPr>
      </p:sp>
      <p:sp>
        <p:nvSpPr>
          <p:cNvPr id="10" name="Text 8"/>
          <p:cNvSpPr/>
          <p:nvPr/>
        </p:nvSpPr>
        <p:spPr>
          <a:xfrm>
            <a:off x="914400" y="3981450"/>
            <a:ext cx="800100" cy="762000"/>
          </a:xfrm>
          <a:prstGeom prst="rect">
            <a:avLst/>
          </a:prstGeom>
          <a:noFill/>
          <a:ln/>
        </p:spPr>
        <p:txBody>
          <a:bodyPr wrap="square" lIns="25400" tIns="25400" rIns="25400" bIns="25400" rtlCol="0" anchor="ctr">
            <a:normAutofit/>
          </a:bodyPr>
          <a:lstStyle/>
          <a:p>
            <a:pPr algn="ctr" indent="0" marL="0">
              <a:buNone/>
            </a:pPr>
            <a:r>
              <a:rPr lang="en-US" sz="2700" b="1" dirty="0">
                <a:solidFill>
                  <a:srgbClr val="FFFFFF"/>
                </a:solidFill>
                <a:latin typeface="Arial" pitchFamily="34" charset="0"/>
                <a:ea typeface="Arial" pitchFamily="34" charset="-122"/>
                <a:cs typeface="Arial" pitchFamily="34" charset="-120"/>
              </a:rPr>
              <a:t>2</a:t>
            </a:r>
            <a:endParaRPr lang="en-US" sz="2700" dirty="0"/>
          </a:p>
        </p:txBody>
      </p:sp>
      <p:sp>
        <p:nvSpPr>
          <p:cNvPr id="11" name="Text 9"/>
          <p:cNvSpPr/>
          <p:nvPr/>
        </p:nvSpPr>
        <p:spPr>
          <a:xfrm>
            <a:off x="2133600" y="4114800"/>
            <a:ext cx="15657957"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11827"/>
                </a:solidFill>
                <a:latin typeface="Arial" pitchFamily="34" charset="0"/>
                <a:ea typeface="Arial" pitchFamily="34" charset="-122"/>
                <a:cs typeface="Arial" pitchFamily="34" charset="-120"/>
              </a:rPr>
              <a:t>Understand the alterations of cardiovascular function and the potential consequences.</a:t>
            </a:r>
            <a:endParaRPr lang="en-US" sz="2250" dirty="0"/>
          </a:p>
        </p:txBody>
      </p:sp>
      <p:sp>
        <p:nvSpPr>
          <p:cNvPr id="12" name="Shape 10"/>
          <p:cNvSpPr/>
          <p:nvPr/>
        </p:nvSpPr>
        <p:spPr>
          <a:xfrm>
            <a:off x="952500" y="6105525"/>
            <a:ext cx="16383000" cy="9525"/>
          </a:xfrm>
          <a:prstGeom prst="rect">
            <a:avLst/>
          </a:prstGeom>
          <a:solidFill>
            <a:srgbClr val="EBEBEB"/>
          </a:solidFill>
          <a:ln/>
        </p:spPr>
      </p:sp>
      <p:sp>
        <p:nvSpPr>
          <p:cNvPr id="13" name="Shape 11"/>
          <p:cNvSpPr/>
          <p:nvPr/>
        </p:nvSpPr>
        <p:spPr>
          <a:xfrm>
            <a:off x="952500" y="5229225"/>
            <a:ext cx="723900" cy="723900"/>
          </a:xfrm>
          <a:prstGeom prst="rect">
            <a:avLst/>
          </a:prstGeom>
          <a:solidFill>
            <a:srgbClr val="1A3260"/>
          </a:solidFill>
          <a:ln/>
        </p:spPr>
      </p:sp>
      <p:sp>
        <p:nvSpPr>
          <p:cNvPr id="14" name="Text 12"/>
          <p:cNvSpPr/>
          <p:nvPr/>
        </p:nvSpPr>
        <p:spPr>
          <a:xfrm>
            <a:off x="914400" y="5229225"/>
            <a:ext cx="800100" cy="762000"/>
          </a:xfrm>
          <a:prstGeom prst="rect">
            <a:avLst/>
          </a:prstGeom>
          <a:noFill/>
          <a:ln/>
        </p:spPr>
        <p:txBody>
          <a:bodyPr wrap="square" lIns="25400" tIns="25400" rIns="25400" bIns="25400" rtlCol="0" anchor="ctr">
            <a:normAutofit/>
          </a:bodyPr>
          <a:lstStyle/>
          <a:p>
            <a:pPr algn="ctr" indent="0" marL="0">
              <a:buNone/>
            </a:pPr>
            <a:r>
              <a:rPr lang="en-US" sz="2700" b="1" dirty="0">
                <a:solidFill>
                  <a:srgbClr val="FFFFFF"/>
                </a:solidFill>
                <a:latin typeface="Arial" pitchFamily="34" charset="0"/>
                <a:ea typeface="Arial" pitchFamily="34" charset="-122"/>
                <a:cs typeface="Arial" pitchFamily="34" charset="-120"/>
              </a:rPr>
              <a:t>3</a:t>
            </a:r>
            <a:endParaRPr lang="en-US" sz="2700" dirty="0"/>
          </a:p>
        </p:txBody>
      </p:sp>
      <p:sp>
        <p:nvSpPr>
          <p:cNvPr id="15" name="Text 13"/>
          <p:cNvSpPr/>
          <p:nvPr/>
        </p:nvSpPr>
        <p:spPr>
          <a:xfrm>
            <a:off x="2133600" y="5362575"/>
            <a:ext cx="15657957" cy="4381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11827"/>
                </a:solidFill>
                <a:latin typeface="Arial" pitchFamily="34" charset="0"/>
                <a:ea typeface="Arial" pitchFamily="34" charset="-122"/>
                <a:cs typeface="Arial" pitchFamily="34" charset="-120"/>
              </a:rPr>
              <a:t>Discuss clinical manifestations and nursing management of common cardiovascular disorders.</a:t>
            </a:r>
            <a:endParaRPr lang="en-US" sz="2250" dirty="0"/>
          </a:p>
        </p:txBody>
      </p:sp>
      <p:pic>
        <p:nvPicPr>
          <p:cNvPr id="16"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7" name="Text 14"/>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8" name="Text 15"/>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03 / 35</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Weekly resources</a:t>
            </a:r>
            <a:endParaRPr lang="en-US" sz="5700" dirty="0"/>
          </a:p>
        </p:txBody>
      </p:sp>
      <p:sp>
        <p:nvSpPr>
          <p:cNvPr id="3" name="Shape 1"/>
          <p:cNvSpPr/>
          <p:nvPr/>
        </p:nvSpPr>
        <p:spPr>
          <a:xfrm>
            <a:off x="952500" y="2181225"/>
            <a:ext cx="7886700" cy="7248525"/>
          </a:xfrm>
          <a:prstGeom prst="rect">
            <a:avLst/>
          </a:prstGeom>
          <a:solidFill>
            <a:srgbClr val="F5F6F8"/>
          </a:solidFill>
          <a:ln/>
        </p:spPr>
      </p:sp>
      <p:sp>
        <p:nvSpPr>
          <p:cNvPr id="4" name="Shape 2"/>
          <p:cNvSpPr/>
          <p:nvPr/>
        </p:nvSpPr>
        <p:spPr>
          <a:xfrm>
            <a:off x="952500" y="2181225"/>
            <a:ext cx="7886700" cy="57150"/>
          </a:xfrm>
          <a:prstGeom prst="rect">
            <a:avLst/>
          </a:prstGeom>
          <a:solidFill>
            <a:srgbClr val="1A3260"/>
          </a:solidFill>
          <a:ln/>
        </p:spPr>
      </p:sp>
      <p:sp>
        <p:nvSpPr>
          <p:cNvPr id="5" name="Text 3"/>
          <p:cNvSpPr/>
          <p:nvPr/>
        </p:nvSpPr>
        <p:spPr>
          <a:xfrm>
            <a:off x="13335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Required reading</a:t>
            </a:r>
            <a:endParaRPr lang="en-US" sz="2850" dirty="0"/>
          </a:p>
        </p:txBody>
      </p:sp>
      <p:sp>
        <p:nvSpPr>
          <p:cNvPr id="6" name="Text 4"/>
          <p:cNvSpPr/>
          <p:nvPr/>
        </p:nvSpPr>
        <p:spPr>
          <a:xfrm>
            <a:off x="1160145" y="3181350"/>
            <a:ext cx="7374255" cy="121131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Chapter 26 — Structure &amp; Function of the Cardiovascular &amp; Lymphatic Systems</a:t>
            </a:r>
            <a:endParaRPr lang="en-US" sz="1950" dirty="0"/>
          </a:p>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Chapter 27 — Alterations of Cardiovascular Function</a:t>
            </a:r>
            <a:endParaRPr lang="en-US" sz="1950" dirty="0"/>
          </a:p>
        </p:txBody>
      </p:sp>
      <p:sp>
        <p:nvSpPr>
          <p:cNvPr id="7" name="Text 5"/>
          <p:cNvSpPr/>
          <p:nvPr/>
        </p:nvSpPr>
        <p:spPr>
          <a:xfrm>
            <a:off x="1333500" y="4640312"/>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Supplemental</a:t>
            </a:r>
            <a:endParaRPr lang="en-US" sz="2850" dirty="0"/>
          </a:p>
        </p:txBody>
      </p:sp>
      <p:sp>
        <p:nvSpPr>
          <p:cNvPr id="8" name="Text 6"/>
          <p:cNvSpPr/>
          <p:nvPr/>
        </p:nvSpPr>
        <p:spPr>
          <a:xfrm>
            <a:off x="1160145" y="5240387"/>
            <a:ext cx="7374255" cy="86469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AHA — ACS &amp; STEMI care guidelines</a:t>
            </a:r>
            <a:endParaRPr lang="en-US" sz="1950" dirty="0"/>
          </a:p>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ECG basics — rhythm strip interpretation refresher</a:t>
            </a:r>
            <a:endParaRPr lang="en-US" sz="1950" dirty="0"/>
          </a:p>
        </p:txBody>
      </p:sp>
      <p:sp>
        <p:nvSpPr>
          <p:cNvPr id="9" name="Shape 7"/>
          <p:cNvSpPr/>
          <p:nvPr/>
        </p:nvSpPr>
        <p:spPr>
          <a:xfrm>
            <a:off x="9448800" y="2181225"/>
            <a:ext cx="7886700" cy="7248525"/>
          </a:xfrm>
          <a:prstGeom prst="rect">
            <a:avLst/>
          </a:prstGeom>
          <a:solidFill>
            <a:srgbClr val="F5F6F8"/>
          </a:solidFill>
          <a:ln/>
        </p:spPr>
      </p:sp>
      <p:sp>
        <p:nvSpPr>
          <p:cNvPr id="10" name="Shape 8"/>
          <p:cNvSpPr/>
          <p:nvPr/>
        </p:nvSpPr>
        <p:spPr>
          <a:xfrm>
            <a:off x="9448800" y="2181225"/>
            <a:ext cx="7886700" cy="57150"/>
          </a:xfrm>
          <a:prstGeom prst="rect">
            <a:avLst/>
          </a:prstGeom>
          <a:solidFill>
            <a:srgbClr val="45CBE8"/>
          </a:solidFill>
          <a:ln/>
        </p:spPr>
      </p:sp>
      <p:sp>
        <p:nvSpPr>
          <p:cNvPr id="11" name="Text 9"/>
          <p:cNvSpPr/>
          <p:nvPr/>
        </p:nvSpPr>
        <p:spPr>
          <a:xfrm>
            <a:off x="98298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Clinical tools</a:t>
            </a:r>
            <a:endParaRPr lang="en-US" sz="2850" dirty="0"/>
          </a:p>
        </p:txBody>
      </p:sp>
      <p:sp>
        <p:nvSpPr>
          <p:cNvPr id="12" name="Text 10"/>
          <p:cNvSpPr/>
          <p:nvPr/>
        </p:nvSpPr>
        <p:spPr>
          <a:xfrm>
            <a:off x="9656445" y="3181350"/>
            <a:ext cx="7374255" cy="1344662"/>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NYHA heart failure functional classes</a:t>
            </a:r>
            <a:endParaRPr lang="en-US" sz="1950" dirty="0"/>
          </a:p>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JNC blood pressure stages — current targets</a:t>
            </a:r>
            <a:endParaRPr lang="en-US" sz="1950" dirty="0"/>
          </a:p>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Troponin trending &amp; ACS algorithm</a:t>
            </a:r>
            <a:endParaRPr lang="en-US" sz="1950" dirty="0"/>
          </a:p>
        </p:txBody>
      </p:sp>
      <p:pic>
        <p:nvPicPr>
          <p:cNvPr id="13"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4" name="Text 11"/>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5" name="Text 12"/>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04 / 35</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A3260"/>
          </a:solidFill>
          <a:ln/>
        </p:spPr>
      </p:sp>
      <p:sp>
        <p:nvSpPr>
          <p:cNvPr id="3" name="Text 1"/>
          <p:cNvSpPr/>
          <p:nvPr/>
        </p:nvSpPr>
        <p:spPr>
          <a:xfrm>
            <a:off x="952500" y="3848100"/>
            <a:ext cx="8044815" cy="2628900"/>
          </a:xfrm>
          <a:prstGeom prst="rect">
            <a:avLst/>
          </a:prstGeom>
          <a:noFill/>
          <a:ln/>
        </p:spPr>
        <p:txBody>
          <a:bodyPr wrap="square" lIns="25400" tIns="25400" rIns="25400" bIns="25400" rtlCol="0" anchor="t">
            <a:normAutofit/>
          </a:bodyPr>
          <a:lstStyle/>
          <a:p>
            <a:pPr algn="l" indent="0" marL="0">
              <a:lnSpc>
                <a:spcPct val="85000"/>
              </a:lnSpc>
              <a:buNone/>
            </a:pPr>
            <a:r>
              <a:rPr lang="en-US" sz="24000" b="1" spc="-960" kern="0" dirty="0">
                <a:solidFill>
                  <a:srgbClr val="45CBE8"/>
                </a:solidFill>
                <a:latin typeface="Arial" pitchFamily="34" charset="0"/>
                <a:ea typeface="Arial" pitchFamily="34" charset="-122"/>
                <a:cs typeface="Arial" pitchFamily="34" charset="-120"/>
              </a:rPr>
              <a:t>09</a:t>
            </a:r>
            <a:endParaRPr lang="en-US" sz="24000" dirty="0"/>
          </a:p>
        </p:txBody>
      </p:sp>
      <p:sp>
        <p:nvSpPr>
          <p:cNvPr id="4" name="Text 2"/>
          <p:cNvSpPr/>
          <p:nvPr/>
        </p:nvSpPr>
        <p:spPr>
          <a:xfrm>
            <a:off x="9525000" y="3503265"/>
            <a:ext cx="8044815"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CBE8"/>
                </a:solidFill>
                <a:latin typeface="Arial" pitchFamily="34" charset="0"/>
                <a:ea typeface="Arial" pitchFamily="34" charset="-122"/>
                <a:cs typeface="Arial" pitchFamily="34" charset="-120"/>
              </a:rPr>
              <a:t>MODULE NINE</a:t>
            </a:r>
            <a:endParaRPr lang="en-US" sz="1650" dirty="0"/>
          </a:p>
        </p:txBody>
      </p:sp>
      <p:sp>
        <p:nvSpPr>
          <p:cNvPr id="5" name="Text 3"/>
          <p:cNvSpPr/>
          <p:nvPr/>
        </p:nvSpPr>
        <p:spPr>
          <a:xfrm>
            <a:off x="9525000" y="3979515"/>
            <a:ext cx="8044815" cy="918121"/>
          </a:xfrm>
          <a:prstGeom prst="rect">
            <a:avLst/>
          </a:prstGeom>
          <a:noFill/>
          <a:ln/>
        </p:spPr>
        <p:txBody>
          <a:bodyPr wrap="square" lIns="25400" tIns="25400" rIns="25400" bIns="25400" rtlCol="0" anchor="t">
            <a:normAutofit/>
          </a:bodyPr>
          <a:lstStyle/>
          <a:p>
            <a:pPr algn="l" indent="0" marL="0">
              <a:lnSpc>
                <a:spcPct val="105000"/>
              </a:lnSpc>
              <a:buNone/>
            </a:pPr>
            <a:r>
              <a:rPr lang="en-US" sz="6600" b="1" spc="-66" kern="0" dirty="0">
                <a:solidFill>
                  <a:srgbClr val="FFFFFF"/>
                </a:solidFill>
                <a:latin typeface="Arial" pitchFamily="34" charset="0"/>
                <a:ea typeface="Arial" pitchFamily="34" charset="-122"/>
                <a:cs typeface="Arial" pitchFamily="34" charset="-120"/>
              </a:rPr>
              <a:t>Week Nine</a:t>
            </a:r>
            <a:endParaRPr lang="en-US" sz="6600" dirty="0"/>
          </a:p>
        </p:txBody>
      </p:sp>
      <p:sp>
        <p:nvSpPr>
          <p:cNvPr id="6" name="Text 4"/>
          <p:cNvSpPr/>
          <p:nvPr/>
        </p:nvSpPr>
        <p:spPr>
          <a:xfrm>
            <a:off x="9525000" y="5126236"/>
            <a:ext cx="6867525" cy="169545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FFFFFF">
                    <a:alpha val="85000"/>
                  </a:srgbClr>
                </a:solidFill>
                <a:latin typeface="Arial" pitchFamily="34" charset="0"/>
                <a:ea typeface="Arial" pitchFamily="34" charset="-122"/>
                <a:cs typeface="Arial" pitchFamily="34" charset="-120"/>
              </a:rPr>
              <a:t>Cardiovascular system — structure, function, and the disorders you will see on day one of clinical practice: hypertension, CAD, MI, heart failure, and pericarditis.</a:t>
            </a:r>
            <a:endParaRPr lang="en-US" sz="2250" dirty="0"/>
          </a:p>
        </p:txBody>
      </p:sp>
      <p:pic>
        <p:nvPicPr>
          <p:cNvPr id="7"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8" name="Text 5"/>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FFFFFF"/>
                </a:solidFill>
                <a:latin typeface="Arial" pitchFamily="34" charset="0"/>
                <a:ea typeface="Arial" pitchFamily="34" charset="-122"/>
                <a:cs typeface="Arial" pitchFamily="34" charset="-120"/>
              </a:rPr>
              <a:t>SCI225 · WEEK 9</a:t>
            </a:r>
            <a:endParaRPr lang="en-US" sz="1650" dirty="0"/>
          </a:p>
        </p:txBody>
      </p:sp>
      <p:sp>
        <p:nvSpPr>
          <p:cNvPr id="9" name="Text 6"/>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FFFFFF">
                    <a:alpha val="55000"/>
                  </a:srgbClr>
                </a:solidFill>
                <a:latin typeface="Arial" pitchFamily="34" charset="0"/>
                <a:ea typeface="Arial" pitchFamily="34" charset="-122"/>
                <a:cs typeface="Arial" pitchFamily="34" charset="-120"/>
              </a:rPr>
              <a:t>05 / 35</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ACTION ITEMS · JUNE 29 – JULY 5</a:t>
            </a:r>
            <a:endParaRPr lang="en-US" sz="1650" dirty="0"/>
          </a:p>
        </p:txBody>
      </p:sp>
      <p:sp>
        <p:nvSpPr>
          <p:cNvPr id="3" name="Text 1"/>
          <p:cNvSpPr/>
          <p:nvPr/>
        </p:nvSpPr>
        <p:spPr>
          <a:xfrm>
            <a:off x="952500" y="1257300"/>
            <a:ext cx="16874490" cy="1122015"/>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What is due this week?</a:t>
            </a:r>
            <a:endParaRPr lang="en-US" sz="5700" dirty="0"/>
          </a:p>
        </p:txBody>
      </p:sp>
      <p:sp>
        <p:nvSpPr>
          <p:cNvPr id="4" name="Text 2"/>
          <p:cNvSpPr/>
          <p:nvPr/>
        </p:nvSpPr>
        <p:spPr>
          <a:xfrm>
            <a:off x="725805" y="2836515"/>
            <a:ext cx="14590395" cy="4259163"/>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Week 9 Pre-Assessment — complete before the webinar.</a:t>
            </a:r>
            <a:endParaRPr lang="en-US" sz="2550" dirty="0"/>
          </a:p>
          <a:p>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Discussion — "Acute Pericarditis" — initial post + 2 peer replies.</a:t>
            </a:r>
            <a:endParaRPr lang="en-US" sz="2550" dirty="0"/>
          </a:p>
          <a:p>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Webinar Quiz — due Saturday, July 5 by 11:59 PM (CAD, MI, heart failure, pericarditis).</a:t>
            </a:r>
            <a:endParaRPr lang="en-US" sz="2550" dirty="0"/>
          </a:p>
          <a:p>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Case Study — due Saturday, July 5 by 11:59 PM (apply CAD risk &amp; ACS recognition).</a:t>
            </a:r>
            <a:endParaRPr lang="en-US" sz="2550" dirty="0"/>
          </a:p>
          <a:p>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Cardiac Care in Nursing assignment — see Canvas for due date.</a:t>
            </a:r>
            <a:endParaRPr lang="en-US" sz="2550" dirty="0"/>
          </a:p>
          <a:p>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Webinar — heart failure, MI management, pericarditis. Check the calendar for Independence Day timing.</a:t>
            </a:r>
            <a:endParaRPr lang="en-US" sz="2550" dirty="0"/>
          </a:p>
        </p:txBody>
      </p:sp>
      <p:pic>
        <p:nvPicPr>
          <p:cNvPr id="5"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6" name="Text 3"/>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7" name="Text 4"/>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06 / 35</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SECTION · STRUCTURE &amp; FUNCTION</a:t>
            </a:r>
            <a:endParaRPr lang="en-US" sz="1650" dirty="0"/>
          </a:p>
        </p:txBody>
      </p:sp>
      <p:sp>
        <p:nvSpPr>
          <p:cNvPr id="3" name="Text 1"/>
          <p:cNvSpPr/>
          <p:nvPr/>
        </p:nvSpPr>
        <p:spPr>
          <a:xfrm>
            <a:off x="952500" y="125730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Section objective</a:t>
            </a:r>
            <a:endParaRPr lang="en-US" sz="5700" dirty="0"/>
          </a:p>
        </p:txBody>
      </p:sp>
      <p:sp>
        <p:nvSpPr>
          <p:cNvPr id="4" name="Shape 2"/>
          <p:cNvSpPr/>
          <p:nvPr/>
        </p:nvSpPr>
        <p:spPr>
          <a:xfrm>
            <a:off x="952500" y="3819525"/>
            <a:ext cx="16383000" cy="9525"/>
          </a:xfrm>
          <a:prstGeom prst="rect">
            <a:avLst/>
          </a:prstGeom>
          <a:solidFill>
            <a:srgbClr val="EBEBEB"/>
          </a:solidFill>
          <a:ln/>
        </p:spPr>
      </p:sp>
      <p:sp>
        <p:nvSpPr>
          <p:cNvPr id="5" name="Shape 3"/>
          <p:cNvSpPr/>
          <p:nvPr/>
        </p:nvSpPr>
        <p:spPr>
          <a:xfrm>
            <a:off x="952500" y="2733675"/>
            <a:ext cx="723900" cy="723900"/>
          </a:xfrm>
          <a:prstGeom prst="rect">
            <a:avLst/>
          </a:prstGeom>
          <a:solidFill>
            <a:srgbClr val="1A3260"/>
          </a:solidFill>
          <a:ln/>
        </p:spPr>
      </p:sp>
      <p:sp>
        <p:nvSpPr>
          <p:cNvPr id="6" name="Text 4"/>
          <p:cNvSpPr/>
          <p:nvPr/>
        </p:nvSpPr>
        <p:spPr>
          <a:xfrm>
            <a:off x="914400" y="2733675"/>
            <a:ext cx="800100" cy="762000"/>
          </a:xfrm>
          <a:prstGeom prst="rect">
            <a:avLst/>
          </a:prstGeom>
          <a:noFill/>
          <a:ln/>
        </p:spPr>
        <p:txBody>
          <a:bodyPr wrap="square" lIns="25400" tIns="25400" rIns="25400" bIns="25400" rtlCol="0" anchor="ctr">
            <a:normAutofit/>
          </a:bodyPr>
          <a:lstStyle/>
          <a:p>
            <a:pPr algn="ctr" indent="0" marL="0">
              <a:buNone/>
            </a:pPr>
            <a:r>
              <a:rPr lang="en-US" sz="2700" b="1" dirty="0">
                <a:solidFill>
                  <a:srgbClr val="FFFFFF"/>
                </a:solidFill>
                <a:latin typeface="Arial" pitchFamily="34" charset="0"/>
                <a:ea typeface="Arial" pitchFamily="34" charset="-122"/>
                <a:cs typeface="Arial" pitchFamily="34" charset="-120"/>
              </a:rPr>
              <a:t>1</a:t>
            </a:r>
            <a:endParaRPr lang="en-US" sz="2700" dirty="0"/>
          </a:p>
        </p:txBody>
      </p:sp>
      <p:sp>
        <p:nvSpPr>
          <p:cNvPr id="7" name="Text 5"/>
          <p:cNvSpPr/>
          <p:nvPr/>
        </p:nvSpPr>
        <p:spPr>
          <a:xfrm>
            <a:off x="2133600" y="2867025"/>
            <a:ext cx="1565795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11827"/>
                </a:solidFill>
                <a:latin typeface="Arial" pitchFamily="34" charset="0"/>
                <a:ea typeface="Arial" pitchFamily="34" charset="-122"/>
                <a:cs typeface="Arial" pitchFamily="34" charset="-120"/>
              </a:rPr>
              <a:t>Recall the structure and function of the cardiovascular and lymphatic systems — chambers, valves, conduction, coronary circulation, and the determinants of cardiac output and blood pressure.</a:t>
            </a:r>
            <a:endParaRPr lang="en-US" sz="2250" dirty="0"/>
          </a:p>
        </p:txBody>
      </p:sp>
      <p:pic>
        <p:nvPicPr>
          <p:cNvPr id="8"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9" name="Text 6"/>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0" name="Text 7"/>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07 / 35</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dirty="0">
                <a:solidFill>
                  <a:srgbClr val="1A3260"/>
                </a:solidFill>
                <a:latin typeface="Arial" pitchFamily="34" charset="0"/>
                <a:ea typeface="Arial" pitchFamily="34" charset="-122"/>
                <a:cs typeface="Arial" pitchFamily="34" charset="-120"/>
              </a:rPr>
              <a:t>Heart anatomy at a glance</a:t>
            </a:r>
            <a:endParaRPr lang="en-US" sz="5700" dirty="0"/>
          </a:p>
        </p:txBody>
      </p:sp>
      <p:sp>
        <p:nvSpPr>
          <p:cNvPr id="3" name="Shape 1"/>
          <p:cNvSpPr/>
          <p:nvPr/>
        </p:nvSpPr>
        <p:spPr>
          <a:xfrm>
            <a:off x="952500" y="2181225"/>
            <a:ext cx="16383000" cy="3733354"/>
          </a:xfrm>
          <a:prstGeom prst="rect">
            <a:avLst/>
          </a:prstGeom>
          <a:solidFill>
            <a:srgbClr val="FFFFFF"/>
          </a:solidFill>
          <a:ln/>
        </p:spPr>
      </p:sp>
      <p:sp>
        <p:nvSpPr>
          <p:cNvPr id="4" name="Shape 2"/>
          <p:cNvSpPr/>
          <p:nvPr/>
        </p:nvSpPr>
        <p:spPr>
          <a:xfrm>
            <a:off x="957263" y="2185988"/>
            <a:ext cx="3602087" cy="609600"/>
          </a:xfrm>
          <a:prstGeom prst="rect">
            <a:avLst/>
          </a:prstGeom>
          <a:solidFill>
            <a:srgbClr val="1A3260"/>
          </a:solidFill>
          <a:ln w="9525">
            <a:solidFill>
              <a:srgbClr val="1A3260"/>
            </a:solidFill>
            <a:prstDash val="solid"/>
          </a:ln>
        </p:spPr>
      </p:sp>
      <p:sp>
        <p:nvSpPr>
          <p:cNvPr id="5" name="Text 3"/>
          <p:cNvSpPr/>
          <p:nvPr/>
        </p:nvSpPr>
        <p:spPr>
          <a:xfrm>
            <a:off x="1176338" y="2347913"/>
            <a:ext cx="3272000"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Structure</a:t>
            </a:r>
            <a:endParaRPr lang="en-US" sz="1950" dirty="0"/>
          </a:p>
        </p:txBody>
      </p:sp>
      <p:sp>
        <p:nvSpPr>
          <p:cNvPr id="6" name="Shape 4"/>
          <p:cNvSpPr/>
          <p:nvPr/>
        </p:nvSpPr>
        <p:spPr>
          <a:xfrm>
            <a:off x="4559350" y="2185988"/>
            <a:ext cx="6558707" cy="609600"/>
          </a:xfrm>
          <a:prstGeom prst="rect">
            <a:avLst/>
          </a:prstGeom>
          <a:solidFill>
            <a:srgbClr val="1A3260"/>
          </a:solidFill>
          <a:ln w="9525">
            <a:solidFill>
              <a:srgbClr val="1A3260"/>
            </a:solidFill>
            <a:prstDash val="solid"/>
          </a:ln>
        </p:spPr>
      </p:sp>
      <p:sp>
        <p:nvSpPr>
          <p:cNvPr id="7" name="Text 5"/>
          <p:cNvSpPr/>
          <p:nvPr/>
        </p:nvSpPr>
        <p:spPr>
          <a:xfrm>
            <a:off x="4778425" y="2347913"/>
            <a:ext cx="6317318"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Components</a:t>
            </a:r>
            <a:endParaRPr lang="en-US" sz="1950" dirty="0"/>
          </a:p>
        </p:txBody>
      </p:sp>
      <p:sp>
        <p:nvSpPr>
          <p:cNvPr id="8" name="Shape 6"/>
          <p:cNvSpPr/>
          <p:nvPr/>
        </p:nvSpPr>
        <p:spPr>
          <a:xfrm>
            <a:off x="11118056" y="2185988"/>
            <a:ext cx="6212681" cy="609600"/>
          </a:xfrm>
          <a:prstGeom prst="rect">
            <a:avLst/>
          </a:prstGeom>
          <a:solidFill>
            <a:srgbClr val="1A3260"/>
          </a:solidFill>
          <a:ln w="9525">
            <a:solidFill>
              <a:srgbClr val="1A3260"/>
            </a:solidFill>
            <a:prstDash val="solid"/>
          </a:ln>
        </p:spPr>
      </p:sp>
      <p:sp>
        <p:nvSpPr>
          <p:cNvPr id="9" name="Text 7"/>
          <p:cNvSpPr/>
          <p:nvPr/>
        </p:nvSpPr>
        <p:spPr>
          <a:xfrm>
            <a:off x="11337131" y="2347913"/>
            <a:ext cx="5960912"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Why it matters</a:t>
            </a:r>
            <a:endParaRPr lang="en-US" sz="1950" dirty="0"/>
          </a:p>
        </p:txBody>
      </p:sp>
      <p:sp>
        <p:nvSpPr>
          <p:cNvPr id="10" name="Shape 8"/>
          <p:cNvSpPr/>
          <p:nvPr/>
        </p:nvSpPr>
        <p:spPr>
          <a:xfrm>
            <a:off x="957263" y="2795588"/>
            <a:ext cx="3602087" cy="622846"/>
          </a:xfrm>
          <a:prstGeom prst="rect">
            <a:avLst/>
          </a:prstGeom>
          <a:ln w="9525">
            <a:solidFill>
              <a:srgbClr val="EBEBEB"/>
            </a:solidFill>
            <a:prstDash val="solid"/>
          </a:ln>
        </p:spPr>
      </p:sp>
      <p:sp>
        <p:nvSpPr>
          <p:cNvPr id="11" name="Text 9"/>
          <p:cNvSpPr/>
          <p:nvPr/>
        </p:nvSpPr>
        <p:spPr>
          <a:xfrm>
            <a:off x="1176338" y="2938463"/>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Chambers</a:t>
            </a:r>
            <a:endParaRPr lang="en-US" sz="1950" dirty="0"/>
          </a:p>
        </p:txBody>
      </p:sp>
      <p:sp>
        <p:nvSpPr>
          <p:cNvPr id="12" name="Shape 10"/>
          <p:cNvSpPr/>
          <p:nvPr/>
        </p:nvSpPr>
        <p:spPr>
          <a:xfrm>
            <a:off x="4559350" y="2795588"/>
            <a:ext cx="6558707" cy="622846"/>
          </a:xfrm>
          <a:prstGeom prst="rect">
            <a:avLst/>
          </a:prstGeom>
          <a:ln w="9525">
            <a:solidFill>
              <a:srgbClr val="EBEBEB"/>
            </a:solidFill>
            <a:prstDash val="solid"/>
          </a:ln>
        </p:spPr>
      </p:sp>
      <p:sp>
        <p:nvSpPr>
          <p:cNvPr id="13" name="Text 11"/>
          <p:cNvSpPr/>
          <p:nvPr/>
        </p:nvSpPr>
        <p:spPr>
          <a:xfrm>
            <a:off x="4778425" y="2938463"/>
            <a:ext cx="6317318"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 atrium · R ventricle · L atrium · L ventricle</a:t>
            </a:r>
            <a:endParaRPr lang="en-US" sz="1950" dirty="0"/>
          </a:p>
        </p:txBody>
      </p:sp>
      <p:sp>
        <p:nvSpPr>
          <p:cNvPr id="14" name="Shape 12"/>
          <p:cNvSpPr/>
          <p:nvPr/>
        </p:nvSpPr>
        <p:spPr>
          <a:xfrm>
            <a:off x="11118056" y="2795588"/>
            <a:ext cx="6212681" cy="622846"/>
          </a:xfrm>
          <a:prstGeom prst="rect">
            <a:avLst/>
          </a:prstGeom>
          <a:ln w="9525">
            <a:solidFill>
              <a:srgbClr val="EBEBEB"/>
            </a:solidFill>
            <a:prstDash val="solid"/>
          </a:ln>
        </p:spPr>
      </p:sp>
      <p:sp>
        <p:nvSpPr>
          <p:cNvPr id="15" name="Text 13"/>
          <p:cNvSpPr/>
          <p:nvPr/>
        </p:nvSpPr>
        <p:spPr>
          <a:xfrm>
            <a:off x="11337131" y="2938463"/>
            <a:ext cx="5960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Right side → lungs · left side → systemic circulation</a:t>
            </a:r>
            <a:endParaRPr lang="en-US" sz="1950" dirty="0"/>
          </a:p>
        </p:txBody>
      </p:sp>
      <p:sp>
        <p:nvSpPr>
          <p:cNvPr id="16" name="Shape 14"/>
          <p:cNvSpPr/>
          <p:nvPr/>
        </p:nvSpPr>
        <p:spPr>
          <a:xfrm>
            <a:off x="957263" y="3418433"/>
            <a:ext cx="3602087" cy="622846"/>
          </a:xfrm>
          <a:prstGeom prst="rect">
            <a:avLst/>
          </a:prstGeom>
          <a:solidFill>
            <a:srgbClr val="F5F6F8"/>
          </a:solidFill>
          <a:ln w="9525">
            <a:solidFill>
              <a:srgbClr val="EBEBEB"/>
            </a:solidFill>
            <a:prstDash val="solid"/>
          </a:ln>
        </p:spPr>
      </p:sp>
      <p:sp>
        <p:nvSpPr>
          <p:cNvPr id="17" name="Text 15"/>
          <p:cNvSpPr/>
          <p:nvPr/>
        </p:nvSpPr>
        <p:spPr>
          <a:xfrm>
            <a:off x="1176338" y="3561308"/>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Valves (AV)</a:t>
            </a:r>
            <a:endParaRPr lang="en-US" sz="1950" dirty="0"/>
          </a:p>
        </p:txBody>
      </p:sp>
      <p:sp>
        <p:nvSpPr>
          <p:cNvPr id="18" name="Shape 16"/>
          <p:cNvSpPr/>
          <p:nvPr/>
        </p:nvSpPr>
        <p:spPr>
          <a:xfrm>
            <a:off x="4559350" y="3418433"/>
            <a:ext cx="6558707" cy="622846"/>
          </a:xfrm>
          <a:prstGeom prst="rect">
            <a:avLst/>
          </a:prstGeom>
          <a:solidFill>
            <a:srgbClr val="F5F6F8"/>
          </a:solidFill>
          <a:ln w="9525">
            <a:solidFill>
              <a:srgbClr val="EBEBEB"/>
            </a:solidFill>
            <a:prstDash val="solid"/>
          </a:ln>
        </p:spPr>
      </p:sp>
      <p:sp>
        <p:nvSpPr>
          <p:cNvPr id="19" name="Text 17"/>
          <p:cNvSpPr/>
          <p:nvPr/>
        </p:nvSpPr>
        <p:spPr>
          <a:xfrm>
            <a:off x="4778425" y="3561308"/>
            <a:ext cx="6317318"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Tricuspid (right) · mitral / bicuspid (left)</a:t>
            </a:r>
            <a:endParaRPr lang="en-US" sz="1950" dirty="0"/>
          </a:p>
        </p:txBody>
      </p:sp>
      <p:sp>
        <p:nvSpPr>
          <p:cNvPr id="20" name="Shape 18"/>
          <p:cNvSpPr/>
          <p:nvPr/>
        </p:nvSpPr>
        <p:spPr>
          <a:xfrm>
            <a:off x="11118056" y="3418433"/>
            <a:ext cx="6212681" cy="622846"/>
          </a:xfrm>
          <a:prstGeom prst="rect">
            <a:avLst/>
          </a:prstGeom>
          <a:solidFill>
            <a:srgbClr val="F5F6F8"/>
          </a:solidFill>
          <a:ln w="9525">
            <a:solidFill>
              <a:srgbClr val="EBEBEB"/>
            </a:solidFill>
            <a:prstDash val="solid"/>
          </a:ln>
        </p:spPr>
      </p:sp>
      <p:sp>
        <p:nvSpPr>
          <p:cNvPr id="21" name="Text 19"/>
          <p:cNvSpPr/>
          <p:nvPr/>
        </p:nvSpPr>
        <p:spPr>
          <a:xfrm>
            <a:off x="11337131" y="3561308"/>
            <a:ext cx="5960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Prevent atrial backflow during ventricular systole</a:t>
            </a:r>
            <a:endParaRPr lang="en-US" sz="1950" dirty="0"/>
          </a:p>
        </p:txBody>
      </p:sp>
      <p:sp>
        <p:nvSpPr>
          <p:cNvPr id="22" name="Shape 20"/>
          <p:cNvSpPr/>
          <p:nvPr/>
        </p:nvSpPr>
        <p:spPr>
          <a:xfrm>
            <a:off x="957263" y="4041279"/>
            <a:ext cx="3602087" cy="622846"/>
          </a:xfrm>
          <a:prstGeom prst="rect">
            <a:avLst/>
          </a:prstGeom>
          <a:ln w="9525">
            <a:solidFill>
              <a:srgbClr val="EBEBEB"/>
            </a:solidFill>
            <a:prstDash val="solid"/>
          </a:ln>
        </p:spPr>
      </p:sp>
      <p:sp>
        <p:nvSpPr>
          <p:cNvPr id="23" name="Text 21"/>
          <p:cNvSpPr/>
          <p:nvPr/>
        </p:nvSpPr>
        <p:spPr>
          <a:xfrm>
            <a:off x="1176338" y="4184154"/>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Valves (semilunar)</a:t>
            </a:r>
            <a:endParaRPr lang="en-US" sz="1950" dirty="0"/>
          </a:p>
        </p:txBody>
      </p:sp>
      <p:sp>
        <p:nvSpPr>
          <p:cNvPr id="24" name="Shape 22"/>
          <p:cNvSpPr/>
          <p:nvPr/>
        </p:nvSpPr>
        <p:spPr>
          <a:xfrm>
            <a:off x="4559350" y="4041279"/>
            <a:ext cx="6558707" cy="622846"/>
          </a:xfrm>
          <a:prstGeom prst="rect">
            <a:avLst/>
          </a:prstGeom>
          <a:ln w="9525">
            <a:solidFill>
              <a:srgbClr val="EBEBEB"/>
            </a:solidFill>
            <a:prstDash val="solid"/>
          </a:ln>
        </p:spPr>
      </p:sp>
      <p:sp>
        <p:nvSpPr>
          <p:cNvPr id="25" name="Text 23"/>
          <p:cNvSpPr/>
          <p:nvPr/>
        </p:nvSpPr>
        <p:spPr>
          <a:xfrm>
            <a:off x="4778425" y="4184154"/>
            <a:ext cx="6317318"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Pulmonic · aortic</a:t>
            </a:r>
            <a:endParaRPr lang="en-US" sz="1950" dirty="0"/>
          </a:p>
        </p:txBody>
      </p:sp>
      <p:sp>
        <p:nvSpPr>
          <p:cNvPr id="26" name="Shape 24"/>
          <p:cNvSpPr/>
          <p:nvPr/>
        </p:nvSpPr>
        <p:spPr>
          <a:xfrm>
            <a:off x="11118056" y="4041279"/>
            <a:ext cx="6212681" cy="622846"/>
          </a:xfrm>
          <a:prstGeom prst="rect">
            <a:avLst/>
          </a:prstGeom>
          <a:ln w="9525">
            <a:solidFill>
              <a:srgbClr val="EBEBEB"/>
            </a:solidFill>
            <a:prstDash val="solid"/>
          </a:ln>
        </p:spPr>
      </p:sp>
      <p:sp>
        <p:nvSpPr>
          <p:cNvPr id="27" name="Text 25"/>
          <p:cNvSpPr/>
          <p:nvPr/>
        </p:nvSpPr>
        <p:spPr>
          <a:xfrm>
            <a:off x="11337131" y="4184154"/>
            <a:ext cx="5960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Prevent backflow into ventricles during diastole</a:t>
            </a:r>
            <a:endParaRPr lang="en-US" sz="1950" dirty="0"/>
          </a:p>
        </p:txBody>
      </p:sp>
      <p:sp>
        <p:nvSpPr>
          <p:cNvPr id="28" name="Shape 26"/>
          <p:cNvSpPr/>
          <p:nvPr/>
        </p:nvSpPr>
        <p:spPr>
          <a:xfrm>
            <a:off x="957263" y="4664125"/>
            <a:ext cx="3602087" cy="622846"/>
          </a:xfrm>
          <a:prstGeom prst="rect">
            <a:avLst/>
          </a:prstGeom>
          <a:solidFill>
            <a:srgbClr val="F5F6F8"/>
          </a:solidFill>
          <a:ln w="9525">
            <a:solidFill>
              <a:srgbClr val="EBEBEB"/>
            </a:solidFill>
            <a:prstDash val="solid"/>
          </a:ln>
        </p:spPr>
      </p:sp>
      <p:sp>
        <p:nvSpPr>
          <p:cNvPr id="29" name="Text 27"/>
          <p:cNvSpPr/>
          <p:nvPr/>
        </p:nvSpPr>
        <p:spPr>
          <a:xfrm>
            <a:off x="1176338" y="4807000"/>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Wall layers</a:t>
            </a:r>
            <a:endParaRPr lang="en-US" sz="1950" dirty="0"/>
          </a:p>
        </p:txBody>
      </p:sp>
      <p:sp>
        <p:nvSpPr>
          <p:cNvPr id="30" name="Shape 28"/>
          <p:cNvSpPr/>
          <p:nvPr/>
        </p:nvSpPr>
        <p:spPr>
          <a:xfrm>
            <a:off x="4559350" y="4664125"/>
            <a:ext cx="6558707" cy="622846"/>
          </a:xfrm>
          <a:prstGeom prst="rect">
            <a:avLst/>
          </a:prstGeom>
          <a:solidFill>
            <a:srgbClr val="F5F6F8"/>
          </a:solidFill>
          <a:ln w="9525">
            <a:solidFill>
              <a:srgbClr val="EBEBEB"/>
            </a:solidFill>
            <a:prstDash val="solid"/>
          </a:ln>
        </p:spPr>
      </p:sp>
      <p:sp>
        <p:nvSpPr>
          <p:cNvPr id="31" name="Text 29"/>
          <p:cNvSpPr/>
          <p:nvPr/>
        </p:nvSpPr>
        <p:spPr>
          <a:xfrm>
            <a:off x="4778425" y="4807000"/>
            <a:ext cx="6317318"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Endocardium · myocardium · epicardium · pericardium</a:t>
            </a:r>
            <a:endParaRPr lang="en-US" sz="1950" dirty="0"/>
          </a:p>
        </p:txBody>
      </p:sp>
      <p:sp>
        <p:nvSpPr>
          <p:cNvPr id="32" name="Shape 30"/>
          <p:cNvSpPr/>
          <p:nvPr/>
        </p:nvSpPr>
        <p:spPr>
          <a:xfrm>
            <a:off x="11118056" y="4664125"/>
            <a:ext cx="6212681" cy="622846"/>
          </a:xfrm>
          <a:prstGeom prst="rect">
            <a:avLst/>
          </a:prstGeom>
          <a:solidFill>
            <a:srgbClr val="F5F6F8"/>
          </a:solidFill>
          <a:ln w="9525">
            <a:solidFill>
              <a:srgbClr val="EBEBEB"/>
            </a:solidFill>
            <a:prstDash val="solid"/>
          </a:ln>
        </p:spPr>
      </p:sp>
      <p:sp>
        <p:nvSpPr>
          <p:cNvPr id="33" name="Text 31"/>
          <p:cNvSpPr/>
          <p:nvPr/>
        </p:nvSpPr>
        <p:spPr>
          <a:xfrm>
            <a:off x="11337131" y="4807000"/>
            <a:ext cx="5960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Inflammation of each → endo-, myo-, peri-carditis</a:t>
            </a:r>
            <a:endParaRPr lang="en-US" sz="1950" dirty="0"/>
          </a:p>
        </p:txBody>
      </p:sp>
      <p:sp>
        <p:nvSpPr>
          <p:cNvPr id="34" name="Shape 32"/>
          <p:cNvSpPr/>
          <p:nvPr/>
        </p:nvSpPr>
        <p:spPr>
          <a:xfrm>
            <a:off x="957263" y="5286970"/>
            <a:ext cx="3602087" cy="622846"/>
          </a:xfrm>
          <a:prstGeom prst="rect">
            <a:avLst/>
          </a:prstGeom>
          <a:ln w="9525">
            <a:solidFill>
              <a:srgbClr val="EBEBEB"/>
            </a:solidFill>
            <a:prstDash val="solid"/>
          </a:ln>
        </p:spPr>
      </p:sp>
      <p:sp>
        <p:nvSpPr>
          <p:cNvPr id="35" name="Text 33"/>
          <p:cNvSpPr/>
          <p:nvPr/>
        </p:nvSpPr>
        <p:spPr>
          <a:xfrm>
            <a:off x="1176338" y="5429845"/>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Conduction</a:t>
            </a:r>
            <a:endParaRPr lang="en-US" sz="1950" dirty="0"/>
          </a:p>
        </p:txBody>
      </p:sp>
      <p:sp>
        <p:nvSpPr>
          <p:cNvPr id="36" name="Shape 34"/>
          <p:cNvSpPr/>
          <p:nvPr/>
        </p:nvSpPr>
        <p:spPr>
          <a:xfrm>
            <a:off x="4559350" y="5286970"/>
            <a:ext cx="6558707" cy="622846"/>
          </a:xfrm>
          <a:prstGeom prst="rect">
            <a:avLst/>
          </a:prstGeom>
          <a:ln w="9525">
            <a:solidFill>
              <a:srgbClr val="EBEBEB"/>
            </a:solidFill>
            <a:prstDash val="solid"/>
          </a:ln>
        </p:spPr>
      </p:sp>
      <p:sp>
        <p:nvSpPr>
          <p:cNvPr id="37" name="Text 35"/>
          <p:cNvSpPr/>
          <p:nvPr/>
        </p:nvSpPr>
        <p:spPr>
          <a:xfrm>
            <a:off x="4778425" y="5429845"/>
            <a:ext cx="6317318"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SA node → AV node → bundle of His → Purkinje fibers</a:t>
            </a:r>
            <a:endParaRPr lang="en-US" sz="1950" dirty="0"/>
          </a:p>
        </p:txBody>
      </p:sp>
      <p:sp>
        <p:nvSpPr>
          <p:cNvPr id="38" name="Shape 36"/>
          <p:cNvSpPr/>
          <p:nvPr/>
        </p:nvSpPr>
        <p:spPr>
          <a:xfrm>
            <a:off x="11118056" y="5286970"/>
            <a:ext cx="6212681" cy="622846"/>
          </a:xfrm>
          <a:prstGeom prst="rect">
            <a:avLst/>
          </a:prstGeom>
          <a:ln w="9525">
            <a:solidFill>
              <a:srgbClr val="EBEBEB"/>
            </a:solidFill>
            <a:prstDash val="solid"/>
          </a:ln>
        </p:spPr>
      </p:sp>
      <p:sp>
        <p:nvSpPr>
          <p:cNvPr id="39" name="Text 37"/>
          <p:cNvSpPr/>
          <p:nvPr/>
        </p:nvSpPr>
        <p:spPr>
          <a:xfrm>
            <a:off x="11337131" y="5429845"/>
            <a:ext cx="5960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Sets rhythm and synchronizes contraction</a:t>
            </a:r>
            <a:endParaRPr lang="en-US" sz="1950" dirty="0"/>
          </a:p>
        </p:txBody>
      </p:sp>
      <p:sp>
        <p:nvSpPr>
          <p:cNvPr id="40" name="Text 38"/>
          <p:cNvSpPr/>
          <p:nvPr/>
        </p:nvSpPr>
        <p:spPr>
          <a:xfrm>
            <a:off x="706755" y="6143179"/>
            <a:ext cx="16874490" cy="304800"/>
          </a:xfrm>
          <a:prstGeom prst="rect">
            <a:avLst/>
          </a:prstGeom>
          <a:noFill/>
          <a:ln/>
        </p:spPr>
        <p:txBody>
          <a:bodyPr wrap="square" lIns="25400" tIns="25400" rIns="25400" bIns="25400" rtlCol="0" anchor="t">
            <a:normAutofit/>
          </a:bodyPr>
          <a:lstStyle/>
          <a:p>
            <a:pPr algn="ctr" indent="0" marL="0">
              <a:buNone/>
            </a:pPr>
            <a:r>
              <a:rPr lang="en-US" sz="1800" b="1" dirty="0">
                <a:solidFill>
                  <a:srgbClr val="6B7280"/>
                </a:solidFill>
                <a:latin typeface="Arial" pitchFamily="34" charset="0"/>
                <a:ea typeface="Arial" pitchFamily="34" charset="-122"/>
                <a:cs typeface="Arial" pitchFamily="34" charset="-120"/>
              </a:rPr>
              <a:t>Pearl: </a:t>
            </a:r>
            <a:pPr algn="ctr" indent="0" marL="0">
              <a:buNone/>
            </a:pPr>
            <a:r>
              <a:rPr lang="en-US" sz="1800" dirty="0">
                <a:solidFill>
                  <a:srgbClr val="6B7280"/>
                </a:solidFill>
                <a:latin typeface="Arial" pitchFamily="34" charset="0"/>
                <a:ea typeface="Arial" pitchFamily="34" charset="-122"/>
                <a:cs typeface="Arial" pitchFamily="34" charset="-120"/>
              </a:rPr>
              <a:t>the left ventricle is thickest because it pumps against high systemic resistance.</a:t>
            </a:r>
            <a:endParaRPr lang="en-US" sz="1800" dirty="0"/>
          </a:p>
        </p:txBody>
      </p:sp>
      <p:pic>
        <p:nvPicPr>
          <p:cNvPr id="41"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42" name="Text 39"/>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43" name="Text 40"/>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08 / 35</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dirty="0">
                <a:solidFill>
                  <a:srgbClr val="1A3260"/>
                </a:solidFill>
                <a:latin typeface="Arial" pitchFamily="34" charset="0"/>
                <a:ea typeface="Arial" pitchFamily="34" charset="-122"/>
                <a:cs typeface="Arial" pitchFamily="34" charset="-120"/>
              </a:rPr>
              <a:t>The cardiac cycle</a:t>
            </a:r>
            <a:endParaRPr lang="en-US" sz="5700" dirty="0"/>
          </a:p>
        </p:txBody>
      </p:sp>
      <p:sp>
        <p:nvSpPr>
          <p:cNvPr id="3" name="Shape 1"/>
          <p:cNvSpPr/>
          <p:nvPr/>
        </p:nvSpPr>
        <p:spPr>
          <a:xfrm>
            <a:off x="952500" y="2181225"/>
            <a:ext cx="3352800" cy="2186880"/>
          </a:xfrm>
          <a:prstGeom prst="rect">
            <a:avLst/>
          </a:prstGeom>
          <a:solidFill>
            <a:srgbClr val="F5F6F8"/>
          </a:solidFill>
          <a:ln/>
        </p:spPr>
      </p:sp>
      <p:sp>
        <p:nvSpPr>
          <p:cNvPr id="4" name="Shape 2"/>
          <p:cNvSpPr/>
          <p:nvPr/>
        </p:nvSpPr>
        <p:spPr>
          <a:xfrm>
            <a:off x="952500" y="2181225"/>
            <a:ext cx="3352800" cy="57150"/>
          </a:xfrm>
          <a:prstGeom prst="rect">
            <a:avLst/>
          </a:prstGeom>
          <a:solidFill>
            <a:srgbClr val="1A3260"/>
          </a:solidFill>
          <a:ln/>
        </p:spPr>
      </p:sp>
      <p:sp>
        <p:nvSpPr>
          <p:cNvPr id="5" name="Text 3"/>
          <p:cNvSpPr/>
          <p:nvPr/>
        </p:nvSpPr>
        <p:spPr>
          <a:xfrm>
            <a:off x="12001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01</a:t>
            </a:r>
            <a:endParaRPr lang="en-US" sz="1650" dirty="0"/>
          </a:p>
        </p:txBody>
      </p:sp>
      <p:sp>
        <p:nvSpPr>
          <p:cNvPr id="6" name="Text 4"/>
          <p:cNvSpPr/>
          <p:nvPr/>
        </p:nvSpPr>
        <p:spPr>
          <a:xfrm>
            <a:off x="1200150" y="2790825"/>
            <a:ext cx="29432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Atrial systole</a:t>
            </a:r>
            <a:endParaRPr lang="en-US" sz="2250" dirty="0"/>
          </a:p>
        </p:txBody>
      </p:sp>
      <p:sp>
        <p:nvSpPr>
          <p:cNvPr id="7" name="Text 5"/>
          <p:cNvSpPr/>
          <p:nvPr/>
        </p:nvSpPr>
        <p:spPr>
          <a:xfrm>
            <a:off x="1200150" y="3209925"/>
            <a:ext cx="2943225"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Atria contract — top off ventricular filling ("atrial kick").</a:t>
            </a:r>
            <a:endParaRPr lang="en-US" sz="1650" dirty="0"/>
          </a:p>
        </p:txBody>
      </p:sp>
      <p:sp>
        <p:nvSpPr>
          <p:cNvPr id="8" name="Text 6"/>
          <p:cNvSpPr/>
          <p:nvPr/>
        </p:nvSpPr>
        <p:spPr>
          <a:xfrm>
            <a:off x="4533900" y="2181225"/>
            <a:ext cx="609600" cy="2224980"/>
          </a:xfrm>
          <a:prstGeom prst="rect">
            <a:avLst/>
          </a:prstGeom>
          <a:noFill/>
          <a:ln/>
        </p:spPr>
        <p:txBody>
          <a:bodyPr wrap="square" lIns="25400" tIns="25400" rIns="25400" bIns="25400" rtlCol="0" anchor="ctr">
            <a:normAutofit/>
          </a:bodyPr>
          <a:lstStyle/>
          <a:p>
            <a:pPr algn="l" indent="0" marL="0">
              <a:buNone/>
            </a:pPr>
            <a:r>
              <a:rPr lang="en-US" sz="4200" b="1" dirty="0">
                <a:solidFill>
                  <a:srgbClr val="45CBE8"/>
                </a:solidFill>
                <a:latin typeface="Arial" pitchFamily="34" charset="0"/>
                <a:ea typeface="Arial" pitchFamily="34" charset="-122"/>
                <a:cs typeface="Arial" pitchFamily="34" charset="-120"/>
              </a:rPr>
              <a:t>→</a:t>
            </a:r>
            <a:endParaRPr lang="en-US" sz="4200" dirty="0"/>
          </a:p>
        </p:txBody>
      </p:sp>
      <p:sp>
        <p:nvSpPr>
          <p:cNvPr id="9" name="Shape 7"/>
          <p:cNvSpPr/>
          <p:nvPr/>
        </p:nvSpPr>
        <p:spPr>
          <a:xfrm>
            <a:off x="5295900" y="2181225"/>
            <a:ext cx="3352800" cy="2186880"/>
          </a:xfrm>
          <a:prstGeom prst="rect">
            <a:avLst/>
          </a:prstGeom>
          <a:solidFill>
            <a:srgbClr val="F5F6F8"/>
          </a:solidFill>
          <a:ln/>
        </p:spPr>
      </p:sp>
      <p:sp>
        <p:nvSpPr>
          <p:cNvPr id="10" name="Shape 8"/>
          <p:cNvSpPr/>
          <p:nvPr/>
        </p:nvSpPr>
        <p:spPr>
          <a:xfrm>
            <a:off x="5295900" y="2181225"/>
            <a:ext cx="3352800" cy="57150"/>
          </a:xfrm>
          <a:prstGeom prst="rect">
            <a:avLst/>
          </a:prstGeom>
          <a:solidFill>
            <a:srgbClr val="1A3260"/>
          </a:solidFill>
          <a:ln/>
        </p:spPr>
      </p:sp>
      <p:sp>
        <p:nvSpPr>
          <p:cNvPr id="11" name="Text 9"/>
          <p:cNvSpPr/>
          <p:nvPr/>
        </p:nvSpPr>
        <p:spPr>
          <a:xfrm>
            <a:off x="55435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02</a:t>
            </a:r>
            <a:endParaRPr lang="en-US" sz="1650" dirty="0"/>
          </a:p>
        </p:txBody>
      </p:sp>
      <p:sp>
        <p:nvSpPr>
          <p:cNvPr id="12" name="Text 10"/>
          <p:cNvSpPr/>
          <p:nvPr/>
        </p:nvSpPr>
        <p:spPr>
          <a:xfrm>
            <a:off x="5543550" y="2790825"/>
            <a:ext cx="2943225" cy="7239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Isovolumetric contraction</a:t>
            </a:r>
            <a:endParaRPr lang="en-US" sz="2250" dirty="0"/>
          </a:p>
        </p:txBody>
      </p:sp>
      <p:sp>
        <p:nvSpPr>
          <p:cNvPr id="13" name="Text 11"/>
          <p:cNvSpPr/>
          <p:nvPr/>
        </p:nvSpPr>
        <p:spPr>
          <a:xfrm>
            <a:off x="5543550" y="3552825"/>
            <a:ext cx="2943225"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Ventricles contract; all valves closed; pressure climbs.</a:t>
            </a:r>
            <a:endParaRPr lang="en-US" sz="1650" dirty="0"/>
          </a:p>
        </p:txBody>
      </p:sp>
      <p:sp>
        <p:nvSpPr>
          <p:cNvPr id="14" name="Text 12"/>
          <p:cNvSpPr/>
          <p:nvPr/>
        </p:nvSpPr>
        <p:spPr>
          <a:xfrm>
            <a:off x="8877300" y="2181225"/>
            <a:ext cx="609600" cy="2224980"/>
          </a:xfrm>
          <a:prstGeom prst="rect">
            <a:avLst/>
          </a:prstGeom>
          <a:noFill/>
          <a:ln/>
        </p:spPr>
        <p:txBody>
          <a:bodyPr wrap="square" lIns="25400" tIns="25400" rIns="25400" bIns="25400" rtlCol="0" anchor="ctr">
            <a:normAutofit/>
          </a:bodyPr>
          <a:lstStyle/>
          <a:p>
            <a:pPr algn="l" indent="0" marL="0">
              <a:buNone/>
            </a:pPr>
            <a:r>
              <a:rPr lang="en-US" sz="4200" b="1" dirty="0">
                <a:solidFill>
                  <a:srgbClr val="45CBE8"/>
                </a:solidFill>
                <a:latin typeface="Arial" pitchFamily="34" charset="0"/>
                <a:ea typeface="Arial" pitchFamily="34" charset="-122"/>
                <a:cs typeface="Arial" pitchFamily="34" charset="-120"/>
              </a:rPr>
              <a:t>→</a:t>
            </a:r>
            <a:endParaRPr lang="en-US" sz="4200" dirty="0"/>
          </a:p>
        </p:txBody>
      </p:sp>
      <p:sp>
        <p:nvSpPr>
          <p:cNvPr id="15" name="Shape 13"/>
          <p:cNvSpPr/>
          <p:nvPr/>
        </p:nvSpPr>
        <p:spPr>
          <a:xfrm>
            <a:off x="9639300" y="2181225"/>
            <a:ext cx="3352800" cy="2186880"/>
          </a:xfrm>
          <a:prstGeom prst="rect">
            <a:avLst/>
          </a:prstGeom>
          <a:solidFill>
            <a:srgbClr val="F5F6F8"/>
          </a:solidFill>
          <a:ln/>
        </p:spPr>
      </p:sp>
      <p:sp>
        <p:nvSpPr>
          <p:cNvPr id="16" name="Shape 14"/>
          <p:cNvSpPr/>
          <p:nvPr/>
        </p:nvSpPr>
        <p:spPr>
          <a:xfrm>
            <a:off x="9639300" y="2181225"/>
            <a:ext cx="3352800" cy="57150"/>
          </a:xfrm>
          <a:prstGeom prst="rect">
            <a:avLst/>
          </a:prstGeom>
          <a:solidFill>
            <a:srgbClr val="1A3260"/>
          </a:solidFill>
          <a:ln/>
        </p:spPr>
      </p:sp>
      <p:sp>
        <p:nvSpPr>
          <p:cNvPr id="17" name="Text 15"/>
          <p:cNvSpPr/>
          <p:nvPr/>
        </p:nvSpPr>
        <p:spPr>
          <a:xfrm>
            <a:off x="98869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03</a:t>
            </a:r>
            <a:endParaRPr lang="en-US" sz="1650" dirty="0"/>
          </a:p>
        </p:txBody>
      </p:sp>
      <p:sp>
        <p:nvSpPr>
          <p:cNvPr id="18" name="Text 16"/>
          <p:cNvSpPr/>
          <p:nvPr/>
        </p:nvSpPr>
        <p:spPr>
          <a:xfrm>
            <a:off x="9886950" y="2790825"/>
            <a:ext cx="29432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Ventricular ejection</a:t>
            </a:r>
            <a:endParaRPr lang="en-US" sz="2250" dirty="0"/>
          </a:p>
        </p:txBody>
      </p:sp>
      <p:sp>
        <p:nvSpPr>
          <p:cNvPr id="19" name="Text 17"/>
          <p:cNvSpPr/>
          <p:nvPr/>
        </p:nvSpPr>
        <p:spPr>
          <a:xfrm>
            <a:off x="9886950" y="3209925"/>
            <a:ext cx="2943225" cy="91812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Semilunar valves open — blood propelled to lungs &amp; aorta.</a:t>
            </a:r>
            <a:endParaRPr lang="en-US" sz="1650" dirty="0"/>
          </a:p>
        </p:txBody>
      </p:sp>
      <p:sp>
        <p:nvSpPr>
          <p:cNvPr id="20" name="Text 18"/>
          <p:cNvSpPr/>
          <p:nvPr/>
        </p:nvSpPr>
        <p:spPr>
          <a:xfrm>
            <a:off x="13220700" y="2181225"/>
            <a:ext cx="609600" cy="2224980"/>
          </a:xfrm>
          <a:prstGeom prst="rect">
            <a:avLst/>
          </a:prstGeom>
          <a:noFill/>
          <a:ln/>
        </p:spPr>
        <p:txBody>
          <a:bodyPr wrap="square" lIns="25400" tIns="25400" rIns="25400" bIns="25400" rtlCol="0" anchor="ctr">
            <a:normAutofit/>
          </a:bodyPr>
          <a:lstStyle/>
          <a:p>
            <a:pPr algn="l" indent="0" marL="0">
              <a:buNone/>
            </a:pPr>
            <a:r>
              <a:rPr lang="en-US" sz="4200" b="1" dirty="0">
                <a:solidFill>
                  <a:srgbClr val="45CBE8"/>
                </a:solidFill>
                <a:latin typeface="Arial" pitchFamily="34" charset="0"/>
                <a:ea typeface="Arial" pitchFamily="34" charset="-122"/>
                <a:cs typeface="Arial" pitchFamily="34" charset="-120"/>
              </a:rPr>
              <a:t>→</a:t>
            </a:r>
            <a:endParaRPr lang="en-US" sz="4200" dirty="0"/>
          </a:p>
        </p:txBody>
      </p:sp>
      <p:sp>
        <p:nvSpPr>
          <p:cNvPr id="21" name="Shape 19"/>
          <p:cNvSpPr/>
          <p:nvPr/>
        </p:nvSpPr>
        <p:spPr>
          <a:xfrm>
            <a:off x="13982700" y="2181225"/>
            <a:ext cx="3352800" cy="2186880"/>
          </a:xfrm>
          <a:prstGeom prst="rect">
            <a:avLst/>
          </a:prstGeom>
          <a:solidFill>
            <a:srgbClr val="F5F6F8"/>
          </a:solidFill>
          <a:ln/>
        </p:spPr>
      </p:sp>
      <p:sp>
        <p:nvSpPr>
          <p:cNvPr id="22" name="Shape 20"/>
          <p:cNvSpPr/>
          <p:nvPr/>
        </p:nvSpPr>
        <p:spPr>
          <a:xfrm>
            <a:off x="13982700" y="2181225"/>
            <a:ext cx="3352800" cy="57150"/>
          </a:xfrm>
          <a:prstGeom prst="rect">
            <a:avLst/>
          </a:prstGeom>
          <a:solidFill>
            <a:srgbClr val="1A3260"/>
          </a:solidFill>
          <a:ln/>
        </p:spPr>
      </p:sp>
      <p:sp>
        <p:nvSpPr>
          <p:cNvPr id="23" name="Text 21"/>
          <p:cNvSpPr/>
          <p:nvPr/>
        </p:nvSpPr>
        <p:spPr>
          <a:xfrm>
            <a:off x="142303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04</a:t>
            </a:r>
            <a:endParaRPr lang="en-US" sz="1650" dirty="0"/>
          </a:p>
        </p:txBody>
      </p:sp>
      <p:sp>
        <p:nvSpPr>
          <p:cNvPr id="24" name="Text 22"/>
          <p:cNvSpPr/>
          <p:nvPr/>
        </p:nvSpPr>
        <p:spPr>
          <a:xfrm>
            <a:off x="14230350" y="2790825"/>
            <a:ext cx="29432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Diastole</a:t>
            </a:r>
            <a:endParaRPr lang="en-US" sz="2250" dirty="0"/>
          </a:p>
        </p:txBody>
      </p:sp>
      <p:sp>
        <p:nvSpPr>
          <p:cNvPr id="25" name="Text 23"/>
          <p:cNvSpPr/>
          <p:nvPr/>
        </p:nvSpPr>
        <p:spPr>
          <a:xfrm>
            <a:off x="14230350" y="3209925"/>
            <a:ext cx="2943225"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Ventricles relax; AV valves open; passive filling resumes.</a:t>
            </a:r>
            <a:endParaRPr lang="en-US" sz="1650" dirty="0"/>
          </a:p>
        </p:txBody>
      </p:sp>
      <p:sp>
        <p:nvSpPr>
          <p:cNvPr id="26" name="Text 24"/>
          <p:cNvSpPr/>
          <p:nvPr/>
        </p:nvSpPr>
        <p:spPr>
          <a:xfrm>
            <a:off x="706755" y="4749105"/>
            <a:ext cx="16874490" cy="304800"/>
          </a:xfrm>
          <a:prstGeom prst="rect">
            <a:avLst/>
          </a:prstGeom>
          <a:noFill/>
          <a:ln/>
        </p:spPr>
        <p:txBody>
          <a:bodyPr wrap="square" lIns="25400" tIns="25400" rIns="25400" bIns="25400" rtlCol="0" anchor="t">
            <a:normAutofit/>
          </a:bodyPr>
          <a:lstStyle/>
          <a:p>
            <a:pPr algn="ctr" indent="0" marL="0">
              <a:buNone/>
            </a:pPr>
            <a:r>
              <a:rPr lang="en-US" sz="1800" b="1" dirty="0">
                <a:solidFill>
                  <a:srgbClr val="6B7280"/>
                </a:solidFill>
                <a:latin typeface="Arial" pitchFamily="34" charset="0"/>
                <a:ea typeface="Arial" pitchFamily="34" charset="-122"/>
                <a:cs typeface="Arial" pitchFamily="34" charset="-120"/>
              </a:rPr>
              <a:t>Heart sounds: </a:t>
            </a:r>
            <a:pPr algn="ctr" indent="0" marL="0">
              <a:buNone/>
            </a:pPr>
            <a:r>
              <a:rPr lang="en-US" sz="1800" dirty="0">
                <a:solidFill>
                  <a:srgbClr val="6B7280"/>
                </a:solidFill>
                <a:latin typeface="Arial" pitchFamily="34" charset="0"/>
                <a:ea typeface="Arial" pitchFamily="34" charset="-122"/>
                <a:cs typeface="Arial" pitchFamily="34" charset="-120"/>
              </a:rPr>
              <a:t>S1 = AV valves close (start of systole) · S2 = semilunar valves close (start of diastole).</a:t>
            </a:r>
            <a:endParaRPr lang="en-US" sz="1800" dirty="0"/>
          </a:p>
        </p:txBody>
      </p:sp>
      <p:pic>
        <p:nvPicPr>
          <p:cNvPr id="27"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8" name="Text 25"/>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9" name="Text 26"/>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09 / 35</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WHERE MIS HAPPEN</a:t>
            </a:r>
            <a:endParaRPr lang="en-US" sz="1650" dirty="0"/>
          </a:p>
        </p:txBody>
      </p:sp>
      <p:sp>
        <p:nvSpPr>
          <p:cNvPr id="3" name="Text 1"/>
          <p:cNvSpPr/>
          <p:nvPr/>
        </p:nvSpPr>
        <p:spPr>
          <a:xfrm>
            <a:off x="952500" y="1257300"/>
            <a:ext cx="16874490" cy="1122015"/>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Coronary circulation</a:t>
            </a:r>
            <a:endParaRPr lang="en-US" sz="5700" dirty="0"/>
          </a:p>
        </p:txBody>
      </p:sp>
      <p:sp>
        <p:nvSpPr>
          <p:cNvPr id="4" name="Text 2"/>
          <p:cNvSpPr/>
          <p:nvPr/>
        </p:nvSpPr>
        <p:spPr>
          <a:xfrm>
            <a:off x="1295400" y="2836515"/>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Right coronary artery (RCA):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supplies right atrium, right ventricle, SA node (60%), AV node (~90%), and inferior left ventricle. RCA occlusion → inferior MI ± bradyarrhythmias.</a:t>
            </a:r>
            <a:endParaRPr lang="en-US" sz="2550" dirty="0"/>
          </a:p>
        </p:txBody>
      </p:sp>
      <p:sp>
        <p:nvSpPr>
          <p:cNvPr id="5" name="Text 3"/>
          <p:cNvSpPr/>
          <p:nvPr/>
        </p:nvSpPr>
        <p:spPr>
          <a:xfrm>
            <a:off x="1295400" y="3952726"/>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Left coronary artery (LCA):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branches into LAD and circumflex.</a:t>
            </a:r>
            <a:endParaRPr lang="en-US" sz="2550" dirty="0"/>
          </a:p>
        </p:txBody>
      </p:sp>
      <p:sp>
        <p:nvSpPr>
          <p:cNvPr id="6" name="Text 4"/>
          <p:cNvSpPr/>
          <p:nvPr/>
        </p:nvSpPr>
        <p:spPr>
          <a:xfrm>
            <a:off x="1295400" y="4615607"/>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Left anterior descending (LAD):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supplies anterior LV, anterior septum, and apex. "Widow-maker" — anterior MI.</a:t>
            </a:r>
            <a:endParaRPr lang="en-US" sz="2550" dirty="0"/>
          </a:p>
        </p:txBody>
      </p:sp>
      <p:sp>
        <p:nvSpPr>
          <p:cNvPr id="7" name="Text 5"/>
          <p:cNvSpPr/>
          <p:nvPr/>
        </p:nvSpPr>
        <p:spPr>
          <a:xfrm>
            <a:off x="1295400" y="5731818"/>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Circumflex: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supplies left atrium and lateral LV. Lateral MI.</a:t>
            </a:r>
            <a:endParaRPr lang="en-US" sz="2550" dirty="0"/>
          </a:p>
        </p:txBody>
      </p:sp>
      <p:sp>
        <p:nvSpPr>
          <p:cNvPr id="8" name="Text 6"/>
          <p:cNvSpPr/>
          <p:nvPr/>
        </p:nvSpPr>
        <p:spPr>
          <a:xfrm>
            <a:off x="1295400" y="6394698"/>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Coronaries fill during diastole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 tachycardia and aortic regurgitation reduce coronary perfusion.</a:t>
            </a:r>
            <a:endParaRPr lang="en-US" sz="2550" dirty="0"/>
          </a:p>
        </p:txBody>
      </p:sp>
      <p:pic>
        <p:nvPicPr>
          <p:cNvPr id="9"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0" name="Text 7"/>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1" name="Text 8"/>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10 / 35</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Cardiac output &amp; its determinants</a:t>
            </a:r>
            <a:endParaRPr lang="en-US" sz="5700" dirty="0"/>
          </a:p>
        </p:txBody>
      </p:sp>
      <p:sp>
        <p:nvSpPr>
          <p:cNvPr id="3" name="Shape 1"/>
          <p:cNvSpPr/>
          <p:nvPr/>
        </p:nvSpPr>
        <p:spPr>
          <a:xfrm>
            <a:off x="952500" y="2181225"/>
            <a:ext cx="7886700" cy="7248525"/>
          </a:xfrm>
          <a:prstGeom prst="rect">
            <a:avLst/>
          </a:prstGeom>
          <a:solidFill>
            <a:srgbClr val="F5F6F8"/>
          </a:solidFill>
          <a:ln/>
        </p:spPr>
      </p:sp>
      <p:sp>
        <p:nvSpPr>
          <p:cNvPr id="4" name="Shape 2"/>
          <p:cNvSpPr/>
          <p:nvPr/>
        </p:nvSpPr>
        <p:spPr>
          <a:xfrm>
            <a:off x="952500" y="2181225"/>
            <a:ext cx="7886700" cy="57150"/>
          </a:xfrm>
          <a:prstGeom prst="rect">
            <a:avLst/>
          </a:prstGeom>
          <a:solidFill>
            <a:srgbClr val="1A3260"/>
          </a:solidFill>
          <a:ln/>
        </p:spPr>
      </p:sp>
      <p:sp>
        <p:nvSpPr>
          <p:cNvPr id="5" name="Text 3"/>
          <p:cNvSpPr/>
          <p:nvPr/>
        </p:nvSpPr>
        <p:spPr>
          <a:xfrm>
            <a:off x="13335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The equation</a:t>
            </a:r>
            <a:endParaRPr lang="en-US" sz="2850" dirty="0"/>
          </a:p>
        </p:txBody>
      </p:sp>
      <p:sp>
        <p:nvSpPr>
          <p:cNvPr id="6" name="Text 4"/>
          <p:cNvSpPr/>
          <p:nvPr/>
        </p:nvSpPr>
        <p:spPr>
          <a:xfrm>
            <a:off x="1600200" y="3181350"/>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CO = SV × HR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(~5 L/min at rest)</a:t>
            </a:r>
            <a:endParaRPr lang="en-US" sz="1950" dirty="0"/>
          </a:p>
        </p:txBody>
      </p:sp>
      <p:sp>
        <p:nvSpPr>
          <p:cNvPr id="7" name="Text 5"/>
          <p:cNvSpPr/>
          <p:nvPr/>
        </p:nvSpPr>
        <p:spPr>
          <a:xfrm>
            <a:off x="1600200" y="3661321"/>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Stroke volume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driven by three levers:</a:t>
            </a:r>
            <a:endParaRPr lang="en-US" sz="1950" dirty="0"/>
          </a:p>
        </p:txBody>
      </p:sp>
      <p:sp>
        <p:nvSpPr>
          <p:cNvPr id="8" name="Text 6"/>
          <p:cNvSpPr/>
          <p:nvPr/>
        </p:nvSpPr>
        <p:spPr>
          <a:xfrm>
            <a:off x="1600200" y="4141291"/>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a:t>
            </a:r>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Preload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venous return / end-diastolic volume</a:t>
            </a:r>
            <a:endParaRPr lang="en-US" sz="1950" dirty="0"/>
          </a:p>
        </p:txBody>
      </p:sp>
      <p:sp>
        <p:nvSpPr>
          <p:cNvPr id="9" name="Text 7"/>
          <p:cNvSpPr/>
          <p:nvPr/>
        </p:nvSpPr>
        <p:spPr>
          <a:xfrm>
            <a:off x="1600200" y="4621262"/>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a:t>
            </a:r>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Afterload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resistance the ventricle pumps against</a:t>
            </a:r>
            <a:endParaRPr lang="en-US" sz="1950" dirty="0"/>
          </a:p>
        </p:txBody>
      </p:sp>
      <p:sp>
        <p:nvSpPr>
          <p:cNvPr id="10" name="Text 8"/>
          <p:cNvSpPr/>
          <p:nvPr/>
        </p:nvSpPr>
        <p:spPr>
          <a:xfrm>
            <a:off x="1600200" y="5101233"/>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a:t>
            </a:r>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Contractility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intrinsic strength of muscle</a:t>
            </a:r>
            <a:endParaRPr lang="en-US" sz="1950" dirty="0"/>
          </a:p>
        </p:txBody>
      </p:sp>
      <p:sp>
        <p:nvSpPr>
          <p:cNvPr id="11" name="Shape 9"/>
          <p:cNvSpPr/>
          <p:nvPr/>
        </p:nvSpPr>
        <p:spPr>
          <a:xfrm>
            <a:off x="9448800" y="2181225"/>
            <a:ext cx="7886700" cy="7248525"/>
          </a:xfrm>
          <a:prstGeom prst="rect">
            <a:avLst/>
          </a:prstGeom>
          <a:solidFill>
            <a:srgbClr val="F5F6F8"/>
          </a:solidFill>
          <a:ln/>
        </p:spPr>
      </p:sp>
      <p:sp>
        <p:nvSpPr>
          <p:cNvPr id="12" name="Shape 10"/>
          <p:cNvSpPr/>
          <p:nvPr/>
        </p:nvSpPr>
        <p:spPr>
          <a:xfrm>
            <a:off x="9448800" y="2181225"/>
            <a:ext cx="7886700" cy="57150"/>
          </a:xfrm>
          <a:prstGeom prst="rect">
            <a:avLst/>
          </a:prstGeom>
          <a:solidFill>
            <a:srgbClr val="45CBE8"/>
          </a:solidFill>
          <a:ln/>
        </p:spPr>
      </p:sp>
      <p:sp>
        <p:nvSpPr>
          <p:cNvPr id="13" name="Text 11"/>
          <p:cNvSpPr/>
          <p:nvPr/>
        </p:nvSpPr>
        <p:spPr>
          <a:xfrm>
            <a:off x="98298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What changes them clinically</a:t>
            </a:r>
            <a:endParaRPr lang="en-US" sz="2850" dirty="0"/>
          </a:p>
        </p:txBody>
      </p:sp>
      <p:sp>
        <p:nvSpPr>
          <p:cNvPr id="14" name="Text 12"/>
          <p:cNvSpPr/>
          <p:nvPr/>
        </p:nvSpPr>
        <p:spPr>
          <a:xfrm>
            <a:off x="10096500" y="3181350"/>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Preload ↑: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fluid bolus, heart failure, regurgitation</a:t>
            </a:r>
            <a:endParaRPr lang="en-US" sz="1950" dirty="0"/>
          </a:p>
        </p:txBody>
      </p:sp>
      <p:sp>
        <p:nvSpPr>
          <p:cNvPr id="15" name="Text 13"/>
          <p:cNvSpPr/>
          <p:nvPr/>
        </p:nvSpPr>
        <p:spPr>
          <a:xfrm>
            <a:off x="10096500" y="3661321"/>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Preload ↓: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hemorrhage, dehydration, vasodilators</a:t>
            </a:r>
            <a:endParaRPr lang="en-US" sz="1950" dirty="0"/>
          </a:p>
        </p:txBody>
      </p:sp>
      <p:sp>
        <p:nvSpPr>
          <p:cNvPr id="16" name="Text 14"/>
          <p:cNvSpPr/>
          <p:nvPr/>
        </p:nvSpPr>
        <p:spPr>
          <a:xfrm>
            <a:off x="10096500" y="4141291"/>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Afterload ↑: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hypertension, aortic stenosis, vasoconstriction</a:t>
            </a:r>
            <a:endParaRPr lang="en-US" sz="1950" dirty="0"/>
          </a:p>
        </p:txBody>
      </p:sp>
      <p:sp>
        <p:nvSpPr>
          <p:cNvPr id="17" name="Text 15"/>
          <p:cNvSpPr/>
          <p:nvPr/>
        </p:nvSpPr>
        <p:spPr>
          <a:xfrm>
            <a:off x="10096500" y="4621262"/>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Contractility ↑: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sympathetic stimulation, inotropes (dobutamine)</a:t>
            </a:r>
            <a:endParaRPr lang="en-US" sz="1950" dirty="0"/>
          </a:p>
        </p:txBody>
      </p:sp>
      <p:sp>
        <p:nvSpPr>
          <p:cNvPr id="18" name="Text 16"/>
          <p:cNvSpPr/>
          <p:nvPr/>
        </p:nvSpPr>
        <p:spPr>
          <a:xfrm>
            <a:off x="10096500" y="5447854"/>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Contractility ↓: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ischemia, beta blockers, MI</a:t>
            </a:r>
            <a:endParaRPr lang="en-US" sz="1950" dirty="0"/>
          </a:p>
        </p:txBody>
      </p:sp>
      <p:pic>
        <p:nvPicPr>
          <p:cNvPr id="19"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0" name="Text 17"/>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1" name="Text 18"/>
          <p:cNvSpPr/>
          <p:nvPr/>
        </p:nvSpPr>
        <p:spPr>
          <a:xfrm>
            <a:off x="16651486" y="9686925"/>
            <a:ext cx="760214"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11 / 35</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dirty="0">
                <a:solidFill>
                  <a:srgbClr val="1A3260"/>
                </a:solidFill>
                <a:latin typeface="Arial" pitchFamily="34" charset="0"/>
                <a:ea typeface="Arial" pitchFamily="34" charset="-122"/>
                <a:cs typeface="Arial" pitchFamily="34" charset="-120"/>
              </a:rPr>
              <a:t>Blood pressure regulation</a:t>
            </a:r>
            <a:endParaRPr lang="en-US" sz="5700" dirty="0"/>
          </a:p>
        </p:txBody>
      </p:sp>
      <p:sp>
        <p:nvSpPr>
          <p:cNvPr id="3" name="Text 1"/>
          <p:cNvSpPr/>
          <p:nvPr/>
        </p:nvSpPr>
        <p:spPr>
          <a:xfrm>
            <a:off x="706755" y="2085975"/>
            <a:ext cx="16874490"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6B7280"/>
                </a:solidFill>
                <a:latin typeface="Arial" pitchFamily="34" charset="0"/>
                <a:ea typeface="Arial" pitchFamily="34" charset="-122"/>
                <a:cs typeface="Arial" pitchFamily="34" charset="-120"/>
              </a:rPr>
              <a:t>MAP ≈ CO × SVR — short-term and long-term controls keep this stable</a:t>
            </a:r>
            <a:endParaRPr lang="en-US" sz="1800" dirty="0"/>
          </a:p>
        </p:txBody>
      </p:sp>
      <p:sp>
        <p:nvSpPr>
          <p:cNvPr id="4" name="Shape 2"/>
          <p:cNvSpPr/>
          <p:nvPr/>
        </p:nvSpPr>
        <p:spPr>
          <a:xfrm>
            <a:off x="952500" y="2581275"/>
            <a:ext cx="16383000" cy="3733354"/>
          </a:xfrm>
          <a:prstGeom prst="rect">
            <a:avLst/>
          </a:prstGeom>
          <a:solidFill>
            <a:srgbClr val="FFFFFF"/>
          </a:solidFill>
          <a:ln/>
        </p:spPr>
      </p:sp>
      <p:sp>
        <p:nvSpPr>
          <p:cNvPr id="5" name="Shape 3"/>
          <p:cNvSpPr/>
          <p:nvPr/>
        </p:nvSpPr>
        <p:spPr>
          <a:xfrm>
            <a:off x="957263" y="2586038"/>
            <a:ext cx="3602087" cy="609600"/>
          </a:xfrm>
          <a:prstGeom prst="rect">
            <a:avLst/>
          </a:prstGeom>
          <a:solidFill>
            <a:srgbClr val="1A3260"/>
          </a:solidFill>
          <a:ln w="9525">
            <a:solidFill>
              <a:srgbClr val="1A3260"/>
            </a:solidFill>
            <a:prstDash val="solid"/>
          </a:ln>
        </p:spPr>
      </p:sp>
      <p:sp>
        <p:nvSpPr>
          <p:cNvPr id="6" name="Text 4"/>
          <p:cNvSpPr/>
          <p:nvPr/>
        </p:nvSpPr>
        <p:spPr>
          <a:xfrm>
            <a:off x="1176338" y="2747963"/>
            <a:ext cx="3272000"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Mechanism</a:t>
            </a:r>
            <a:endParaRPr lang="en-US" sz="1950" dirty="0"/>
          </a:p>
        </p:txBody>
      </p:sp>
      <p:sp>
        <p:nvSpPr>
          <p:cNvPr id="7" name="Shape 5"/>
          <p:cNvSpPr/>
          <p:nvPr/>
        </p:nvSpPr>
        <p:spPr>
          <a:xfrm>
            <a:off x="4559350" y="2586038"/>
            <a:ext cx="2417862" cy="609600"/>
          </a:xfrm>
          <a:prstGeom prst="rect">
            <a:avLst/>
          </a:prstGeom>
          <a:solidFill>
            <a:srgbClr val="1A3260"/>
          </a:solidFill>
          <a:ln w="9525">
            <a:solidFill>
              <a:srgbClr val="1A3260"/>
            </a:solidFill>
            <a:prstDash val="solid"/>
          </a:ln>
        </p:spPr>
      </p:sp>
      <p:sp>
        <p:nvSpPr>
          <p:cNvPr id="8" name="Text 6"/>
          <p:cNvSpPr/>
          <p:nvPr/>
        </p:nvSpPr>
        <p:spPr>
          <a:xfrm>
            <a:off x="4778425" y="2747963"/>
            <a:ext cx="2055912"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Time scale</a:t>
            </a:r>
            <a:endParaRPr lang="en-US" sz="1950" dirty="0"/>
          </a:p>
        </p:txBody>
      </p:sp>
      <p:sp>
        <p:nvSpPr>
          <p:cNvPr id="9" name="Shape 7"/>
          <p:cNvSpPr/>
          <p:nvPr/>
        </p:nvSpPr>
        <p:spPr>
          <a:xfrm>
            <a:off x="6977211" y="2586038"/>
            <a:ext cx="10353526" cy="609600"/>
          </a:xfrm>
          <a:prstGeom prst="rect">
            <a:avLst/>
          </a:prstGeom>
          <a:solidFill>
            <a:srgbClr val="1A3260"/>
          </a:solidFill>
          <a:ln w="9525">
            <a:solidFill>
              <a:srgbClr val="1A3260"/>
            </a:solidFill>
            <a:prstDash val="solid"/>
          </a:ln>
        </p:spPr>
      </p:sp>
      <p:sp>
        <p:nvSpPr>
          <p:cNvPr id="10" name="Text 8"/>
          <p:cNvSpPr/>
          <p:nvPr/>
        </p:nvSpPr>
        <p:spPr>
          <a:xfrm>
            <a:off x="7196286" y="2747963"/>
            <a:ext cx="10225982"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What it does</a:t>
            </a:r>
            <a:endParaRPr lang="en-US" sz="1950" dirty="0"/>
          </a:p>
        </p:txBody>
      </p:sp>
      <p:sp>
        <p:nvSpPr>
          <p:cNvPr id="11" name="Shape 9"/>
          <p:cNvSpPr/>
          <p:nvPr/>
        </p:nvSpPr>
        <p:spPr>
          <a:xfrm>
            <a:off x="957263" y="3195638"/>
            <a:ext cx="3602087" cy="622846"/>
          </a:xfrm>
          <a:prstGeom prst="rect">
            <a:avLst/>
          </a:prstGeom>
          <a:ln w="9525">
            <a:solidFill>
              <a:srgbClr val="EBEBEB"/>
            </a:solidFill>
            <a:prstDash val="solid"/>
          </a:ln>
        </p:spPr>
      </p:sp>
      <p:sp>
        <p:nvSpPr>
          <p:cNvPr id="12" name="Text 10"/>
          <p:cNvSpPr/>
          <p:nvPr/>
        </p:nvSpPr>
        <p:spPr>
          <a:xfrm>
            <a:off x="1176338" y="3338513"/>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Baroreceptors</a:t>
            </a:r>
            <a:endParaRPr lang="en-US" sz="1950" dirty="0"/>
          </a:p>
        </p:txBody>
      </p:sp>
      <p:sp>
        <p:nvSpPr>
          <p:cNvPr id="13" name="Shape 11"/>
          <p:cNvSpPr/>
          <p:nvPr/>
        </p:nvSpPr>
        <p:spPr>
          <a:xfrm>
            <a:off x="4559350" y="3195638"/>
            <a:ext cx="2417862" cy="622846"/>
          </a:xfrm>
          <a:prstGeom prst="rect">
            <a:avLst/>
          </a:prstGeom>
          <a:ln w="9525">
            <a:solidFill>
              <a:srgbClr val="EBEBEB"/>
            </a:solidFill>
            <a:prstDash val="solid"/>
          </a:ln>
        </p:spPr>
      </p:sp>
      <p:sp>
        <p:nvSpPr>
          <p:cNvPr id="14" name="Text 12"/>
          <p:cNvSpPr/>
          <p:nvPr/>
        </p:nvSpPr>
        <p:spPr>
          <a:xfrm>
            <a:off x="4778425" y="3338513"/>
            <a:ext cx="2055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Seconds</a:t>
            </a:r>
            <a:endParaRPr lang="en-US" sz="1950" dirty="0"/>
          </a:p>
        </p:txBody>
      </p:sp>
      <p:sp>
        <p:nvSpPr>
          <p:cNvPr id="15" name="Shape 13"/>
          <p:cNvSpPr/>
          <p:nvPr/>
        </p:nvSpPr>
        <p:spPr>
          <a:xfrm>
            <a:off x="6977211" y="3195638"/>
            <a:ext cx="10353526" cy="622846"/>
          </a:xfrm>
          <a:prstGeom prst="rect">
            <a:avLst/>
          </a:prstGeom>
          <a:ln w="9525">
            <a:solidFill>
              <a:srgbClr val="EBEBEB"/>
            </a:solidFill>
            <a:prstDash val="solid"/>
          </a:ln>
        </p:spPr>
      </p:sp>
      <p:sp>
        <p:nvSpPr>
          <p:cNvPr id="16" name="Text 14"/>
          <p:cNvSpPr/>
          <p:nvPr/>
        </p:nvSpPr>
        <p:spPr>
          <a:xfrm>
            <a:off x="7196286" y="3338513"/>
            <a:ext cx="1022598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Carotid &amp; aortic stretch sensors → adjust HR &amp; SVR via autonomic nervous system</a:t>
            </a:r>
            <a:endParaRPr lang="en-US" sz="1950" dirty="0"/>
          </a:p>
        </p:txBody>
      </p:sp>
      <p:sp>
        <p:nvSpPr>
          <p:cNvPr id="17" name="Shape 15"/>
          <p:cNvSpPr/>
          <p:nvPr/>
        </p:nvSpPr>
        <p:spPr>
          <a:xfrm>
            <a:off x="957263" y="3818483"/>
            <a:ext cx="3602087" cy="622846"/>
          </a:xfrm>
          <a:prstGeom prst="rect">
            <a:avLst/>
          </a:prstGeom>
          <a:solidFill>
            <a:srgbClr val="F5F6F8"/>
          </a:solidFill>
          <a:ln w="9525">
            <a:solidFill>
              <a:srgbClr val="EBEBEB"/>
            </a:solidFill>
            <a:prstDash val="solid"/>
          </a:ln>
        </p:spPr>
      </p:sp>
      <p:sp>
        <p:nvSpPr>
          <p:cNvPr id="18" name="Text 16"/>
          <p:cNvSpPr/>
          <p:nvPr/>
        </p:nvSpPr>
        <p:spPr>
          <a:xfrm>
            <a:off x="1176338" y="3961358"/>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Chemoreceptors</a:t>
            </a:r>
            <a:endParaRPr lang="en-US" sz="1950" dirty="0"/>
          </a:p>
        </p:txBody>
      </p:sp>
      <p:sp>
        <p:nvSpPr>
          <p:cNvPr id="19" name="Shape 17"/>
          <p:cNvSpPr/>
          <p:nvPr/>
        </p:nvSpPr>
        <p:spPr>
          <a:xfrm>
            <a:off x="4559350" y="3818483"/>
            <a:ext cx="2417862" cy="622846"/>
          </a:xfrm>
          <a:prstGeom prst="rect">
            <a:avLst/>
          </a:prstGeom>
          <a:solidFill>
            <a:srgbClr val="F5F6F8"/>
          </a:solidFill>
          <a:ln w="9525">
            <a:solidFill>
              <a:srgbClr val="EBEBEB"/>
            </a:solidFill>
            <a:prstDash val="solid"/>
          </a:ln>
        </p:spPr>
      </p:sp>
      <p:sp>
        <p:nvSpPr>
          <p:cNvPr id="20" name="Text 18"/>
          <p:cNvSpPr/>
          <p:nvPr/>
        </p:nvSpPr>
        <p:spPr>
          <a:xfrm>
            <a:off x="4778425" y="3961358"/>
            <a:ext cx="2055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Seconds–minutes</a:t>
            </a:r>
            <a:endParaRPr lang="en-US" sz="1950" dirty="0"/>
          </a:p>
        </p:txBody>
      </p:sp>
      <p:sp>
        <p:nvSpPr>
          <p:cNvPr id="21" name="Shape 19"/>
          <p:cNvSpPr/>
          <p:nvPr/>
        </p:nvSpPr>
        <p:spPr>
          <a:xfrm>
            <a:off x="6977211" y="3818483"/>
            <a:ext cx="10353526" cy="622846"/>
          </a:xfrm>
          <a:prstGeom prst="rect">
            <a:avLst/>
          </a:prstGeom>
          <a:solidFill>
            <a:srgbClr val="F5F6F8"/>
          </a:solidFill>
          <a:ln w="9525">
            <a:solidFill>
              <a:srgbClr val="EBEBEB"/>
            </a:solidFill>
            <a:prstDash val="solid"/>
          </a:ln>
        </p:spPr>
      </p:sp>
      <p:sp>
        <p:nvSpPr>
          <p:cNvPr id="22" name="Text 20"/>
          <p:cNvSpPr/>
          <p:nvPr/>
        </p:nvSpPr>
        <p:spPr>
          <a:xfrm>
            <a:off x="7196286" y="3961358"/>
            <a:ext cx="1022598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Detect O₂, CO₂, pH → drive sympathetic response</a:t>
            </a:r>
            <a:endParaRPr lang="en-US" sz="1950" dirty="0"/>
          </a:p>
        </p:txBody>
      </p:sp>
      <p:sp>
        <p:nvSpPr>
          <p:cNvPr id="23" name="Shape 21"/>
          <p:cNvSpPr/>
          <p:nvPr/>
        </p:nvSpPr>
        <p:spPr>
          <a:xfrm>
            <a:off x="957263" y="4441329"/>
            <a:ext cx="3602087" cy="622846"/>
          </a:xfrm>
          <a:prstGeom prst="rect">
            <a:avLst/>
          </a:prstGeom>
          <a:ln w="9525">
            <a:solidFill>
              <a:srgbClr val="EBEBEB"/>
            </a:solidFill>
            <a:prstDash val="solid"/>
          </a:ln>
        </p:spPr>
      </p:sp>
      <p:sp>
        <p:nvSpPr>
          <p:cNvPr id="24" name="Text 22"/>
          <p:cNvSpPr/>
          <p:nvPr/>
        </p:nvSpPr>
        <p:spPr>
          <a:xfrm>
            <a:off x="1176338" y="4584204"/>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RAAS</a:t>
            </a:r>
            <a:endParaRPr lang="en-US" sz="1950" dirty="0"/>
          </a:p>
        </p:txBody>
      </p:sp>
      <p:sp>
        <p:nvSpPr>
          <p:cNvPr id="25" name="Shape 23"/>
          <p:cNvSpPr/>
          <p:nvPr/>
        </p:nvSpPr>
        <p:spPr>
          <a:xfrm>
            <a:off x="4559350" y="4441329"/>
            <a:ext cx="2417862" cy="622846"/>
          </a:xfrm>
          <a:prstGeom prst="rect">
            <a:avLst/>
          </a:prstGeom>
          <a:ln w="9525">
            <a:solidFill>
              <a:srgbClr val="EBEBEB"/>
            </a:solidFill>
            <a:prstDash val="solid"/>
          </a:ln>
        </p:spPr>
      </p:sp>
      <p:sp>
        <p:nvSpPr>
          <p:cNvPr id="26" name="Text 24"/>
          <p:cNvSpPr/>
          <p:nvPr/>
        </p:nvSpPr>
        <p:spPr>
          <a:xfrm>
            <a:off x="4778425" y="4584204"/>
            <a:ext cx="2055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Minutes–hours</a:t>
            </a:r>
            <a:endParaRPr lang="en-US" sz="1950" dirty="0"/>
          </a:p>
        </p:txBody>
      </p:sp>
      <p:sp>
        <p:nvSpPr>
          <p:cNvPr id="27" name="Shape 25"/>
          <p:cNvSpPr/>
          <p:nvPr/>
        </p:nvSpPr>
        <p:spPr>
          <a:xfrm>
            <a:off x="6977211" y="4441329"/>
            <a:ext cx="10353526" cy="622846"/>
          </a:xfrm>
          <a:prstGeom prst="rect">
            <a:avLst/>
          </a:prstGeom>
          <a:ln w="9525">
            <a:solidFill>
              <a:srgbClr val="EBEBEB"/>
            </a:solidFill>
            <a:prstDash val="solid"/>
          </a:ln>
        </p:spPr>
      </p:sp>
      <p:sp>
        <p:nvSpPr>
          <p:cNvPr id="28" name="Text 26"/>
          <p:cNvSpPr/>
          <p:nvPr/>
        </p:nvSpPr>
        <p:spPr>
          <a:xfrm>
            <a:off x="7196286" y="4584204"/>
            <a:ext cx="1022598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Renin → angiotensin II (vasoconstriction) → aldosterone (Na⁺/H₂O retention)</a:t>
            </a:r>
            <a:endParaRPr lang="en-US" sz="1950" dirty="0"/>
          </a:p>
        </p:txBody>
      </p:sp>
      <p:sp>
        <p:nvSpPr>
          <p:cNvPr id="29" name="Shape 27"/>
          <p:cNvSpPr/>
          <p:nvPr/>
        </p:nvSpPr>
        <p:spPr>
          <a:xfrm>
            <a:off x="957263" y="5064175"/>
            <a:ext cx="3602087" cy="622846"/>
          </a:xfrm>
          <a:prstGeom prst="rect">
            <a:avLst/>
          </a:prstGeom>
          <a:solidFill>
            <a:srgbClr val="F5F6F8"/>
          </a:solidFill>
          <a:ln w="9525">
            <a:solidFill>
              <a:srgbClr val="EBEBEB"/>
            </a:solidFill>
            <a:prstDash val="solid"/>
          </a:ln>
        </p:spPr>
      </p:sp>
      <p:sp>
        <p:nvSpPr>
          <p:cNvPr id="30" name="Text 28"/>
          <p:cNvSpPr/>
          <p:nvPr/>
        </p:nvSpPr>
        <p:spPr>
          <a:xfrm>
            <a:off x="1176338" y="5207050"/>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ADH (vasopressin)</a:t>
            </a:r>
            <a:endParaRPr lang="en-US" sz="1950" dirty="0"/>
          </a:p>
        </p:txBody>
      </p:sp>
      <p:sp>
        <p:nvSpPr>
          <p:cNvPr id="31" name="Shape 29"/>
          <p:cNvSpPr/>
          <p:nvPr/>
        </p:nvSpPr>
        <p:spPr>
          <a:xfrm>
            <a:off x="4559350" y="5064175"/>
            <a:ext cx="2417862" cy="622846"/>
          </a:xfrm>
          <a:prstGeom prst="rect">
            <a:avLst/>
          </a:prstGeom>
          <a:solidFill>
            <a:srgbClr val="F5F6F8"/>
          </a:solidFill>
          <a:ln w="9525">
            <a:solidFill>
              <a:srgbClr val="EBEBEB"/>
            </a:solidFill>
            <a:prstDash val="solid"/>
          </a:ln>
        </p:spPr>
      </p:sp>
      <p:sp>
        <p:nvSpPr>
          <p:cNvPr id="32" name="Text 30"/>
          <p:cNvSpPr/>
          <p:nvPr/>
        </p:nvSpPr>
        <p:spPr>
          <a:xfrm>
            <a:off x="4778425" y="5207050"/>
            <a:ext cx="2055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Hours</a:t>
            </a:r>
            <a:endParaRPr lang="en-US" sz="1950" dirty="0"/>
          </a:p>
        </p:txBody>
      </p:sp>
      <p:sp>
        <p:nvSpPr>
          <p:cNvPr id="33" name="Shape 31"/>
          <p:cNvSpPr/>
          <p:nvPr/>
        </p:nvSpPr>
        <p:spPr>
          <a:xfrm>
            <a:off x="6977211" y="5064175"/>
            <a:ext cx="10353526" cy="622846"/>
          </a:xfrm>
          <a:prstGeom prst="rect">
            <a:avLst/>
          </a:prstGeom>
          <a:solidFill>
            <a:srgbClr val="F5F6F8"/>
          </a:solidFill>
          <a:ln w="9525">
            <a:solidFill>
              <a:srgbClr val="EBEBEB"/>
            </a:solidFill>
            <a:prstDash val="solid"/>
          </a:ln>
        </p:spPr>
      </p:sp>
      <p:sp>
        <p:nvSpPr>
          <p:cNvPr id="34" name="Text 32"/>
          <p:cNvSpPr/>
          <p:nvPr/>
        </p:nvSpPr>
        <p:spPr>
          <a:xfrm>
            <a:off x="7196286" y="5207050"/>
            <a:ext cx="1022598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Water retention &amp; vasoconstriction in shock states</a:t>
            </a:r>
            <a:endParaRPr lang="en-US" sz="1950" dirty="0"/>
          </a:p>
        </p:txBody>
      </p:sp>
      <p:sp>
        <p:nvSpPr>
          <p:cNvPr id="35" name="Shape 33"/>
          <p:cNvSpPr/>
          <p:nvPr/>
        </p:nvSpPr>
        <p:spPr>
          <a:xfrm>
            <a:off x="957263" y="5687020"/>
            <a:ext cx="3602087" cy="622846"/>
          </a:xfrm>
          <a:prstGeom prst="rect">
            <a:avLst/>
          </a:prstGeom>
          <a:ln w="9525">
            <a:solidFill>
              <a:srgbClr val="EBEBEB"/>
            </a:solidFill>
            <a:prstDash val="solid"/>
          </a:ln>
        </p:spPr>
      </p:sp>
      <p:sp>
        <p:nvSpPr>
          <p:cNvPr id="36" name="Text 34"/>
          <p:cNvSpPr/>
          <p:nvPr/>
        </p:nvSpPr>
        <p:spPr>
          <a:xfrm>
            <a:off x="1176338" y="5829895"/>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ANP / BNP</a:t>
            </a:r>
            <a:endParaRPr lang="en-US" sz="1950" dirty="0"/>
          </a:p>
        </p:txBody>
      </p:sp>
      <p:sp>
        <p:nvSpPr>
          <p:cNvPr id="37" name="Shape 35"/>
          <p:cNvSpPr/>
          <p:nvPr/>
        </p:nvSpPr>
        <p:spPr>
          <a:xfrm>
            <a:off x="4559350" y="5687020"/>
            <a:ext cx="2417862" cy="622846"/>
          </a:xfrm>
          <a:prstGeom prst="rect">
            <a:avLst/>
          </a:prstGeom>
          <a:ln w="9525">
            <a:solidFill>
              <a:srgbClr val="EBEBEB"/>
            </a:solidFill>
            <a:prstDash val="solid"/>
          </a:ln>
        </p:spPr>
      </p:sp>
      <p:sp>
        <p:nvSpPr>
          <p:cNvPr id="38" name="Text 36"/>
          <p:cNvSpPr/>
          <p:nvPr/>
        </p:nvSpPr>
        <p:spPr>
          <a:xfrm>
            <a:off x="4778425" y="5829895"/>
            <a:ext cx="205591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Hours</a:t>
            </a:r>
            <a:endParaRPr lang="en-US" sz="1950" dirty="0"/>
          </a:p>
        </p:txBody>
      </p:sp>
      <p:sp>
        <p:nvSpPr>
          <p:cNvPr id="39" name="Shape 37"/>
          <p:cNvSpPr/>
          <p:nvPr/>
        </p:nvSpPr>
        <p:spPr>
          <a:xfrm>
            <a:off x="6977211" y="5687020"/>
            <a:ext cx="10353526" cy="622846"/>
          </a:xfrm>
          <a:prstGeom prst="rect">
            <a:avLst/>
          </a:prstGeom>
          <a:ln w="9525">
            <a:solidFill>
              <a:srgbClr val="EBEBEB"/>
            </a:solidFill>
            <a:prstDash val="solid"/>
          </a:ln>
        </p:spPr>
      </p:sp>
      <p:sp>
        <p:nvSpPr>
          <p:cNvPr id="40" name="Text 38"/>
          <p:cNvSpPr/>
          <p:nvPr/>
        </p:nvSpPr>
        <p:spPr>
          <a:xfrm>
            <a:off x="7196286" y="5829895"/>
            <a:ext cx="10225982"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Released from stretched atria/ventricles → natriuresis &amp; vasodilation (BNP marker for HF)</a:t>
            </a:r>
            <a:endParaRPr lang="en-US" sz="1950" dirty="0"/>
          </a:p>
        </p:txBody>
      </p:sp>
      <p:pic>
        <p:nvPicPr>
          <p:cNvPr id="41"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42" name="Text 39"/>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43" name="Text 40"/>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12 / 35</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sp>
      <p:sp>
        <p:nvSpPr>
          <p:cNvPr id="3" name="Shape 1"/>
          <p:cNvSpPr/>
          <p:nvPr/>
        </p:nvSpPr>
        <p:spPr>
          <a:xfrm>
            <a:off x="952500" y="876300"/>
            <a:ext cx="3173611" cy="438150"/>
          </a:xfrm>
          <a:prstGeom prst="rect">
            <a:avLst/>
          </a:prstGeom>
          <a:solidFill>
            <a:srgbClr val="45CBE8"/>
          </a:solidFill>
          <a:ln/>
        </p:spPr>
      </p:sp>
      <p:sp>
        <p:nvSpPr>
          <p:cNvPr id="4" name="Text 2"/>
          <p:cNvSpPr/>
          <p:nvPr/>
        </p:nvSpPr>
        <p:spPr>
          <a:xfrm>
            <a:off x="1162050" y="971550"/>
            <a:ext cx="2849719"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KNOWLEDGE CHECK</a:t>
            </a:r>
            <a:endParaRPr lang="en-US" sz="1650" dirty="0"/>
          </a:p>
        </p:txBody>
      </p:sp>
      <p:sp>
        <p:nvSpPr>
          <p:cNvPr id="5" name="Text 3"/>
          <p:cNvSpPr/>
          <p:nvPr/>
        </p:nvSpPr>
        <p:spPr>
          <a:xfrm>
            <a:off x="4316611" y="857250"/>
            <a:ext cx="2241947"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Question 1</a:t>
            </a:r>
            <a:endParaRPr lang="en-US" sz="3300" dirty="0"/>
          </a:p>
        </p:txBody>
      </p:sp>
      <p:sp>
        <p:nvSpPr>
          <p:cNvPr id="6" name="Text 4"/>
          <p:cNvSpPr/>
          <p:nvPr/>
        </p:nvSpPr>
        <p:spPr>
          <a:xfrm>
            <a:off x="952500" y="1600200"/>
            <a:ext cx="15697200"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111827"/>
                </a:solidFill>
                <a:latin typeface="Arial" pitchFamily="34" charset="0"/>
                <a:ea typeface="Arial" pitchFamily="34" charset="-122"/>
                <a:cs typeface="Arial" pitchFamily="34" charset="-120"/>
              </a:rPr>
              <a:t>Which mechanism explains how the cardiovascular system normally supports oxygen delivery?</a:t>
            </a:r>
            <a:endParaRPr lang="en-US" sz="2400" dirty="0"/>
          </a:p>
        </p:txBody>
      </p:sp>
      <p:sp>
        <p:nvSpPr>
          <p:cNvPr id="7" name="Shape 5"/>
          <p:cNvSpPr/>
          <p:nvPr/>
        </p:nvSpPr>
        <p:spPr>
          <a:xfrm>
            <a:off x="952500" y="2369790"/>
            <a:ext cx="8096250" cy="895350"/>
          </a:xfrm>
          <a:prstGeom prst="rect">
            <a:avLst/>
          </a:prstGeom>
          <a:solidFill>
            <a:srgbClr val="F1F8EE"/>
          </a:solidFill>
          <a:ln w="9525">
            <a:solidFill>
              <a:srgbClr val="42955F"/>
            </a:solidFill>
            <a:prstDash val="solid"/>
          </a:ln>
        </p:spPr>
      </p:sp>
      <p:sp>
        <p:nvSpPr>
          <p:cNvPr id="8" name="Shape 6"/>
          <p:cNvSpPr/>
          <p:nvPr/>
        </p:nvSpPr>
        <p:spPr>
          <a:xfrm>
            <a:off x="1209675" y="2588865"/>
            <a:ext cx="457200" cy="457200"/>
          </a:xfrm>
          <a:prstGeom prst="rect">
            <a:avLst/>
          </a:prstGeom>
          <a:solidFill>
            <a:srgbClr val="42955F"/>
          </a:solidFill>
          <a:ln/>
        </p:spPr>
      </p:sp>
      <p:sp>
        <p:nvSpPr>
          <p:cNvPr id="9" name="Text 7"/>
          <p:cNvSpPr/>
          <p:nvPr/>
        </p:nvSpPr>
        <p:spPr>
          <a:xfrm>
            <a:off x="117157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a:t>
            </a:r>
            <a:endParaRPr lang="en-US" sz="1950" dirty="0"/>
          </a:p>
        </p:txBody>
      </p:sp>
      <p:sp>
        <p:nvSpPr>
          <p:cNvPr id="10" name="Text 8"/>
          <p:cNvSpPr/>
          <p:nvPr/>
        </p:nvSpPr>
        <p:spPr>
          <a:xfrm>
            <a:off x="1914525" y="258886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Movement of blood through vessels delivers oxygen to tissues</a:t>
            </a:r>
            <a:endParaRPr lang="en-US" sz="1950" dirty="0"/>
          </a:p>
        </p:txBody>
      </p:sp>
      <p:sp>
        <p:nvSpPr>
          <p:cNvPr id="11" name="Shape 9"/>
          <p:cNvSpPr/>
          <p:nvPr/>
        </p:nvSpPr>
        <p:spPr>
          <a:xfrm>
            <a:off x="9239250" y="2369790"/>
            <a:ext cx="8096250" cy="895350"/>
          </a:xfrm>
          <a:prstGeom prst="rect">
            <a:avLst/>
          </a:prstGeom>
          <a:solidFill>
            <a:srgbClr val="FFFFFF"/>
          </a:solidFill>
          <a:ln w="9525">
            <a:solidFill>
              <a:srgbClr val="EBEBEB"/>
            </a:solidFill>
            <a:prstDash val="solid"/>
          </a:ln>
        </p:spPr>
      </p:sp>
      <p:sp>
        <p:nvSpPr>
          <p:cNvPr id="12" name="Shape 10"/>
          <p:cNvSpPr/>
          <p:nvPr/>
        </p:nvSpPr>
        <p:spPr>
          <a:xfrm>
            <a:off x="9496425" y="2588865"/>
            <a:ext cx="457200" cy="457200"/>
          </a:xfrm>
          <a:prstGeom prst="rect">
            <a:avLst/>
          </a:prstGeom>
          <a:solidFill>
            <a:srgbClr val="1A3260"/>
          </a:solidFill>
          <a:ln/>
        </p:spPr>
      </p:sp>
      <p:sp>
        <p:nvSpPr>
          <p:cNvPr id="13" name="Text 11"/>
          <p:cNvSpPr/>
          <p:nvPr/>
        </p:nvSpPr>
        <p:spPr>
          <a:xfrm>
            <a:off x="945832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B</a:t>
            </a:r>
            <a:endParaRPr lang="en-US" sz="1950" dirty="0"/>
          </a:p>
        </p:txBody>
      </p:sp>
      <p:sp>
        <p:nvSpPr>
          <p:cNvPr id="14" name="Text 12"/>
          <p:cNvSpPr/>
          <p:nvPr/>
        </p:nvSpPr>
        <p:spPr>
          <a:xfrm>
            <a:off x="10201275" y="258886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Retention of blood in capillaries increases oxygen diffusion</a:t>
            </a:r>
            <a:endParaRPr lang="en-US" sz="1950" dirty="0"/>
          </a:p>
        </p:txBody>
      </p:sp>
      <p:sp>
        <p:nvSpPr>
          <p:cNvPr id="15" name="Shape 13"/>
          <p:cNvSpPr/>
          <p:nvPr/>
        </p:nvSpPr>
        <p:spPr>
          <a:xfrm>
            <a:off x="952500" y="3455640"/>
            <a:ext cx="8096250" cy="1131391"/>
          </a:xfrm>
          <a:prstGeom prst="rect">
            <a:avLst/>
          </a:prstGeom>
          <a:solidFill>
            <a:srgbClr val="FFFFFF"/>
          </a:solidFill>
          <a:ln w="9525">
            <a:solidFill>
              <a:srgbClr val="EBEBEB"/>
            </a:solidFill>
            <a:prstDash val="solid"/>
          </a:ln>
        </p:spPr>
      </p:sp>
      <p:sp>
        <p:nvSpPr>
          <p:cNvPr id="16" name="Shape 14"/>
          <p:cNvSpPr/>
          <p:nvPr/>
        </p:nvSpPr>
        <p:spPr>
          <a:xfrm>
            <a:off x="1209675" y="3674715"/>
            <a:ext cx="457200" cy="457200"/>
          </a:xfrm>
          <a:prstGeom prst="rect">
            <a:avLst/>
          </a:prstGeom>
          <a:solidFill>
            <a:srgbClr val="1A3260"/>
          </a:solidFill>
          <a:ln/>
        </p:spPr>
      </p:sp>
      <p:sp>
        <p:nvSpPr>
          <p:cNvPr id="17" name="Text 15"/>
          <p:cNvSpPr/>
          <p:nvPr/>
        </p:nvSpPr>
        <p:spPr>
          <a:xfrm>
            <a:off x="1171575" y="367471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C</a:t>
            </a:r>
            <a:endParaRPr lang="en-US" sz="1950" dirty="0"/>
          </a:p>
        </p:txBody>
      </p:sp>
      <p:sp>
        <p:nvSpPr>
          <p:cNvPr id="18" name="Text 16"/>
          <p:cNvSpPr/>
          <p:nvPr/>
        </p:nvSpPr>
        <p:spPr>
          <a:xfrm>
            <a:off x="1914525" y="3674715"/>
            <a:ext cx="708336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Diversion of blood away from tissues increases oxygen delivery</a:t>
            </a:r>
            <a:endParaRPr lang="en-US" sz="1950" dirty="0"/>
          </a:p>
        </p:txBody>
      </p:sp>
      <p:sp>
        <p:nvSpPr>
          <p:cNvPr id="19" name="Shape 17"/>
          <p:cNvSpPr/>
          <p:nvPr/>
        </p:nvSpPr>
        <p:spPr>
          <a:xfrm>
            <a:off x="9239250" y="3455640"/>
            <a:ext cx="8096250" cy="1131391"/>
          </a:xfrm>
          <a:prstGeom prst="rect">
            <a:avLst/>
          </a:prstGeom>
          <a:solidFill>
            <a:srgbClr val="FFFFFF"/>
          </a:solidFill>
          <a:ln w="9525">
            <a:solidFill>
              <a:srgbClr val="EBEBEB"/>
            </a:solidFill>
            <a:prstDash val="solid"/>
          </a:ln>
        </p:spPr>
      </p:sp>
      <p:sp>
        <p:nvSpPr>
          <p:cNvPr id="20" name="Shape 18"/>
          <p:cNvSpPr/>
          <p:nvPr/>
        </p:nvSpPr>
        <p:spPr>
          <a:xfrm>
            <a:off x="9496425" y="3674715"/>
            <a:ext cx="457200" cy="457200"/>
          </a:xfrm>
          <a:prstGeom prst="rect">
            <a:avLst/>
          </a:prstGeom>
          <a:solidFill>
            <a:srgbClr val="1A3260"/>
          </a:solidFill>
          <a:ln/>
        </p:spPr>
      </p:sp>
      <p:sp>
        <p:nvSpPr>
          <p:cNvPr id="21" name="Text 19"/>
          <p:cNvSpPr/>
          <p:nvPr/>
        </p:nvSpPr>
        <p:spPr>
          <a:xfrm>
            <a:off x="9458325" y="367471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D</a:t>
            </a:r>
            <a:endParaRPr lang="en-US" sz="1950" dirty="0"/>
          </a:p>
        </p:txBody>
      </p:sp>
      <p:sp>
        <p:nvSpPr>
          <p:cNvPr id="22" name="Text 20"/>
          <p:cNvSpPr/>
          <p:nvPr/>
        </p:nvSpPr>
        <p:spPr>
          <a:xfrm>
            <a:off x="10201275" y="3674715"/>
            <a:ext cx="708336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Reduction of blood flow during activity improves oxygen supply</a:t>
            </a:r>
            <a:endParaRPr lang="en-US" sz="1950" dirty="0"/>
          </a:p>
        </p:txBody>
      </p:sp>
      <p:pic>
        <p:nvPicPr>
          <p:cNvPr id="23"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4" name="Text 21"/>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5" name="Text 22"/>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13 / 35</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sp>
      <p:sp>
        <p:nvSpPr>
          <p:cNvPr id="3" name="Shape 1"/>
          <p:cNvSpPr/>
          <p:nvPr/>
        </p:nvSpPr>
        <p:spPr>
          <a:xfrm>
            <a:off x="952500" y="876300"/>
            <a:ext cx="3173611" cy="438150"/>
          </a:xfrm>
          <a:prstGeom prst="rect">
            <a:avLst/>
          </a:prstGeom>
          <a:solidFill>
            <a:srgbClr val="45CBE8"/>
          </a:solidFill>
          <a:ln/>
        </p:spPr>
      </p:sp>
      <p:sp>
        <p:nvSpPr>
          <p:cNvPr id="4" name="Text 2"/>
          <p:cNvSpPr/>
          <p:nvPr/>
        </p:nvSpPr>
        <p:spPr>
          <a:xfrm>
            <a:off x="1162050" y="971550"/>
            <a:ext cx="2849719"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KNOWLEDGE CHECK</a:t>
            </a:r>
            <a:endParaRPr lang="en-US" sz="1650" dirty="0"/>
          </a:p>
        </p:txBody>
      </p:sp>
      <p:sp>
        <p:nvSpPr>
          <p:cNvPr id="5" name="Text 3"/>
          <p:cNvSpPr/>
          <p:nvPr/>
        </p:nvSpPr>
        <p:spPr>
          <a:xfrm>
            <a:off x="4316611" y="857250"/>
            <a:ext cx="2241947"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Question 2</a:t>
            </a:r>
            <a:endParaRPr lang="en-US" sz="3300" dirty="0"/>
          </a:p>
        </p:txBody>
      </p:sp>
      <p:sp>
        <p:nvSpPr>
          <p:cNvPr id="6" name="Text 4"/>
          <p:cNvSpPr/>
          <p:nvPr/>
        </p:nvSpPr>
        <p:spPr>
          <a:xfrm>
            <a:off x="952500" y="1600200"/>
            <a:ext cx="15697200"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111827"/>
                </a:solidFill>
                <a:latin typeface="Arial" pitchFamily="34" charset="0"/>
                <a:ea typeface="Arial" pitchFamily="34" charset="-122"/>
                <a:cs typeface="Arial" pitchFamily="34" charset="-120"/>
              </a:rPr>
              <a:t>Which physiologic change explains why the left ventricle has a thicker wall than the right ventricle?</a:t>
            </a:r>
            <a:endParaRPr lang="en-US" sz="2400" dirty="0"/>
          </a:p>
        </p:txBody>
      </p:sp>
      <p:sp>
        <p:nvSpPr>
          <p:cNvPr id="7" name="Shape 5"/>
          <p:cNvSpPr/>
          <p:nvPr/>
        </p:nvSpPr>
        <p:spPr>
          <a:xfrm>
            <a:off x="952500" y="2369790"/>
            <a:ext cx="8096250" cy="1131391"/>
          </a:xfrm>
          <a:prstGeom prst="rect">
            <a:avLst/>
          </a:prstGeom>
          <a:solidFill>
            <a:srgbClr val="F1F8EE"/>
          </a:solidFill>
          <a:ln w="9525">
            <a:solidFill>
              <a:srgbClr val="42955F"/>
            </a:solidFill>
            <a:prstDash val="solid"/>
          </a:ln>
        </p:spPr>
      </p:sp>
      <p:sp>
        <p:nvSpPr>
          <p:cNvPr id="8" name="Shape 6"/>
          <p:cNvSpPr/>
          <p:nvPr/>
        </p:nvSpPr>
        <p:spPr>
          <a:xfrm>
            <a:off x="1209675" y="2588865"/>
            <a:ext cx="457200" cy="457200"/>
          </a:xfrm>
          <a:prstGeom prst="rect">
            <a:avLst/>
          </a:prstGeom>
          <a:solidFill>
            <a:srgbClr val="42955F"/>
          </a:solidFill>
          <a:ln/>
        </p:spPr>
      </p:sp>
      <p:sp>
        <p:nvSpPr>
          <p:cNvPr id="9" name="Text 7"/>
          <p:cNvSpPr/>
          <p:nvPr/>
        </p:nvSpPr>
        <p:spPr>
          <a:xfrm>
            <a:off x="117157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a:t>
            </a:r>
            <a:endParaRPr lang="en-US" sz="1950" dirty="0"/>
          </a:p>
        </p:txBody>
      </p:sp>
      <p:sp>
        <p:nvSpPr>
          <p:cNvPr id="10" name="Text 8"/>
          <p:cNvSpPr/>
          <p:nvPr/>
        </p:nvSpPr>
        <p:spPr>
          <a:xfrm>
            <a:off x="1914525" y="258886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The left ventricle generates greater force against systemic flow</a:t>
            </a:r>
            <a:endParaRPr lang="en-US" sz="1950" dirty="0"/>
          </a:p>
        </p:txBody>
      </p:sp>
      <p:sp>
        <p:nvSpPr>
          <p:cNvPr id="11" name="Shape 9"/>
          <p:cNvSpPr/>
          <p:nvPr/>
        </p:nvSpPr>
        <p:spPr>
          <a:xfrm>
            <a:off x="9239250" y="2369790"/>
            <a:ext cx="8096250" cy="1131391"/>
          </a:xfrm>
          <a:prstGeom prst="rect">
            <a:avLst/>
          </a:prstGeom>
          <a:solidFill>
            <a:srgbClr val="FFFFFF"/>
          </a:solidFill>
          <a:ln w="9525">
            <a:solidFill>
              <a:srgbClr val="EBEBEB"/>
            </a:solidFill>
            <a:prstDash val="solid"/>
          </a:ln>
        </p:spPr>
      </p:sp>
      <p:sp>
        <p:nvSpPr>
          <p:cNvPr id="12" name="Shape 10"/>
          <p:cNvSpPr/>
          <p:nvPr/>
        </p:nvSpPr>
        <p:spPr>
          <a:xfrm>
            <a:off x="9496425" y="2588865"/>
            <a:ext cx="457200" cy="457200"/>
          </a:xfrm>
          <a:prstGeom prst="rect">
            <a:avLst/>
          </a:prstGeom>
          <a:solidFill>
            <a:srgbClr val="1A3260"/>
          </a:solidFill>
          <a:ln/>
        </p:spPr>
      </p:sp>
      <p:sp>
        <p:nvSpPr>
          <p:cNvPr id="13" name="Text 11"/>
          <p:cNvSpPr/>
          <p:nvPr/>
        </p:nvSpPr>
        <p:spPr>
          <a:xfrm>
            <a:off x="945832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B</a:t>
            </a:r>
            <a:endParaRPr lang="en-US" sz="1950" dirty="0"/>
          </a:p>
        </p:txBody>
      </p:sp>
      <p:sp>
        <p:nvSpPr>
          <p:cNvPr id="14" name="Text 12"/>
          <p:cNvSpPr/>
          <p:nvPr/>
        </p:nvSpPr>
        <p:spPr>
          <a:xfrm>
            <a:off x="10201275" y="2588865"/>
            <a:ext cx="708336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The left ventricle contains greater volume during ventricular filling</a:t>
            </a:r>
            <a:endParaRPr lang="en-US" sz="1950" dirty="0"/>
          </a:p>
        </p:txBody>
      </p:sp>
      <p:sp>
        <p:nvSpPr>
          <p:cNvPr id="15" name="Shape 13"/>
          <p:cNvSpPr/>
          <p:nvPr/>
        </p:nvSpPr>
        <p:spPr>
          <a:xfrm>
            <a:off x="952500" y="3691682"/>
            <a:ext cx="8096250" cy="1131391"/>
          </a:xfrm>
          <a:prstGeom prst="rect">
            <a:avLst/>
          </a:prstGeom>
          <a:solidFill>
            <a:srgbClr val="FFFFFF"/>
          </a:solidFill>
          <a:ln w="9525">
            <a:solidFill>
              <a:srgbClr val="EBEBEB"/>
            </a:solidFill>
            <a:prstDash val="solid"/>
          </a:ln>
        </p:spPr>
      </p:sp>
      <p:sp>
        <p:nvSpPr>
          <p:cNvPr id="16" name="Shape 14"/>
          <p:cNvSpPr/>
          <p:nvPr/>
        </p:nvSpPr>
        <p:spPr>
          <a:xfrm>
            <a:off x="1209675" y="3910757"/>
            <a:ext cx="457200" cy="457200"/>
          </a:xfrm>
          <a:prstGeom prst="rect">
            <a:avLst/>
          </a:prstGeom>
          <a:solidFill>
            <a:srgbClr val="1A3260"/>
          </a:solidFill>
          <a:ln/>
        </p:spPr>
      </p:sp>
      <p:sp>
        <p:nvSpPr>
          <p:cNvPr id="17" name="Text 15"/>
          <p:cNvSpPr/>
          <p:nvPr/>
        </p:nvSpPr>
        <p:spPr>
          <a:xfrm>
            <a:off x="1171575" y="3910757"/>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C</a:t>
            </a:r>
            <a:endParaRPr lang="en-US" sz="1950" dirty="0"/>
          </a:p>
        </p:txBody>
      </p:sp>
      <p:sp>
        <p:nvSpPr>
          <p:cNvPr id="18" name="Text 16"/>
          <p:cNvSpPr/>
          <p:nvPr/>
        </p:nvSpPr>
        <p:spPr>
          <a:xfrm>
            <a:off x="1914525" y="3910757"/>
            <a:ext cx="7083362"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The left ventricle receives oxygenated blood from pulmonary veins</a:t>
            </a:r>
            <a:endParaRPr lang="en-US" sz="1950" dirty="0"/>
          </a:p>
        </p:txBody>
      </p:sp>
      <p:sp>
        <p:nvSpPr>
          <p:cNvPr id="19" name="Shape 17"/>
          <p:cNvSpPr/>
          <p:nvPr/>
        </p:nvSpPr>
        <p:spPr>
          <a:xfrm>
            <a:off x="9239250" y="3691682"/>
            <a:ext cx="8096250" cy="1131391"/>
          </a:xfrm>
          <a:prstGeom prst="rect">
            <a:avLst/>
          </a:prstGeom>
          <a:solidFill>
            <a:srgbClr val="FFFFFF"/>
          </a:solidFill>
          <a:ln w="9525">
            <a:solidFill>
              <a:srgbClr val="EBEBEB"/>
            </a:solidFill>
            <a:prstDash val="solid"/>
          </a:ln>
        </p:spPr>
      </p:sp>
      <p:sp>
        <p:nvSpPr>
          <p:cNvPr id="20" name="Shape 18"/>
          <p:cNvSpPr/>
          <p:nvPr/>
        </p:nvSpPr>
        <p:spPr>
          <a:xfrm>
            <a:off x="9496425" y="3910757"/>
            <a:ext cx="457200" cy="457200"/>
          </a:xfrm>
          <a:prstGeom prst="rect">
            <a:avLst/>
          </a:prstGeom>
          <a:solidFill>
            <a:srgbClr val="1A3260"/>
          </a:solidFill>
          <a:ln/>
        </p:spPr>
      </p:sp>
      <p:sp>
        <p:nvSpPr>
          <p:cNvPr id="21" name="Text 19"/>
          <p:cNvSpPr/>
          <p:nvPr/>
        </p:nvSpPr>
        <p:spPr>
          <a:xfrm>
            <a:off x="9458325" y="3910757"/>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D</a:t>
            </a:r>
            <a:endParaRPr lang="en-US" sz="1950" dirty="0"/>
          </a:p>
        </p:txBody>
      </p:sp>
      <p:sp>
        <p:nvSpPr>
          <p:cNvPr id="22" name="Text 20"/>
          <p:cNvSpPr/>
          <p:nvPr/>
        </p:nvSpPr>
        <p:spPr>
          <a:xfrm>
            <a:off x="10201275" y="3910757"/>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The left ventricle uses less oxygen during each contraction</a:t>
            </a:r>
            <a:endParaRPr lang="en-US" sz="1950" dirty="0"/>
          </a:p>
        </p:txBody>
      </p:sp>
      <p:pic>
        <p:nvPicPr>
          <p:cNvPr id="23"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4" name="Text 21"/>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5" name="Text 22"/>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14 / 35</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sp>
      <p:sp>
        <p:nvSpPr>
          <p:cNvPr id="3" name="Shape 1"/>
          <p:cNvSpPr/>
          <p:nvPr/>
        </p:nvSpPr>
        <p:spPr>
          <a:xfrm>
            <a:off x="952500" y="876300"/>
            <a:ext cx="3173611" cy="438150"/>
          </a:xfrm>
          <a:prstGeom prst="rect">
            <a:avLst/>
          </a:prstGeom>
          <a:solidFill>
            <a:srgbClr val="45CBE8"/>
          </a:solidFill>
          <a:ln/>
        </p:spPr>
      </p:sp>
      <p:sp>
        <p:nvSpPr>
          <p:cNvPr id="4" name="Text 2"/>
          <p:cNvSpPr/>
          <p:nvPr/>
        </p:nvSpPr>
        <p:spPr>
          <a:xfrm>
            <a:off x="1162050" y="971550"/>
            <a:ext cx="2849719"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KNOWLEDGE CHECK</a:t>
            </a:r>
            <a:endParaRPr lang="en-US" sz="1650" dirty="0"/>
          </a:p>
        </p:txBody>
      </p:sp>
      <p:sp>
        <p:nvSpPr>
          <p:cNvPr id="5" name="Text 3"/>
          <p:cNvSpPr/>
          <p:nvPr/>
        </p:nvSpPr>
        <p:spPr>
          <a:xfrm>
            <a:off x="4316611" y="857250"/>
            <a:ext cx="2241947"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Question 3</a:t>
            </a:r>
            <a:endParaRPr lang="en-US" sz="3300" dirty="0"/>
          </a:p>
        </p:txBody>
      </p:sp>
      <p:sp>
        <p:nvSpPr>
          <p:cNvPr id="6" name="Text 4"/>
          <p:cNvSpPr/>
          <p:nvPr/>
        </p:nvSpPr>
        <p:spPr>
          <a:xfrm>
            <a:off x="952500" y="1600200"/>
            <a:ext cx="15697200"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111827"/>
                </a:solidFill>
                <a:latin typeface="Arial" pitchFamily="34" charset="0"/>
                <a:ea typeface="Arial" pitchFamily="34" charset="-122"/>
                <a:cs typeface="Arial" pitchFamily="34" charset="-120"/>
              </a:rPr>
              <a:t>Which mechanism ensures one-way blood flow through the heart?</a:t>
            </a:r>
            <a:endParaRPr lang="en-US" sz="2400" dirty="0"/>
          </a:p>
        </p:txBody>
      </p:sp>
      <p:sp>
        <p:nvSpPr>
          <p:cNvPr id="7" name="Shape 5"/>
          <p:cNvSpPr/>
          <p:nvPr/>
        </p:nvSpPr>
        <p:spPr>
          <a:xfrm>
            <a:off x="952500" y="2369790"/>
            <a:ext cx="8096250" cy="895350"/>
          </a:xfrm>
          <a:prstGeom prst="rect">
            <a:avLst/>
          </a:prstGeom>
          <a:solidFill>
            <a:srgbClr val="F1F8EE"/>
          </a:solidFill>
          <a:ln w="9525">
            <a:solidFill>
              <a:srgbClr val="42955F"/>
            </a:solidFill>
            <a:prstDash val="solid"/>
          </a:ln>
        </p:spPr>
      </p:sp>
      <p:sp>
        <p:nvSpPr>
          <p:cNvPr id="8" name="Shape 6"/>
          <p:cNvSpPr/>
          <p:nvPr/>
        </p:nvSpPr>
        <p:spPr>
          <a:xfrm>
            <a:off x="1209675" y="2588865"/>
            <a:ext cx="457200" cy="457200"/>
          </a:xfrm>
          <a:prstGeom prst="rect">
            <a:avLst/>
          </a:prstGeom>
          <a:solidFill>
            <a:srgbClr val="42955F"/>
          </a:solidFill>
          <a:ln/>
        </p:spPr>
      </p:sp>
      <p:sp>
        <p:nvSpPr>
          <p:cNvPr id="9" name="Text 7"/>
          <p:cNvSpPr/>
          <p:nvPr/>
        </p:nvSpPr>
        <p:spPr>
          <a:xfrm>
            <a:off x="117157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a:t>
            </a:r>
            <a:endParaRPr lang="en-US" sz="1950" dirty="0"/>
          </a:p>
        </p:txBody>
      </p:sp>
      <p:sp>
        <p:nvSpPr>
          <p:cNvPr id="10" name="Text 8"/>
          <p:cNvSpPr/>
          <p:nvPr/>
        </p:nvSpPr>
        <p:spPr>
          <a:xfrm>
            <a:off x="1914525" y="258886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Pressure differences open and close heart valves</a:t>
            </a:r>
            <a:endParaRPr lang="en-US" sz="1950" dirty="0"/>
          </a:p>
        </p:txBody>
      </p:sp>
      <p:sp>
        <p:nvSpPr>
          <p:cNvPr id="11" name="Shape 9"/>
          <p:cNvSpPr/>
          <p:nvPr/>
        </p:nvSpPr>
        <p:spPr>
          <a:xfrm>
            <a:off x="9239250" y="2369790"/>
            <a:ext cx="8096250" cy="895350"/>
          </a:xfrm>
          <a:prstGeom prst="rect">
            <a:avLst/>
          </a:prstGeom>
          <a:solidFill>
            <a:srgbClr val="FFFFFF"/>
          </a:solidFill>
          <a:ln w="9525">
            <a:solidFill>
              <a:srgbClr val="EBEBEB"/>
            </a:solidFill>
            <a:prstDash val="solid"/>
          </a:ln>
        </p:spPr>
      </p:sp>
      <p:sp>
        <p:nvSpPr>
          <p:cNvPr id="12" name="Shape 10"/>
          <p:cNvSpPr/>
          <p:nvPr/>
        </p:nvSpPr>
        <p:spPr>
          <a:xfrm>
            <a:off x="9496425" y="2588865"/>
            <a:ext cx="457200" cy="457200"/>
          </a:xfrm>
          <a:prstGeom prst="rect">
            <a:avLst/>
          </a:prstGeom>
          <a:solidFill>
            <a:srgbClr val="1A3260"/>
          </a:solidFill>
          <a:ln/>
        </p:spPr>
      </p:sp>
      <p:sp>
        <p:nvSpPr>
          <p:cNvPr id="13" name="Text 11"/>
          <p:cNvSpPr/>
          <p:nvPr/>
        </p:nvSpPr>
        <p:spPr>
          <a:xfrm>
            <a:off x="945832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B</a:t>
            </a:r>
            <a:endParaRPr lang="en-US" sz="1950" dirty="0"/>
          </a:p>
        </p:txBody>
      </p:sp>
      <p:sp>
        <p:nvSpPr>
          <p:cNvPr id="14" name="Text 12"/>
          <p:cNvSpPr/>
          <p:nvPr/>
        </p:nvSpPr>
        <p:spPr>
          <a:xfrm>
            <a:off x="10201275" y="258886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Electrical impulses pace and sync heart muscle</a:t>
            </a:r>
            <a:endParaRPr lang="en-US" sz="1950" dirty="0"/>
          </a:p>
        </p:txBody>
      </p:sp>
      <p:sp>
        <p:nvSpPr>
          <p:cNvPr id="15" name="Shape 13"/>
          <p:cNvSpPr/>
          <p:nvPr/>
        </p:nvSpPr>
        <p:spPr>
          <a:xfrm>
            <a:off x="952500" y="3455640"/>
            <a:ext cx="8096250" cy="895350"/>
          </a:xfrm>
          <a:prstGeom prst="rect">
            <a:avLst/>
          </a:prstGeom>
          <a:solidFill>
            <a:srgbClr val="FFFFFF"/>
          </a:solidFill>
          <a:ln w="9525">
            <a:solidFill>
              <a:srgbClr val="EBEBEB"/>
            </a:solidFill>
            <a:prstDash val="solid"/>
          </a:ln>
        </p:spPr>
      </p:sp>
      <p:sp>
        <p:nvSpPr>
          <p:cNvPr id="16" name="Shape 14"/>
          <p:cNvSpPr/>
          <p:nvPr/>
        </p:nvSpPr>
        <p:spPr>
          <a:xfrm>
            <a:off x="1209675" y="3674715"/>
            <a:ext cx="457200" cy="457200"/>
          </a:xfrm>
          <a:prstGeom prst="rect">
            <a:avLst/>
          </a:prstGeom>
          <a:solidFill>
            <a:srgbClr val="1A3260"/>
          </a:solidFill>
          <a:ln/>
        </p:spPr>
      </p:sp>
      <p:sp>
        <p:nvSpPr>
          <p:cNvPr id="17" name="Text 15"/>
          <p:cNvSpPr/>
          <p:nvPr/>
        </p:nvSpPr>
        <p:spPr>
          <a:xfrm>
            <a:off x="1171575" y="367471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C</a:t>
            </a:r>
            <a:endParaRPr lang="en-US" sz="1950" dirty="0"/>
          </a:p>
        </p:txBody>
      </p:sp>
      <p:sp>
        <p:nvSpPr>
          <p:cNvPr id="18" name="Text 16"/>
          <p:cNvSpPr/>
          <p:nvPr/>
        </p:nvSpPr>
        <p:spPr>
          <a:xfrm>
            <a:off x="1914525" y="367471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Filling pressures stretch and relax heart muscle</a:t>
            </a:r>
            <a:endParaRPr lang="en-US" sz="1950" dirty="0"/>
          </a:p>
        </p:txBody>
      </p:sp>
      <p:sp>
        <p:nvSpPr>
          <p:cNvPr id="19" name="Shape 17"/>
          <p:cNvSpPr/>
          <p:nvPr/>
        </p:nvSpPr>
        <p:spPr>
          <a:xfrm>
            <a:off x="9239250" y="3455640"/>
            <a:ext cx="8096250" cy="895350"/>
          </a:xfrm>
          <a:prstGeom prst="rect">
            <a:avLst/>
          </a:prstGeom>
          <a:solidFill>
            <a:srgbClr val="FFFFFF"/>
          </a:solidFill>
          <a:ln w="9525">
            <a:solidFill>
              <a:srgbClr val="EBEBEB"/>
            </a:solidFill>
            <a:prstDash val="solid"/>
          </a:ln>
        </p:spPr>
      </p:sp>
      <p:sp>
        <p:nvSpPr>
          <p:cNvPr id="20" name="Shape 18"/>
          <p:cNvSpPr/>
          <p:nvPr/>
        </p:nvSpPr>
        <p:spPr>
          <a:xfrm>
            <a:off x="9496425" y="3674715"/>
            <a:ext cx="457200" cy="457200"/>
          </a:xfrm>
          <a:prstGeom prst="rect">
            <a:avLst/>
          </a:prstGeom>
          <a:solidFill>
            <a:srgbClr val="1A3260"/>
          </a:solidFill>
          <a:ln/>
        </p:spPr>
      </p:sp>
      <p:sp>
        <p:nvSpPr>
          <p:cNvPr id="21" name="Text 19"/>
          <p:cNvSpPr/>
          <p:nvPr/>
        </p:nvSpPr>
        <p:spPr>
          <a:xfrm>
            <a:off x="9458325" y="367471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D</a:t>
            </a:r>
            <a:endParaRPr lang="en-US" sz="1950" dirty="0"/>
          </a:p>
        </p:txBody>
      </p:sp>
      <p:sp>
        <p:nvSpPr>
          <p:cNvPr id="22" name="Text 20"/>
          <p:cNvSpPr/>
          <p:nvPr/>
        </p:nvSpPr>
        <p:spPr>
          <a:xfrm>
            <a:off x="10201275" y="367471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Muscle contraction propels blood through chambers</a:t>
            </a:r>
            <a:endParaRPr lang="en-US" sz="1950" dirty="0"/>
          </a:p>
        </p:txBody>
      </p:sp>
      <p:pic>
        <p:nvPicPr>
          <p:cNvPr id="23"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4" name="Text 21"/>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5" name="Text 22"/>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15 / 35</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SECTION · CARDIOVASCULAR ALTERATIONS</a:t>
            </a:r>
            <a:endParaRPr lang="en-US" sz="1650" dirty="0"/>
          </a:p>
        </p:txBody>
      </p:sp>
      <p:sp>
        <p:nvSpPr>
          <p:cNvPr id="3" name="Text 1"/>
          <p:cNvSpPr/>
          <p:nvPr/>
        </p:nvSpPr>
        <p:spPr>
          <a:xfrm>
            <a:off x="952500" y="125730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Section objective</a:t>
            </a:r>
            <a:endParaRPr lang="en-US" sz="5700" dirty="0"/>
          </a:p>
        </p:txBody>
      </p:sp>
      <p:sp>
        <p:nvSpPr>
          <p:cNvPr id="4" name="Shape 2"/>
          <p:cNvSpPr/>
          <p:nvPr/>
        </p:nvSpPr>
        <p:spPr>
          <a:xfrm>
            <a:off x="952500" y="3819525"/>
            <a:ext cx="16383000" cy="9525"/>
          </a:xfrm>
          <a:prstGeom prst="rect">
            <a:avLst/>
          </a:prstGeom>
          <a:solidFill>
            <a:srgbClr val="EBEBEB"/>
          </a:solidFill>
          <a:ln/>
        </p:spPr>
      </p:sp>
      <p:sp>
        <p:nvSpPr>
          <p:cNvPr id="5" name="Shape 3"/>
          <p:cNvSpPr/>
          <p:nvPr/>
        </p:nvSpPr>
        <p:spPr>
          <a:xfrm>
            <a:off x="952500" y="2733675"/>
            <a:ext cx="723900" cy="723900"/>
          </a:xfrm>
          <a:prstGeom prst="rect">
            <a:avLst/>
          </a:prstGeom>
          <a:solidFill>
            <a:srgbClr val="1A3260"/>
          </a:solidFill>
          <a:ln/>
        </p:spPr>
      </p:sp>
      <p:sp>
        <p:nvSpPr>
          <p:cNvPr id="6" name="Text 4"/>
          <p:cNvSpPr/>
          <p:nvPr/>
        </p:nvSpPr>
        <p:spPr>
          <a:xfrm>
            <a:off x="914400" y="2733675"/>
            <a:ext cx="800100" cy="762000"/>
          </a:xfrm>
          <a:prstGeom prst="rect">
            <a:avLst/>
          </a:prstGeom>
          <a:noFill/>
          <a:ln/>
        </p:spPr>
        <p:txBody>
          <a:bodyPr wrap="square" lIns="25400" tIns="25400" rIns="25400" bIns="25400" rtlCol="0" anchor="ctr">
            <a:normAutofit/>
          </a:bodyPr>
          <a:lstStyle/>
          <a:p>
            <a:pPr algn="ctr" indent="0" marL="0">
              <a:buNone/>
            </a:pPr>
            <a:r>
              <a:rPr lang="en-US" sz="2700" b="1" dirty="0">
                <a:solidFill>
                  <a:srgbClr val="FFFFFF"/>
                </a:solidFill>
                <a:latin typeface="Arial" pitchFamily="34" charset="0"/>
                <a:ea typeface="Arial" pitchFamily="34" charset="-122"/>
                <a:cs typeface="Arial" pitchFamily="34" charset="-120"/>
              </a:rPr>
              <a:t>2</a:t>
            </a:r>
            <a:endParaRPr lang="en-US" sz="2700" dirty="0"/>
          </a:p>
        </p:txBody>
      </p:sp>
      <p:sp>
        <p:nvSpPr>
          <p:cNvPr id="7" name="Text 5"/>
          <p:cNvSpPr/>
          <p:nvPr/>
        </p:nvSpPr>
        <p:spPr>
          <a:xfrm>
            <a:off x="2133600" y="2867025"/>
            <a:ext cx="1565795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11827"/>
                </a:solidFill>
                <a:latin typeface="Arial" pitchFamily="34" charset="0"/>
                <a:ea typeface="Arial" pitchFamily="34" charset="-122"/>
                <a:cs typeface="Arial" pitchFamily="34" charset="-120"/>
              </a:rPr>
              <a:t>Understand the alterations of cardiovascular function — atherosclerosis, hypertension, CAD, MI, heart failure, pericarditis, and valvular disease.</a:t>
            </a:r>
            <a:endParaRPr lang="en-US" sz="2250" dirty="0"/>
          </a:p>
        </p:txBody>
      </p:sp>
      <p:pic>
        <p:nvPicPr>
          <p:cNvPr id="8"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9" name="Text 6"/>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0" name="Text 7"/>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16 / 35</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dirty="0">
                <a:solidFill>
                  <a:srgbClr val="1A3260"/>
                </a:solidFill>
                <a:latin typeface="Arial" pitchFamily="34" charset="0"/>
                <a:ea typeface="Arial" pitchFamily="34" charset="-122"/>
                <a:cs typeface="Arial" pitchFamily="34" charset="-120"/>
              </a:rPr>
              <a:t>Atherosclerosis — the foundation disease</a:t>
            </a:r>
            <a:endParaRPr lang="en-US" sz="5700" dirty="0"/>
          </a:p>
        </p:txBody>
      </p:sp>
      <p:sp>
        <p:nvSpPr>
          <p:cNvPr id="3" name="Shape 1"/>
          <p:cNvSpPr/>
          <p:nvPr/>
        </p:nvSpPr>
        <p:spPr>
          <a:xfrm>
            <a:off x="952500" y="2181225"/>
            <a:ext cx="3352800" cy="2186880"/>
          </a:xfrm>
          <a:prstGeom prst="rect">
            <a:avLst/>
          </a:prstGeom>
          <a:solidFill>
            <a:srgbClr val="F5F6F8"/>
          </a:solidFill>
          <a:ln/>
        </p:spPr>
      </p:sp>
      <p:sp>
        <p:nvSpPr>
          <p:cNvPr id="4" name="Shape 2"/>
          <p:cNvSpPr/>
          <p:nvPr/>
        </p:nvSpPr>
        <p:spPr>
          <a:xfrm>
            <a:off x="952500" y="2181225"/>
            <a:ext cx="3352800" cy="57150"/>
          </a:xfrm>
          <a:prstGeom prst="rect">
            <a:avLst/>
          </a:prstGeom>
          <a:solidFill>
            <a:srgbClr val="1A3260"/>
          </a:solidFill>
          <a:ln/>
        </p:spPr>
      </p:sp>
      <p:sp>
        <p:nvSpPr>
          <p:cNvPr id="5" name="Text 3"/>
          <p:cNvSpPr/>
          <p:nvPr/>
        </p:nvSpPr>
        <p:spPr>
          <a:xfrm>
            <a:off x="12001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01</a:t>
            </a:r>
            <a:endParaRPr lang="en-US" sz="1650" dirty="0"/>
          </a:p>
        </p:txBody>
      </p:sp>
      <p:sp>
        <p:nvSpPr>
          <p:cNvPr id="6" name="Text 4"/>
          <p:cNvSpPr/>
          <p:nvPr/>
        </p:nvSpPr>
        <p:spPr>
          <a:xfrm>
            <a:off x="1200150" y="2790825"/>
            <a:ext cx="29432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Endothelial injury</a:t>
            </a:r>
            <a:endParaRPr lang="en-US" sz="2250" dirty="0"/>
          </a:p>
        </p:txBody>
      </p:sp>
      <p:sp>
        <p:nvSpPr>
          <p:cNvPr id="7" name="Text 5"/>
          <p:cNvSpPr/>
          <p:nvPr/>
        </p:nvSpPr>
        <p:spPr>
          <a:xfrm>
            <a:off x="1200150" y="3209925"/>
            <a:ext cx="2943225"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HTN · smoking · ↑ LDL · diabetes · turbulent flow.</a:t>
            </a:r>
            <a:endParaRPr lang="en-US" sz="1650" dirty="0"/>
          </a:p>
        </p:txBody>
      </p:sp>
      <p:sp>
        <p:nvSpPr>
          <p:cNvPr id="8" name="Text 6"/>
          <p:cNvSpPr/>
          <p:nvPr/>
        </p:nvSpPr>
        <p:spPr>
          <a:xfrm>
            <a:off x="4533900" y="2181225"/>
            <a:ext cx="609600" cy="2224980"/>
          </a:xfrm>
          <a:prstGeom prst="rect">
            <a:avLst/>
          </a:prstGeom>
          <a:noFill/>
          <a:ln/>
        </p:spPr>
        <p:txBody>
          <a:bodyPr wrap="square" lIns="25400" tIns="25400" rIns="25400" bIns="25400" rtlCol="0" anchor="ctr">
            <a:normAutofit/>
          </a:bodyPr>
          <a:lstStyle/>
          <a:p>
            <a:pPr algn="l" indent="0" marL="0">
              <a:buNone/>
            </a:pPr>
            <a:r>
              <a:rPr lang="en-US" sz="4200" b="1" dirty="0">
                <a:solidFill>
                  <a:srgbClr val="45CBE8"/>
                </a:solidFill>
                <a:latin typeface="Arial" pitchFamily="34" charset="0"/>
                <a:ea typeface="Arial" pitchFamily="34" charset="-122"/>
                <a:cs typeface="Arial" pitchFamily="34" charset="-120"/>
              </a:rPr>
              <a:t>→</a:t>
            </a:r>
            <a:endParaRPr lang="en-US" sz="4200" dirty="0"/>
          </a:p>
        </p:txBody>
      </p:sp>
      <p:sp>
        <p:nvSpPr>
          <p:cNvPr id="9" name="Shape 7"/>
          <p:cNvSpPr/>
          <p:nvPr/>
        </p:nvSpPr>
        <p:spPr>
          <a:xfrm>
            <a:off x="5295900" y="2181225"/>
            <a:ext cx="3352800" cy="2186880"/>
          </a:xfrm>
          <a:prstGeom prst="rect">
            <a:avLst/>
          </a:prstGeom>
          <a:solidFill>
            <a:srgbClr val="F5F6F8"/>
          </a:solidFill>
          <a:ln/>
        </p:spPr>
      </p:sp>
      <p:sp>
        <p:nvSpPr>
          <p:cNvPr id="10" name="Shape 8"/>
          <p:cNvSpPr/>
          <p:nvPr/>
        </p:nvSpPr>
        <p:spPr>
          <a:xfrm>
            <a:off x="5295900" y="2181225"/>
            <a:ext cx="3352800" cy="57150"/>
          </a:xfrm>
          <a:prstGeom prst="rect">
            <a:avLst/>
          </a:prstGeom>
          <a:solidFill>
            <a:srgbClr val="1A3260"/>
          </a:solidFill>
          <a:ln/>
        </p:spPr>
      </p:sp>
      <p:sp>
        <p:nvSpPr>
          <p:cNvPr id="11" name="Text 9"/>
          <p:cNvSpPr/>
          <p:nvPr/>
        </p:nvSpPr>
        <p:spPr>
          <a:xfrm>
            <a:off x="55435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02</a:t>
            </a:r>
            <a:endParaRPr lang="en-US" sz="1650" dirty="0"/>
          </a:p>
        </p:txBody>
      </p:sp>
      <p:sp>
        <p:nvSpPr>
          <p:cNvPr id="12" name="Text 10"/>
          <p:cNvSpPr/>
          <p:nvPr/>
        </p:nvSpPr>
        <p:spPr>
          <a:xfrm>
            <a:off x="5543550" y="2790825"/>
            <a:ext cx="29432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Lipid deposition</a:t>
            </a:r>
            <a:endParaRPr lang="en-US" sz="2250" dirty="0"/>
          </a:p>
        </p:txBody>
      </p:sp>
      <p:sp>
        <p:nvSpPr>
          <p:cNvPr id="13" name="Text 11"/>
          <p:cNvSpPr/>
          <p:nvPr/>
        </p:nvSpPr>
        <p:spPr>
          <a:xfrm>
            <a:off x="5543550" y="3209925"/>
            <a:ext cx="2943225"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LDL infiltrates intima; oxidized LDL drives inflammation.</a:t>
            </a:r>
            <a:endParaRPr lang="en-US" sz="1650" dirty="0"/>
          </a:p>
        </p:txBody>
      </p:sp>
      <p:sp>
        <p:nvSpPr>
          <p:cNvPr id="14" name="Text 12"/>
          <p:cNvSpPr/>
          <p:nvPr/>
        </p:nvSpPr>
        <p:spPr>
          <a:xfrm>
            <a:off x="8877300" y="2181225"/>
            <a:ext cx="609600" cy="2224980"/>
          </a:xfrm>
          <a:prstGeom prst="rect">
            <a:avLst/>
          </a:prstGeom>
          <a:noFill/>
          <a:ln/>
        </p:spPr>
        <p:txBody>
          <a:bodyPr wrap="square" lIns="25400" tIns="25400" rIns="25400" bIns="25400" rtlCol="0" anchor="ctr">
            <a:normAutofit/>
          </a:bodyPr>
          <a:lstStyle/>
          <a:p>
            <a:pPr algn="l" indent="0" marL="0">
              <a:buNone/>
            </a:pPr>
            <a:r>
              <a:rPr lang="en-US" sz="4200" b="1" dirty="0">
                <a:solidFill>
                  <a:srgbClr val="45CBE8"/>
                </a:solidFill>
                <a:latin typeface="Arial" pitchFamily="34" charset="0"/>
                <a:ea typeface="Arial" pitchFamily="34" charset="-122"/>
                <a:cs typeface="Arial" pitchFamily="34" charset="-120"/>
              </a:rPr>
              <a:t>→</a:t>
            </a:r>
            <a:endParaRPr lang="en-US" sz="4200" dirty="0"/>
          </a:p>
        </p:txBody>
      </p:sp>
      <p:sp>
        <p:nvSpPr>
          <p:cNvPr id="15" name="Shape 13"/>
          <p:cNvSpPr/>
          <p:nvPr/>
        </p:nvSpPr>
        <p:spPr>
          <a:xfrm>
            <a:off x="9639300" y="2181225"/>
            <a:ext cx="3352800" cy="2186880"/>
          </a:xfrm>
          <a:prstGeom prst="rect">
            <a:avLst/>
          </a:prstGeom>
          <a:solidFill>
            <a:srgbClr val="F5F6F8"/>
          </a:solidFill>
          <a:ln/>
        </p:spPr>
      </p:sp>
      <p:sp>
        <p:nvSpPr>
          <p:cNvPr id="16" name="Shape 14"/>
          <p:cNvSpPr/>
          <p:nvPr/>
        </p:nvSpPr>
        <p:spPr>
          <a:xfrm>
            <a:off x="9639300" y="2181225"/>
            <a:ext cx="3352800" cy="57150"/>
          </a:xfrm>
          <a:prstGeom prst="rect">
            <a:avLst/>
          </a:prstGeom>
          <a:solidFill>
            <a:srgbClr val="1A3260"/>
          </a:solidFill>
          <a:ln/>
        </p:spPr>
      </p:sp>
      <p:sp>
        <p:nvSpPr>
          <p:cNvPr id="17" name="Text 15"/>
          <p:cNvSpPr/>
          <p:nvPr/>
        </p:nvSpPr>
        <p:spPr>
          <a:xfrm>
            <a:off x="98869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03</a:t>
            </a:r>
            <a:endParaRPr lang="en-US" sz="1650" dirty="0"/>
          </a:p>
        </p:txBody>
      </p:sp>
      <p:sp>
        <p:nvSpPr>
          <p:cNvPr id="18" name="Text 16"/>
          <p:cNvSpPr/>
          <p:nvPr/>
        </p:nvSpPr>
        <p:spPr>
          <a:xfrm>
            <a:off x="9886950" y="2790825"/>
            <a:ext cx="2943225" cy="7239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Foam cells &amp; fatty streak</a:t>
            </a:r>
            <a:endParaRPr lang="en-US" sz="2250" dirty="0"/>
          </a:p>
        </p:txBody>
      </p:sp>
      <p:sp>
        <p:nvSpPr>
          <p:cNvPr id="19" name="Text 17"/>
          <p:cNvSpPr/>
          <p:nvPr/>
        </p:nvSpPr>
        <p:spPr>
          <a:xfrm>
            <a:off x="9886950" y="3552825"/>
            <a:ext cx="2943225" cy="62478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Macrophages engulf LDL → foam cells; fatty streak forms.</a:t>
            </a:r>
            <a:endParaRPr lang="en-US" sz="1650" dirty="0"/>
          </a:p>
        </p:txBody>
      </p:sp>
      <p:sp>
        <p:nvSpPr>
          <p:cNvPr id="20" name="Text 18"/>
          <p:cNvSpPr/>
          <p:nvPr/>
        </p:nvSpPr>
        <p:spPr>
          <a:xfrm>
            <a:off x="13220700" y="2181225"/>
            <a:ext cx="609600" cy="2224980"/>
          </a:xfrm>
          <a:prstGeom prst="rect">
            <a:avLst/>
          </a:prstGeom>
          <a:noFill/>
          <a:ln/>
        </p:spPr>
        <p:txBody>
          <a:bodyPr wrap="square" lIns="25400" tIns="25400" rIns="25400" bIns="25400" rtlCol="0" anchor="ctr">
            <a:normAutofit/>
          </a:bodyPr>
          <a:lstStyle/>
          <a:p>
            <a:pPr algn="l" indent="0" marL="0">
              <a:buNone/>
            </a:pPr>
            <a:r>
              <a:rPr lang="en-US" sz="4200" b="1" dirty="0">
                <a:solidFill>
                  <a:srgbClr val="45CBE8"/>
                </a:solidFill>
                <a:latin typeface="Arial" pitchFamily="34" charset="0"/>
                <a:ea typeface="Arial" pitchFamily="34" charset="-122"/>
                <a:cs typeface="Arial" pitchFamily="34" charset="-120"/>
              </a:rPr>
              <a:t>→</a:t>
            </a:r>
            <a:endParaRPr lang="en-US" sz="4200" dirty="0"/>
          </a:p>
        </p:txBody>
      </p:sp>
      <p:sp>
        <p:nvSpPr>
          <p:cNvPr id="21" name="Shape 19"/>
          <p:cNvSpPr/>
          <p:nvPr/>
        </p:nvSpPr>
        <p:spPr>
          <a:xfrm>
            <a:off x="13982700" y="2181225"/>
            <a:ext cx="3352800" cy="2186880"/>
          </a:xfrm>
          <a:prstGeom prst="rect">
            <a:avLst/>
          </a:prstGeom>
          <a:solidFill>
            <a:srgbClr val="F5F6F8"/>
          </a:solidFill>
          <a:ln/>
        </p:spPr>
      </p:sp>
      <p:sp>
        <p:nvSpPr>
          <p:cNvPr id="22" name="Shape 20"/>
          <p:cNvSpPr/>
          <p:nvPr/>
        </p:nvSpPr>
        <p:spPr>
          <a:xfrm>
            <a:off x="13982700" y="2181225"/>
            <a:ext cx="3352800" cy="57150"/>
          </a:xfrm>
          <a:prstGeom prst="rect">
            <a:avLst/>
          </a:prstGeom>
          <a:solidFill>
            <a:srgbClr val="1A3260"/>
          </a:solidFill>
          <a:ln/>
        </p:spPr>
      </p:sp>
      <p:sp>
        <p:nvSpPr>
          <p:cNvPr id="23" name="Text 21"/>
          <p:cNvSpPr/>
          <p:nvPr/>
        </p:nvSpPr>
        <p:spPr>
          <a:xfrm>
            <a:off x="14230350" y="2466975"/>
            <a:ext cx="2943225"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4590B8"/>
                </a:solidFill>
                <a:latin typeface="Arial" pitchFamily="34" charset="0"/>
                <a:ea typeface="Arial" pitchFamily="34" charset="-122"/>
                <a:cs typeface="Arial" pitchFamily="34" charset="-120"/>
              </a:rPr>
              <a:t>04</a:t>
            </a:r>
            <a:endParaRPr lang="en-US" sz="1650" dirty="0"/>
          </a:p>
        </p:txBody>
      </p:sp>
      <p:sp>
        <p:nvSpPr>
          <p:cNvPr id="24" name="Text 22"/>
          <p:cNvSpPr/>
          <p:nvPr/>
        </p:nvSpPr>
        <p:spPr>
          <a:xfrm>
            <a:off x="14230350" y="2790825"/>
            <a:ext cx="29432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1A3260"/>
                </a:solidFill>
                <a:latin typeface="Arial" pitchFamily="34" charset="0"/>
                <a:ea typeface="Arial" pitchFamily="34" charset="-122"/>
                <a:cs typeface="Arial" pitchFamily="34" charset="-120"/>
              </a:rPr>
              <a:t>Plaque &amp; rupture</a:t>
            </a:r>
            <a:endParaRPr lang="en-US" sz="2250" dirty="0"/>
          </a:p>
        </p:txBody>
      </p:sp>
      <p:sp>
        <p:nvSpPr>
          <p:cNvPr id="25" name="Text 23"/>
          <p:cNvSpPr/>
          <p:nvPr/>
        </p:nvSpPr>
        <p:spPr>
          <a:xfrm>
            <a:off x="14230350" y="3209925"/>
            <a:ext cx="2943225" cy="918121"/>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3D3D3D"/>
                </a:solidFill>
                <a:latin typeface="Arial" pitchFamily="34" charset="0"/>
                <a:ea typeface="Arial" pitchFamily="34" charset="-122"/>
                <a:cs typeface="Arial" pitchFamily="34" charset="-120"/>
              </a:rPr>
              <a:t>Fibrous plaque narrows lumen; rupture exposes thrombogenic core → ACS.</a:t>
            </a:r>
            <a:endParaRPr lang="en-US" sz="1650" dirty="0"/>
          </a:p>
        </p:txBody>
      </p:sp>
      <p:sp>
        <p:nvSpPr>
          <p:cNvPr id="26" name="Text 24"/>
          <p:cNvSpPr/>
          <p:nvPr/>
        </p:nvSpPr>
        <p:spPr>
          <a:xfrm>
            <a:off x="706755" y="4749105"/>
            <a:ext cx="16874490" cy="304800"/>
          </a:xfrm>
          <a:prstGeom prst="rect">
            <a:avLst/>
          </a:prstGeom>
          <a:noFill/>
          <a:ln/>
        </p:spPr>
        <p:txBody>
          <a:bodyPr wrap="square" lIns="25400" tIns="25400" rIns="25400" bIns="25400" rtlCol="0" anchor="t">
            <a:normAutofit/>
          </a:bodyPr>
          <a:lstStyle/>
          <a:p>
            <a:pPr algn="ctr" indent="0" marL="0">
              <a:buNone/>
            </a:pPr>
            <a:r>
              <a:rPr lang="en-US" sz="1800" b="1" dirty="0">
                <a:solidFill>
                  <a:srgbClr val="6B7280"/>
                </a:solidFill>
                <a:latin typeface="Arial" pitchFamily="34" charset="0"/>
                <a:ea typeface="Arial" pitchFamily="34" charset="-122"/>
                <a:cs typeface="Arial" pitchFamily="34" charset="-120"/>
              </a:rPr>
              <a:t>Endothelial function impaired: </a:t>
            </a:r>
            <a:pPr algn="ctr" indent="0" marL="0">
              <a:buNone/>
            </a:pPr>
            <a:r>
              <a:rPr lang="en-US" sz="1800" dirty="0">
                <a:solidFill>
                  <a:srgbClr val="6B7280"/>
                </a:solidFill>
                <a:latin typeface="Arial" pitchFamily="34" charset="0"/>
                <a:ea typeface="Arial" pitchFamily="34" charset="-122"/>
                <a:cs typeface="Arial" pitchFamily="34" charset="-120"/>
              </a:rPr>
              <a:t>regulation of vascular tone, anti-clotting properties, and barrier integrity all suffer.</a:t>
            </a:r>
            <a:endParaRPr lang="en-US" sz="1800" dirty="0"/>
          </a:p>
        </p:txBody>
      </p:sp>
      <p:pic>
        <p:nvPicPr>
          <p:cNvPr id="27"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8" name="Text 25"/>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9" name="Text 26"/>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17 / 35</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Cardiovascular risk factors</a:t>
            </a:r>
            <a:endParaRPr lang="en-US" sz="5700" dirty="0"/>
          </a:p>
        </p:txBody>
      </p:sp>
      <p:sp>
        <p:nvSpPr>
          <p:cNvPr id="3" name="Shape 1"/>
          <p:cNvSpPr/>
          <p:nvPr/>
        </p:nvSpPr>
        <p:spPr>
          <a:xfrm>
            <a:off x="952500" y="2181225"/>
            <a:ext cx="7886700" cy="7248525"/>
          </a:xfrm>
          <a:prstGeom prst="rect">
            <a:avLst/>
          </a:prstGeom>
          <a:solidFill>
            <a:srgbClr val="F5F6F8"/>
          </a:solidFill>
          <a:ln/>
        </p:spPr>
      </p:sp>
      <p:sp>
        <p:nvSpPr>
          <p:cNvPr id="4" name="Shape 2"/>
          <p:cNvSpPr/>
          <p:nvPr/>
        </p:nvSpPr>
        <p:spPr>
          <a:xfrm>
            <a:off x="952500" y="2181225"/>
            <a:ext cx="7886700" cy="57150"/>
          </a:xfrm>
          <a:prstGeom prst="rect">
            <a:avLst/>
          </a:prstGeom>
          <a:solidFill>
            <a:srgbClr val="1A3260"/>
          </a:solidFill>
          <a:ln/>
        </p:spPr>
      </p:sp>
      <p:sp>
        <p:nvSpPr>
          <p:cNvPr id="5" name="Text 3"/>
          <p:cNvSpPr/>
          <p:nvPr/>
        </p:nvSpPr>
        <p:spPr>
          <a:xfrm>
            <a:off x="13335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Modifiable</a:t>
            </a:r>
            <a:endParaRPr lang="en-US" sz="2850" dirty="0"/>
          </a:p>
        </p:txBody>
      </p:sp>
      <p:sp>
        <p:nvSpPr>
          <p:cNvPr id="6" name="Text 4"/>
          <p:cNvSpPr/>
          <p:nvPr/>
        </p:nvSpPr>
        <p:spPr>
          <a:xfrm>
            <a:off x="1600200" y="3181350"/>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Hypertension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single most powerful modifiable risk</a:t>
            </a:r>
            <a:endParaRPr lang="en-US" sz="1950" dirty="0"/>
          </a:p>
        </p:txBody>
      </p:sp>
      <p:sp>
        <p:nvSpPr>
          <p:cNvPr id="7" name="Text 5"/>
          <p:cNvSpPr/>
          <p:nvPr/>
        </p:nvSpPr>
        <p:spPr>
          <a:xfrm>
            <a:off x="1600200" y="3661321"/>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Tobacco use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endothelial injury, vasoconstriction, prothrombotic</a:t>
            </a:r>
            <a:endParaRPr lang="en-US" sz="1950" dirty="0"/>
          </a:p>
        </p:txBody>
      </p:sp>
      <p:sp>
        <p:nvSpPr>
          <p:cNvPr id="8" name="Text 6"/>
          <p:cNvSpPr/>
          <p:nvPr/>
        </p:nvSpPr>
        <p:spPr>
          <a:xfrm>
            <a:off x="1600200" y="4487912"/>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Dyslipidemia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 LDL, ↓ HDL drive plaque</a:t>
            </a:r>
            <a:endParaRPr lang="en-US" sz="1950" dirty="0"/>
          </a:p>
        </p:txBody>
      </p:sp>
      <p:sp>
        <p:nvSpPr>
          <p:cNvPr id="9" name="Text 7"/>
          <p:cNvSpPr/>
          <p:nvPr/>
        </p:nvSpPr>
        <p:spPr>
          <a:xfrm>
            <a:off x="1600200" y="4967883"/>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Diabetes / poor glycemic control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A1c &gt; 7% accelerates atherosclerosis</a:t>
            </a:r>
            <a:endParaRPr lang="en-US" sz="1950" dirty="0"/>
          </a:p>
        </p:txBody>
      </p:sp>
      <p:sp>
        <p:nvSpPr>
          <p:cNvPr id="10" name="Text 8"/>
          <p:cNvSpPr/>
          <p:nvPr/>
        </p:nvSpPr>
        <p:spPr>
          <a:xfrm>
            <a:off x="1600200" y="5794474"/>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Obesity &amp; metabolic syndrome</a:t>
            </a:r>
            <a:endParaRPr lang="en-US" sz="1950" dirty="0"/>
          </a:p>
        </p:txBody>
      </p:sp>
      <p:sp>
        <p:nvSpPr>
          <p:cNvPr id="11" name="Text 9"/>
          <p:cNvSpPr/>
          <p:nvPr/>
        </p:nvSpPr>
        <p:spPr>
          <a:xfrm>
            <a:off x="1600200" y="6274445"/>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Sedentary lifestyle</a:t>
            </a:r>
            <a:endParaRPr lang="en-US" sz="1950" dirty="0"/>
          </a:p>
        </p:txBody>
      </p:sp>
      <p:sp>
        <p:nvSpPr>
          <p:cNvPr id="12" name="Text 10"/>
          <p:cNvSpPr/>
          <p:nvPr/>
        </p:nvSpPr>
        <p:spPr>
          <a:xfrm>
            <a:off x="1600200" y="6754416"/>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Diet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saturated fat, sodium, low fiber</a:t>
            </a:r>
            <a:endParaRPr lang="en-US" sz="1950" dirty="0"/>
          </a:p>
        </p:txBody>
      </p:sp>
      <p:sp>
        <p:nvSpPr>
          <p:cNvPr id="13" name="Shape 11"/>
          <p:cNvSpPr/>
          <p:nvPr/>
        </p:nvSpPr>
        <p:spPr>
          <a:xfrm>
            <a:off x="9448800" y="2181225"/>
            <a:ext cx="7886700" cy="7248525"/>
          </a:xfrm>
          <a:prstGeom prst="rect">
            <a:avLst/>
          </a:prstGeom>
          <a:solidFill>
            <a:srgbClr val="F5F6F8"/>
          </a:solidFill>
          <a:ln/>
        </p:spPr>
      </p:sp>
      <p:sp>
        <p:nvSpPr>
          <p:cNvPr id="14" name="Shape 12"/>
          <p:cNvSpPr/>
          <p:nvPr/>
        </p:nvSpPr>
        <p:spPr>
          <a:xfrm>
            <a:off x="9448800" y="2181225"/>
            <a:ext cx="7886700" cy="57150"/>
          </a:xfrm>
          <a:prstGeom prst="rect">
            <a:avLst/>
          </a:prstGeom>
          <a:solidFill>
            <a:srgbClr val="45CBE8"/>
          </a:solidFill>
          <a:ln/>
        </p:spPr>
      </p:sp>
      <p:sp>
        <p:nvSpPr>
          <p:cNvPr id="15" name="Text 13"/>
          <p:cNvSpPr/>
          <p:nvPr/>
        </p:nvSpPr>
        <p:spPr>
          <a:xfrm>
            <a:off x="98298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Non-modifiable</a:t>
            </a:r>
            <a:endParaRPr lang="en-US" sz="2850" dirty="0"/>
          </a:p>
        </p:txBody>
      </p:sp>
      <p:sp>
        <p:nvSpPr>
          <p:cNvPr id="16" name="Text 14"/>
          <p:cNvSpPr/>
          <p:nvPr/>
        </p:nvSpPr>
        <p:spPr>
          <a:xfrm>
            <a:off x="10096500" y="3181350"/>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Age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risk rises sharply &gt; 55 (M) and &gt; 65 (F)</a:t>
            </a:r>
            <a:endParaRPr lang="en-US" sz="1950" dirty="0"/>
          </a:p>
        </p:txBody>
      </p:sp>
      <p:sp>
        <p:nvSpPr>
          <p:cNvPr id="17" name="Text 15"/>
          <p:cNvSpPr/>
          <p:nvPr/>
        </p:nvSpPr>
        <p:spPr>
          <a:xfrm>
            <a:off x="10096500" y="3661321"/>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Sex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men earlier; women catch up after menopause</a:t>
            </a:r>
            <a:endParaRPr lang="en-US" sz="1950" dirty="0"/>
          </a:p>
        </p:txBody>
      </p:sp>
      <p:sp>
        <p:nvSpPr>
          <p:cNvPr id="18" name="Text 16"/>
          <p:cNvSpPr/>
          <p:nvPr/>
        </p:nvSpPr>
        <p:spPr>
          <a:xfrm>
            <a:off x="10096500" y="4141291"/>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Family history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first-degree relative with early CAD</a:t>
            </a:r>
            <a:endParaRPr lang="en-US" sz="1950" dirty="0"/>
          </a:p>
        </p:txBody>
      </p:sp>
      <p:sp>
        <p:nvSpPr>
          <p:cNvPr id="19" name="Text 17"/>
          <p:cNvSpPr/>
          <p:nvPr/>
        </p:nvSpPr>
        <p:spPr>
          <a:xfrm>
            <a:off x="10096500" y="4621262"/>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Race &amp; ethnicity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disparities in HTN and outcomes</a:t>
            </a:r>
            <a:endParaRPr lang="en-US" sz="1950" dirty="0"/>
          </a:p>
        </p:txBody>
      </p:sp>
      <p:sp>
        <p:nvSpPr>
          <p:cNvPr id="20" name="Text 18"/>
          <p:cNvSpPr/>
          <p:nvPr/>
        </p:nvSpPr>
        <p:spPr>
          <a:xfrm>
            <a:off x="10096500" y="5101233"/>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Genetic dyslipidemias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familial hypercholesterolemia</a:t>
            </a:r>
            <a:endParaRPr lang="en-US" sz="1950" dirty="0"/>
          </a:p>
        </p:txBody>
      </p:sp>
      <p:pic>
        <p:nvPicPr>
          <p:cNvPr id="21"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2" name="Text 19"/>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3" name="Text 20"/>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18 / 35</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THE SILENT KILLER</a:t>
            </a:r>
            <a:endParaRPr lang="en-US" sz="1650" dirty="0"/>
          </a:p>
        </p:txBody>
      </p:sp>
      <p:sp>
        <p:nvSpPr>
          <p:cNvPr id="3" name="Text 1"/>
          <p:cNvSpPr/>
          <p:nvPr/>
        </p:nvSpPr>
        <p:spPr>
          <a:xfrm>
            <a:off x="952500" y="1257300"/>
            <a:ext cx="16874490" cy="1122015"/>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Hypertension</a:t>
            </a:r>
            <a:endParaRPr lang="en-US" sz="5700" dirty="0"/>
          </a:p>
        </p:txBody>
      </p:sp>
      <p:sp>
        <p:nvSpPr>
          <p:cNvPr id="4" name="Text 2"/>
          <p:cNvSpPr/>
          <p:nvPr/>
        </p:nvSpPr>
        <p:spPr>
          <a:xfrm>
            <a:off x="1295400" y="2836515"/>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Definition (ACC/AHA):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Stage 1 ≥ 130/80 · Stage 2 ≥ 140/90 · Hypertensive crisis &gt; 180/120.</a:t>
            </a:r>
            <a:endParaRPr lang="en-US" sz="2550" dirty="0"/>
          </a:p>
        </p:txBody>
      </p:sp>
      <p:sp>
        <p:nvSpPr>
          <p:cNvPr id="5" name="Text 3"/>
          <p:cNvSpPr/>
          <p:nvPr/>
        </p:nvSpPr>
        <p:spPr>
          <a:xfrm>
            <a:off x="1295400" y="3499396"/>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Primary (essential) HTN — 90–95%: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no single cause; genetics + environment.</a:t>
            </a:r>
            <a:endParaRPr lang="en-US" sz="2550" dirty="0"/>
          </a:p>
        </p:txBody>
      </p:sp>
      <p:sp>
        <p:nvSpPr>
          <p:cNvPr id="6" name="Text 4"/>
          <p:cNvSpPr/>
          <p:nvPr/>
        </p:nvSpPr>
        <p:spPr>
          <a:xfrm>
            <a:off x="1295400" y="4162276"/>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Secondary HTN — 5–10%: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renal disease, renal artery stenosis, pheochromocytoma, primary aldosteronism, OSA, oral contraceptives.</a:t>
            </a:r>
            <a:endParaRPr lang="en-US" sz="2550" dirty="0"/>
          </a:p>
        </p:txBody>
      </p:sp>
      <p:sp>
        <p:nvSpPr>
          <p:cNvPr id="7" name="Text 5"/>
          <p:cNvSpPr/>
          <p:nvPr/>
        </p:nvSpPr>
        <p:spPr>
          <a:xfrm>
            <a:off x="1295400" y="5278487"/>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End-organ damage: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heart (LVH, HF), brain (stroke), kidneys (CKD), eyes (retinopathy), vessels (aneurysm).</a:t>
            </a:r>
            <a:endParaRPr lang="en-US" sz="2550" dirty="0"/>
          </a:p>
        </p:txBody>
      </p:sp>
      <p:sp>
        <p:nvSpPr>
          <p:cNvPr id="8" name="Text 6"/>
          <p:cNvSpPr/>
          <p:nvPr/>
        </p:nvSpPr>
        <p:spPr>
          <a:xfrm>
            <a:off x="1295400" y="6394698"/>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Often asymptomatic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 diagnosed by routine measurement; nursing teaching about adherence is high-leverage.</a:t>
            </a:r>
            <a:endParaRPr lang="en-US" sz="2550" dirty="0"/>
          </a:p>
        </p:txBody>
      </p:sp>
      <p:pic>
        <p:nvPicPr>
          <p:cNvPr id="9"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0" name="Text 7"/>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1" name="Text 8"/>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19 / 35</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dirty="0">
                <a:solidFill>
                  <a:srgbClr val="1A3260"/>
                </a:solidFill>
                <a:latin typeface="Arial" pitchFamily="34" charset="0"/>
                <a:ea typeface="Arial" pitchFamily="34" charset="-122"/>
                <a:cs typeface="Arial" pitchFamily="34" charset="-120"/>
              </a:rPr>
              <a:t>Coronary artery disease — angina spectrum</a:t>
            </a:r>
            <a:endParaRPr lang="en-US" sz="5700" dirty="0"/>
          </a:p>
        </p:txBody>
      </p:sp>
      <p:sp>
        <p:nvSpPr>
          <p:cNvPr id="3" name="Shape 1"/>
          <p:cNvSpPr/>
          <p:nvPr/>
        </p:nvSpPr>
        <p:spPr>
          <a:xfrm>
            <a:off x="952500" y="2181225"/>
            <a:ext cx="16383000" cy="5119836"/>
          </a:xfrm>
          <a:prstGeom prst="rect">
            <a:avLst/>
          </a:prstGeom>
          <a:solidFill>
            <a:srgbClr val="FFFFFF"/>
          </a:solidFill>
          <a:ln/>
        </p:spPr>
      </p:sp>
      <p:sp>
        <p:nvSpPr>
          <p:cNvPr id="4" name="Shape 2"/>
          <p:cNvSpPr/>
          <p:nvPr/>
        </p:nvSpPr>
        <p:spPr>
          <a:xfrm>
            <a:off x="957263" y="2185988"/>
            <a:ext cx="3602087" cy="609600"/>
          </a:xfrm>
          <a:prstGeom prst="rect">
            <a:avLst/>
          </a:prstGeom>
          <a:solidFill>
            <a:srgbClr val="1A3260"/>
          </a:solidFill>
          <a:ln w="9525">
            <a:solidFill>
              <a:srgbClr val="1A3260"/>
            </a:solidFill>
            <a:prstDash val="solid"/>
          </a:ln>
        </p:spPr>
      </p:sp>
      <p:sp>
        <p:nvSpPr>
          <p:cNvPr id="5" name="Text 3"/>
          <p:cNvSpPr/>
          <p:nvPr/>
        </p:nvSpPr>
        <p:spPr>
          <a:xfrm>
            <a:off x="1176338" y="2347913"/>
            <a:ext cx="3272000"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Type</a:t>
            </a:r>
            <a:endParaRPr lang="en-US" sz="1950" dirty="0"/>
          </a:p>
        </p:txBody>
      </p:sp>
      <p:sp>
        <p:nvSpPr>
          <p:cNvPr id="6" name="Shape 4"/>
          <p:cNvSpPr/>
          <p:nvPr/>
        </p:nvSpPr>
        <p:spPr>
          <a:xfrm>
            <a:off x="4559350" y="2185988"/>
            <a:ext cx="6205984" cy="609600"/>
          </a:xfrm>
          <a:prstGeom prst="rect">
            <a:avLst/>
          </a:prstGeom>
          <a:solidFill>
            <a:srgbClr val="1A3260"/>
          </a:solidFill>
          <a:ln w="9525">
            <a:solidFill>
              <a:srgbClr val="1A3260"/>
            </a:solidFill>
            <a:prstDash val="solid"/>
          </a:ln>
        </p:spPr>
      </p:sp>
      <p:sp>
        <p:nvSpPr>
          <p:cNvPr id="7" name="Text 5"/>
          <p:cNvSpPr/>
          <p:nvPr/>
        </p:nvSpPr>
        <p:spPr>
          <a:xfrm>
            <a:off x="4778425" y="2347913"/>
            <a:ext cx="5954014"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Pattern</a:t>
            </a:r>
            <a:endParaRPr lang="en-US" sz="1950" dirty="0"/>
          </a:p>
        </p:txBody>
      </p:sp>
      <p:sp>
        <p:nvSpPr>
          <p:cNvPr id="8" name="Shape 6"/>
          <p:cNvSpPr/>
          <p:nvPr/>
        </p:nvSpPr>
        <p:spPr>
          <a:xfrm>
            <a:off x="10765334" y="2185988"/>
            <a:ext cx="6565404" cy="609600"/>
          </a:xfrm>
          <a:prstGeom prst="rect">
            <a:avLst/>
          </a:prstGeom>
          <a:solidFill>
            <a:srgbClr val="1A3260"/>
          </a:solidFill>
          <a:ln w="9525">
            <a:solidFill>
              <a:srgbClr val="1A3260"/>
            </a:solidFill>
            <a:prstDash val="solid"/>
          </a:ln>
        </p:spPr>
      </p:sp>
      <p:sp>
        <p:nvSpPr>
          <p:cNvPr id="9" name="Text 7"/>
          <p:cNvSpPr/>
          <p:nvPr/>
        </p:nvSpPr>
        <p:spPr>
          <a:xfrm>
            <a:off x="10984409" y="2347913"/>
            <a:ext cx="6324216"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Pathophysiology</a:t>
            </a:r>
            <a:endParaRPr lang="en-US" sz="1950" dirty="0"/>
          </a:p>
        </p:txBody>
      </p:sp>
      <p:sp>
        <p:nvSpPr>
          <p:cNvPr id="10" name="Shape 8"/>
          <p:cNvSpPr/>
          <p:nvPr/>
        </p:nvSpPr>
        <p:spPr>
          <a:xfrm>
            <a:off x="957263" y="2795588"/>
            <a:ext cx="3602087" cy="969466"/>
          </a:xfrm>
          <a:prstGeom prst="rect">
            <a:avLst/>
          </a:prstGeom>
          <a:ln w="9525">
            <a:solidFill>
              <a:srgbClr val="EBEBEB"/>
            </a:solidFill>
            <a:prstDash val="solid"/>
          </a:ln>
        </p:spPr>
      </p:sp>
      <p:sp>
        <p:nvSpPr>
          <p:cNvPr id="11" name="Text 9"/>
          <p:cNvSpPr/>
          <p:nvPr/>
        </p:nvSpPr>
        <p:spPr>
          <a:xfrm>
            <a:off x="1176338" y="2938463"/>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Stable angina</a:t>
            </a:r>
            <a:endParaRPr lang="en-US" sz="1950" dirty="0"/>
          </a:p>
        </p:txBody>
      </p:sp>
      <p:sp>
        <p:nvSpPr>
          <p:cNvPr id="12" name="Shape 10"/>
          <p:cNvSpPr/>
          <p:nvPr/>
        </p:nvSpPr>
        <p:spPr>
          <a:xfrm>
            <a:off x="4559350" y="2795588"/>
            <a:ext cx="6205984" cy="969466"/>
          </a:xfrm>
          <a:prstGeom prst="rect">
            <a:avLst/>
          </a:prstGeom>
          <a:ln w="9525">
            <a:solidFill>
              <a:srgbClr val="EBEBEB"/>
            </a:solidFill>
            <a:prstDash val="solid"/>
          </a:ln>
        </p:spPr>
      </p:sp>
      <p:sp>
        <p:nvSpPr>
          <p:cNvPr id="13" name="Text 11"/>
          <p:cNvSpPr/>
          <p:nvPr/>
        </p:nvSpPr>
        <p:spPr>
          <a:xfrm>
            <a:off x="4778425" y="2938463"/>
            <a:ext cx="5954014"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Predictable with exertion · relieved by rest or nitroglycerin · &lt; 5 min</a:t>
            </a:r>
            <a:endParaRPr lang="en-US" sz="1950" dirty="0"/>
          </a:p>
        </p:txBody>
      </p:sp>
      <p:sp>
        <p:nvSpPr>
          <p:cNvPr id="14" name="Shape 12"/>
          <p:cNvSpPr/>
          <p:nvPr/>
        </p:nvSpPr>
        <p:spPr>
          <a:xfrm>
            <a:off x="10765334" y="2795588"/>
            <a:ext cx="6565404" cy="969466"/>
          </a:xfrm>
          <a:prstGeom prst="rect">
            <a:avLst/>
          </a:prstGeom>
          <a:ln w="9525">
            <a:solidFill>
              <a:srgbClr val="EBEBEB"/>
            </a:solidFill>
            <a:prstDash val="solid"/>
          </a:ln>
        </p:spPr>
      </p:sp>
      <p:sp>
        <p:nvSpPr>
          <p:cNvPr id="15" name="Text 13"/>
          <p:cNvSpPr/>
          <p:nvPr/>
        </p:nvSpPr>
        <p:spPr>
          <a:xfrm>
            <a:off x="10984409" y="2938463"/>
            <a:ext cx="6324216"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Fixed atherosclerotic narrowing — supply cannot meet demand</a:t>
            </a:r>
            <a:endParaRPr lang="en-US" sz="1950" dirty="0"/>
          </a:p>
        </p:txBody>
      </p:sp>
      <p:sp>
        <p:nvSpPr>
          <p:cNvPr id="16" name="Shape 14"/>
          <p:cNvSpPr/>
          <p:nvPr/>
        </p:nvSpPr>
        <p:spPr>
          <a:xfrm>
            <a:off x="957263" y="3765054"/>
            <a:ext cx="3602087" cy="969466"/>
          </a:xfrm>
          <a:prstGeom prst="rect">
            <a:avLst/>
          </a:prstGeom>
          <a:solidFill>
            <a:srgbClr val="F5F6F8"/>
          </a:solidFill>
          <a:ln w="9525">
            <a:solidFill>
              <a:srgbClr val="EBEBEB"/>
            </a:solidFill>
            <a:prstDash val="solid"/>
          </a:ln>
        </p:spPr>
      </p:sp>
      <p:sp>
        <p:nvSpPr>
          <p:cNvPr id="17" name="Text 15"/>
          <p:cNvSpPr/>
          <p:nvPr/>
        </p:nvSpPr>
        <p:spPr>
          <a:xfrm>
            <a:off x="1176338" y="3907929"/>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Unstable angina</a:t>
            </a:r>
            <a:endParaRPr lang="en-US" sz="1950" dirty="0"/>
          </a:p>
        </p:txBody>
      </p:sp>
      <p:sp>
        <p:nvSpPr>
          <p:cNvPr id="18" name="Shape 16"/>
          <p:cNvSpPr/>
          <p:nvPr/>
        </p:nvSpPr>
        <p:spPr>
          <a:xfrm>
            <a:off x="4559350" y="3765054"/>
            <a:ext cx="6205984" cy="969466"/>
          </a:xfrm>
          <a:prstGeom prst="rect">
            <a:avLst/>
          </a:prstGeom>
          <a:solidFill>
            <a:srgbClr val="F5F6F8"/>
          </a:solidFill>
          <a:ln w="9525">
            <a:solidFill>
              <a:srgbClr val="EBEBEB"/>
            </a:solidFill>
            <a:prstDash val="solid"/>
          </a:ln>
        </p:spPr>
      </p:sp>
      <p:sp>
        <p:nvSpPr>
          <p:cNvPr id="19" name="Text 17"/>
          <p:cNvSpPr/>
          <p:nvPr/>
        </p:nvSpPr>
        <p:spPr>
          <a:xfrm>
            <a:off x="4778425" y="3907929"/>
            <a:ext cx="5954014"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New onset · at rest · increased frequency or severity</a:t>
            </a:r>
            <a:endParaRPr lang="en-US" sz="1950" dirty="0"/>
          </a:p>
        </p:txBody>
      </p:sp>
      <p:sp>
        <p:nvSpPr>
          <p:cNvPr id="20" name="Shape 18"/>
          <p:cNvSpPr/>
          <p:nvPr/>
        </p:nvSpPr>
        <p:spPr>
          <a:xfrm>
            <a:off x="10765334" y="3765054"/>
            <a:ext cx="6565404" cy="969466"/>
          </a:xfrm>
          <a:prstGeom prst="rect">
            <a:avLst/>
          </a:prstGeom>
          <a:solidFill>
            <a:srgbClr val="F5F6F8"/>
          </a:solidFill>
          <a:ln w="9525">
            <a:solidFill>
              <a:srgbClr val="EBEBEB"/>
            </a:solidFill>
            <a:prstDash val="solid"/>
          </a:ln>
        </p:spPr>
      </p:sp>
      <p:sp>
        <p:nvSpPr>
          <p:cNvPr id="21" name="Text 19"/>
          <p:cNvSpPr/>
          <p:nvPr/>
        </p:nvSpPr>
        <p:spPr>
          <a:xfrm>
            <a:off x="10984409" y="3907929"/>
            <a:ext cx="6324216"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Plaque rupture with partial occlusion — no troponin rise yet</a:t>
            </a:r>
            <a:endParaRPr lang="en-US" sz="1950" dirty="0"/>
          </a:p>
        </p:txBody>
      </p:sp>
      <p:sp>
        <p:nvSpPr>
          <p:cNvPr id="22" name="Shape 20"/>
          <p:cNvSpPr/>
          <p:nvPr/>
        </p:nvSpPr>
        <p:spPr>
          <a:xfrm>
            <a:off x="957263" y="4734520"/>
            <a:ext cx="3602087" cy="969466"/>
          </a:xfrm>
          <a:prstGeom prst="rect">
            <a:avLst/>
          </a:prstGeom>
          <a:ln w="9525">
            <a:solidFill>
              <a:srgbClr val="EBEBEB"/>
            </a:solidFill>
            <a:prstDash val="solid"/>
          </a:ln>
        </p:spPr>
      </p:sp>
      <p:sp>
        <p:nvSpPr>
          <p:cNvPr id="23" name="Text 21"/>
          <p:cNvSpPr/>
          <p:nvPr/>
        </p:nvSpPr>
        <p:spPr>
          <a:xfrm>
            <a:off x="1176338" y="4877395"/>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Prinzmetal (variant) angina</a:t>
            </a:r>
            <a:endParaRPr lang="en-US" sz="1950" dirty="0"/>
          </a:p>
        </p:txBody>
      </p:sp>
      <p:sp>
        <p:nvSpPr>
          <p:cNvPr id="24" name="Shape 22"/>
          <p:cNvSpPr/>
          <p:nvPr/>
        </p:nvSpPr>
        <p:spPr>
          <a:xfrm>
            <a:off x="4559350" y="4734520"/>
            <a:ext cx="6205984" cy="969466"/>
          </a:xfrm>
          <a:prstGeom prst="rect">
            <a:avLst/>
          </a:prstGeom>
          <a:ln w="9525">
            <a:solidFill>
              <a:srgbClr val="EBEBEB"/>
            </a:solidFill>
            <a:prstDash val="solid"/>
          </a:ln>
        </p:spPr>
      </p:sp>
      <p:sp>
        <p:nvSpPr>
          <p:cNvPr id="25" name="Text 23"/>
          <p:cNvSpPr/>
          <p:nvPr/>
        </p:nvSpPr>
        <p:spPr>
          <a:xfrm>
            <a:off x="4778425" y="4877395"/>
            <a:ext cx="5954014"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At rest · often nocturnal · responds to nitrates &amp; CCBs</a:t>
            </a:r>
            <a:endParaRPr lang="en-US" sz="1950" dirty="0"/>
          </a:p>
        </p:txBody>
      </p:sp>
      <p:sp>
        <p:nvSpPr>
          <p:cNvPr id="26" name="Shape 24"/>
          <p:cNvSpPr/>
          <p:nvPr/>
        </p:nvSpPr>
        <p:spPr>
          <a:xfrm>
            <a:off x="10765334" y="4734520"/>
            <a:ext cx="6565404" cy="969466"/>
          </a:xfrm>
          <a:prstGeom prst="rect">
            <a:avLst/>
          </a:prstGeom>
          <a:ln w="9525">
            <a:solidFill>
              <a:srgbClr val="EBEBEB"/>
            </a:solidFill>
            <a:prstDash val="solid"/>
          </a:ln>
        </p:spPr>
      </p:sp>
      <p:sp>
        <p:nvSpPr>
          <p:cNvPr id="27" name="Text 25"/>
          <p:cNvSpPr/>
          <p:nvPr/>
        </p:nvSpPr>
        <p:spPr>
          <a:xfrm>
            <a:off x="10984409" y="4877395"/>
            <a:ext cx="6324216"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Coronary vasospasm (usually no significant atherosclerosis)</a:t>
            </a:r>
            <a:endParaRPr lang="en-US" sz="1950" dirty="0"/>
          </a:p>
        </p:txBody>
      </p:sp>
      <p:sp>
        <p:nvSpPr>
          <p:cNvPr id="28" name="Shape 26"/>
          <p:cNvSpPr/>
          <p:nvPr/>
        </p:nvSpPr>
        <p:spPr>
          <a:xfrm>
            <a:off x="957263" y="5703987"/>
            <a:ext cx="3602087" cy="622846"/>
          </a:xfrm>
          <a:prstGeom prst="rect">
            <a:avLst/>
          </a:prstGeom>
          <a:solidFill>
            <a:srgbClr val="F5F6F8"/>
          </a:solidFill>
          <a:ln w="9525">
            <a:solidFill>
              <a:srgbClr val="EBEBEB"/>
            </a:solidFill>
            <a:prstDash val="solid"/>
          </a:ln>
        </p:spPr>
      </p:sp>
      <p:sp>
        <p:nvSpPr>
          <p:cNvPr id="29" name="Text 27"/>
          <p:cNvSpPr/>
          <p:nvPr/>
        </p:nvSpPr>
        <p:spPr>
          <a:xfrm>
            <a:off x="1176338" y="5846862"/>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NSTEMI</a:t>
            </a:r>
            <a:endParaRPr lang="en-US" sz="1950" dirty="0"/>
          </a:p>
        </p:txBody>
      </p:sp>
      <p:sp>
        <p:nvSpPr>
          <p:cNvPr id="30" name="Shape 28"/>
          <p:cNvSpPr/>
          <p:nvPr/>
        </p:nvSpPr>
        <p:spPr>
          <a:xfrm>
            <a:off x="4559350" y="5703987"/>
            <a:ext cx="6205984" cy="622846"/>
          </a:xfrm>
          <a:prstGeom prst="rect">
            <a:avLst/>
          </a:prstGeom>
          <a:solidFill>
            <a:srgbClr val="F5F6F8"/>
          </a:solidFill>
          <a:ln w="9525">
            <a:solidFill>
              <a:srgbClr val="EBEBEB"/>
            </a:solidFill>
            <a:prstDash val="solid"/>
          </a:ln>
        </p:spPr>
      </p:sp>
      <p:sp>
        <p:nvSpPr>
          <p:cNvPr id="31" name="Text 29"/>
          <p:cNvSpPr/>
          <p:nvPr/>
        </p:nvSpPr>
        <p:spPr>
          <a:xfrm>
            <a:off x="4778425" y="5846862"/>
            <a:ext cx="5954014"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Prolonged chest pain · ↑ troponin · no ST elevation</a:t>
            </a:r>
            <a:endParaRPr lang="en-US" sz="1950" dirty="0"/>
          </a:p>
        </p:txBody>
      </p:sp>
      <p:sp>
        <p:nvSpPr>
          <p:cNvPr id="32" name="Shape 30"/>
          <p:cNvSpPr/>
          <p:nvPr/>
        </p:nvSpPr>
        <p:spPr>
          <a:xfrm>
            <a:off x="10765334" y="5703987"/>
            <a:ext cx="6565404" cy="622846"/>
          </a:xfrm>
          <a:prstGeom prst="rect">
            <a:avLst/>
          </a:prstGeom>
          <a:solidFill>
            <a:srgbClr val="F5F6F8"/>
          </a:solidFill>
          <a:ln w="9525">
            <a:solidFill>
              <a:srgbClr val="EBEBEB"/>
            </a:solidFill>
            <a:prstDash val="solid"/>
          </a:ln>
        </p:spPr>
      </p:sp>
      <p:sp>
        <p:nvSpPr>
          <p:cNvPr id="33" name="Text 31"/>
          <p:cNvSpPr/>
          <p:nvPr/>
        </p:nvSpPr>
        <p:spPr>
          <a:xfrm>
            <a:off x="10984409" y="5846862"/>
            <a:ext cx="6324216"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Partial coronary occlusion → subendocardial infarct</a:t>
            </a:r>
            <a:endParaRPr lang="en-US" sz="1950" dirty="0"/>
          </a:p>
        </p:txBody>
      </p:sp>
      <p:sp>
        <p:nvSpPr>
          <p:cNvPr id="34" name="Shape 32"/>
          <p:cNvSpPr/>
          <p:nvPr/>
        </p:nvSpPr>
        <p:spPr>
          <a:xfrm>
            <a:off x="957263" y="6326832"/>
            <a:ext cx="3602087" cy="969466"/>
          </a:xfrm>
          <a:prstGeom prst="rect">
            <a:avLst/>
          </a:prstGeom>
          <a:ln w="9525">
            <a:solidFill>
              <a:srgbClr val="EBEBEB"/>
            </a:solidFill>
            <a:prstDash val="solid"/>
          </a:ln>
        </p:spPr>
      </p:sp>
      <p:sp>
        <p:nvSpPr>
          <p:cNvPr id="35" name="Text 33"/>
          <p:cNvSpPr/>
          <p:nvPr/>
        </p:nvSpPr>
        <p:spPr>
          <a:xfrm>
            <a:off x="1176338" y="6469707"/>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STEMI</a:t>
            </a:r>
            <a:endParaRPr lang="en-US" sz="1950" dirty="0"/>
          </a:p>
        </p:txBody>
      </p:sp>
      <p:sp>
        <p:nvSpPr>
          <p:cNvPr id="36" name="Shape 34"/>
          <p:cNvSpPr/>
          <p:nvPr/>
        </p:nvSpPr>
        <p:spPr>
          <a:xfrm>
            <a:off x="4559350" y="6326832"/>
            <a:ext cx="6205984" cy="969466"/>
          </a:xfrm>
          <a:prstGeom prst="rect">
            <a:avLst/>
          </a:prstGeom>
          <a:ln w="9525">
            <a:solidFill>
              <a:srgbClr val="EBEBEB"/>
            </a:solidFill>
            <a:prstDash val="solid"/>
          </a:ln>
        </p:spPr>
      </p:sp>
      <p:sp>
        <p:nvSpPr>
          <p:cNvPr id="37" name="Text 35"/>
          <p:cNvSpPr/>
          <p:nvPr/>
        </p:nvSpPr>
        <p:spPr>
          <a:xfrm>
            <a:off x="4778425" y="6469707"/>
            <a:ext cx="5954014"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Prolonged chest pain · ↑ troponin · ST elevation on ECG</a:t>
            </a:r>
            <a:endParaRPr lang="en-US" sz="1950" dirty="0"/>
          </a:p>
        </p:txBody>
      </p:sp>
      <p:sp>
        <p:nvSpPr>
          <p:cNvPr id="38" name="Shape 36"/>
          <p:cNvSpPr/>
          <p:nvPr/>
        </p:nvSpPr>
        <p:spPr>
          <a:xfrm>
            <a:off x="10765334" y="6326832"/>
            <a:ext cx="6565404" cy="969466"/>
          </a:xfrm>
          <a:prstGeom prst="rect">
            <a:avLst/>
          </a:prstGeom>
          <a:ln w="9525">
            <a:solidFill>
              <a:srgbClr val="EBEBEB"/>
            </a:solidFill>
            <a:prstDash val="solid"/>
          </a:ln>
        </p:spPr>
      </p:sp>
      <p:sp>
        <p:nvSpPr>
          <p:cNvPr id="39" name="Text 37"/>
          <p:cNvSpPr/>
          <p:nvPr/>
        </p:nvSpPr>
        <p:spPr>
          <a:xfrm>
            <a:off x="10984409" y="6469707"/>
            <a:ext cx="6324216"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Complete coronary occlusion → transmural infarct — emergency PCI</a:t>
            </a:r>
            <a:endParaRPr lang="en-US" sz="1950" dirty="0"/>
          </a:p>
        </p:txBody>
      </p:sp>
      <p:pic>
        <p:nvPicPr>
          <p:cNvPr id="40"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41" name="Text 38"/>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42" name="Text 39"/>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20 / 35</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TIME IS MUSCLE</a:t>
            </a:r>
            <a:endParaRPr lang="en-US" sz="1650" dirty="0"/>
          </a:p>
        </p:txBody>
      </p:sp>
      <p:sp>
        <p:nvSpPr>
          <p:cNvPr id="3" name="Text 1"/>
          <p:cNvSpPr/>
          <p:nvPr/>
        </p:nvSpPr>
        <p:spPr>
          <a:xfrm>
            <a:off x="952500" y="1257300"/>
            <a:ext cx="16874490" cy="1882080"/>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Acute coronary syndrome — the recognition pieces</a:t>
            </a:r>
            <a:endParaRPr lang="en-US" sz="5700" dirty="0"/>
          </a:p>
        </p:txBody>
      </p:sp>
      <p:sp>
        <p:nvSpPr>
          <p:cNvPr id="4" name="Text 2"/>
          <p:cNvSpPr/>
          <p:nvPr/>
        </p:nvSpPr>
        <p:spPr>
          <a:xfrm>
            <a:off x="1295400" y="3596580"/>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Classic chest pain: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substernal pressure, &gt; 20 min, may radiate to jaw, neck, left arm; diaphoresis, nausea, dyspnea.</a:t>
            </a:r>
            <a:endParaRPr lang="en-US" sz="2550" dirty="0"/>
          </a:p>
        </p:txBody>
      </p:sp>
      <p:sp>
        <p:nvSpPr>
          <p:cNvPr id="5" name="Text 3"/>
          <p:cNvSpPr/>
          <p:nvPr/>
        </p:nvSpPr>
        <p:spPr>
          <a:xfrm>
            <a:off x="1295400" y="4712791"/>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Atypical presentations: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women, older adults, diabetics — fatigue, indigestion, dyspnea without classic chest pain.</a:t>
            </a:r>
            <a:endParaRPr lang="en-US" sz="2550" dirty="0"/>
          </a:p>
        </p:txBody>
      </p:sp>
      <p:sp>
        <p:nvSpPr>
          <p:cNvPr id="6" name="Text 4"/>
          <p:cNvSpPr/>
          <p:nvPr/>
        </p:nvSpPr>
        <p:spPr>
          <a:xfrm>
            <a:off x="1295400" y="5829002"/>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ECG: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ST elevation (STEMI), ST depression or T-wave inversion (NSTEMI/UA), new LBBB.</a:t>
            </a:r>
            <a:endParaRPr lang="en-US" sz="2550" dirty="0"/>
          </a:p>
        </p:txBody>
      </p:sp>
      <p:sp>
        <p:nvSpPr>
          <p:cNvPr id="7" name="Text 5"/>
          <p:cNvSpPr/>
          <p:nvPr/>
        </p:nvSpPr>
        <p:spPr>
          <a:xfrm>
            <a:off x="1295400" y="6491883"/>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Cardiac biomarkers: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troponin I/T — most sensitive &amp; specific; rises 3–12 hr, peaks 24–48 hr, stays up 7–14 days.</a:t>
            </a:r>
            <a:endParaRPr lang="en-US" sz="2550" dirty="0"/>
          </a:p>
        </p:txBody>
      </p:sp>
      <p:sp>
        <p:nvSpPr>
          <p:cNvPr id="8" name="Text 6"/>
          <p:cNvSpPr/>
          <p:nvPr/>
        </p:nvSpPr>
        <p:spPr>
          <a:xfrm>
            <a:off x="1295400" y="7608094"/>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Decision rule: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chest pain + ST elevation = activate STEMI protocol. Door-to-balloon goal &lt; 90 min.</a:t>
            </a:r>
            <a:endParaRPr lang="en-US" sz="2550" dirty="0"/>
          </a:p>
        </p:txBody>
      </p:sp>
      <p:pic>
        <p:nvPicPr>
          <p:cNvPr id="9"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0" name="Text 7"/>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1" name="Text 8"/>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21 / 35</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1695450"/>
          </a:xfrm>
          <a:prstGeom prst="rect">
            <a:avLst/>
          </a:prstGeom>
          <a:noFill/>
          <a:ln/>
        </p:spPr>
        <p:txBody>
          <a:bodyPr wrap="square" lIns="25400" tIns="25400" rIns="25400" bIns="25400" rtlCol="0" anchor="t">
            <a:normAutofit/>
          </a:bodyPr>
          <a:lstStyle/>
          <a:p>
            <a:pPr algn="l" indent="0" marL="0">
              <a:buNone/>
            </a:pPr>
            <a:r>
              <a:rPr lang="en-US" sz="5700" b="1" dirty="0">
                <a:solidFill>
                  <a:srgbClr val="1A3260"/>
                </a:solidFill>
                <a:latin typeface="Arial" pitchFamily="34" charset="0"/>
                <a:ea typeface="Arial" pitchFamily="34" charset="-122"/>
                <a:cs typeface="Arial" pitchFamily="34" charset="-120"/>
              </a:rPr>
              <a:t>Heart failure — left vs. right, systolic vs. diastolic</a:t>
            </a:r>
            <a:endParaRPr lang="en-US" sz="5700" dirty="0"/>
          </a:p>
        </p:txBody>
      </p:sp>
      <p:sp>
        <p:nvSpPr>
          <p:cNvPr id="3" name="Shape 1"/>
          <p:cNvSpPr/>
          <p:nvPr/>
        </p:nvSpPr>
        <p:spPr>
          <a:xfrm>
            <a:off x="952500" y="3009900"/>
            <a:ext cx="16383000" cy="4150370"/>
          </a:xfrm>
          <a:prstGeom prst="rect">
            <a:avLst/>
          </a:prstGeom>
          <a:solidFill>
            <a:srgbClr val="FFFFFF"/>
          </a:solidFill>
          <a:ln/>
        </p:spPr>
      </p:sp>
      <p:sp>
        <p:nvSpPr>
          <p:cNvPr id="4" name="Shape 2"/>
          <p:cNvSpPr/>
          <p:nvPr/>
        </p:nvSpPr>
        <p:spPr>
          <a:xfrm>
            <a:off x="957263" y="3014663"/>
            <a:ext cx="3602087" cy="609600"/>
          </a:xfrm>
          <a:prstGeom prst="rect">
            <a:avLst/>
          </a:prstGeom>
          <a:solidFill>
            <a:srgbClr val="1A3260"/>
          </a:solidFill>
          <a:ln w="9525">
            <a:solidFill>
              <a:srgbClr val="1A3260"/>
            </a:solidFill>
            <a:prstDash val="solid"/>
          </a:ln>
        </p:spPr>
      </p:sp>
      <p:sp>
        <p:nvSpPr>
          <p:cNvPr id="5" name="Text 3"/>
          <p:cNvSpPr/>
          <p:nvPr/>
        </p:nvSpPr>
        <p:spPr>
          <a:xfrm>
            <a:off x="1176338" y="3176588"/>
            <a:ext cx="3272000"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Type</a:t>
            </a:r>
            <a:endParaRPr lang="en-US" sz="1950" dirty="0"/>
          </a:p>
        </p:txBody>
      </p:sp>
      <p:sp>
        <p:nvSpPr>
          <p:cNvPr id="6" name="Shape 4"/>
          <p:cNvSpPr/>
          <p:nvPr/>
        </p:nvSpPr>
        <p:spPr>
          <a:xfrm>
            <a:off x="4559350" y="3014663"/>
            <a:ext cx="6366123" cy="609600"/>
          </a:xfrm>
          <a:prstGeom prst="rect">
            <a:avLst/>
          </a:prstGeom>
          <a:solidFill>
            <a:srgbClr val="1A3260"/>
          </a:solidFill>
          <a:ln w="9525">
            <a:solidFill>
              <a:srgbClr val="1A3260"/>
            </a:solidFill>
            <a:prstDash val="solid"/>
          </a:ln>
        </p:spPr>
      </p:sp>
      <p:sp>
        <p:nvSpPr>
          <p:cNvPr id="7" name="Text 5"/>
          <p:cNvSpPr/>
          <p:nvPr/>
        </p:nvSpPr>
        <p:spPr>
          <a:xfrm>
            <a:off x="4778425" y="3176588"/>
            <a:ext cx="6118957"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Mechanism</a:t>
            </a:r>
            <a:endParaRPr lang="en-US" sz="1950" dirty="0"/>
          </a:p>
        </p:txBody>
      </p:sp>
      <p:sp>
        <p:nvSpPr>
          <p:cNvPr id="8" name="Shape 6"/>
          <p:cNvSpPr/>
          <p:nvPr/>
        </p:nvSpPr>
        <p:spPr>
          <a:xfrm>
            <a:off x="10925473" y="3014663"/>
            <a:ext cx="6405265" cy="609600"/>
          </a:xfrm>
          <a:prstGeom prst="rect">
            <a:avLst/>
          </a:prstGeom>
          <a:solidFill>
            <a:srgbClr val="1A3260"/>
          </a:solidFill>
          <a:ln w="9525">
            <a:solidFill>
              <a:srgbClr val="1A3260"/>
            </a:solidFill>
            <a:prstDash val="solid"/>
          </a:ln>
        </p:spPr>
      </p:sp>
      <p:sp>
        <p:nvSpPr>
          <p:cNvPr id="9" name="Text 7"/>
          <p:cNvSpPr/>
          <p:nvPr/>
        </p:nvSpPr>
        <p:spPr>
          <a:xfrm>
            <a:off x="11144548" y="3176588"/>
            <a:ext cx="6159273"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Hallmark findings</a:t>
            </a:r>
            <a:endParaRPr lang="en-US" sz="1950" dirty="0"/>
          </a:p>
        </p:txBody>
      </p:sp>
      <p:sp>
        <p:nvSpPr>
          <p:cNvPr id="10" name="Shape 8"/>
          <p:cNvSpPr/>
          <p:nvPr/>
        </p:nvSpPr>
        <p:spPr>
          <a:xfrm>
            <a:off x="957263" y="3624263"/>
            <a:ext cx="3602087" cy="969466"/>
          </a:xfrm>
          <a:prstGeom prst="rect">
            <a:avLst/>
          </a:prstGeom>
          <a:ln w="9525">
            <a:solidFill>
              <a:srgbClr val="EBEBEB"/>
            </a:solidFill>
            <a:prstDash val="solid"/>
          </a:ln>
        </p:spPr>
      </p:sp>
      <p:sp>
        <p:nvSpPr>
          <p:cNvPr id="11" name="Text 9"/>
          <p:cNvSpPr/>
          <p:nvPr/>
        </p:nvSpPr>
        <p:spPr>
          <a:xfrm>
            <a:off x="1176338" y="3767137"/>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Left-sided systolic (HFrEF)</a:t>
            </a:r>
            <a:endParaRPr lang="en-US" sz="1950" dirty="0"/>
          </a:p>
        </p:txBody>
      </p:sp>
      <p:sp>
        <p:nvSpPr>
          <p:cNvPr id="12" name="Shape 10"/>
          <p:cNvSpPr/>
          <p:nvPr/>
        </p:nvSpPr>
        <p:spPr>
          <a:xfrm>
            <a:off x="4559350" y="3624263"/>
            <a:ext cx="6366123" cy="969466"/>
          </a:xfrm>
          <a:prstGeom prst="rect">
            <a:avLst/>
          </a:prstGeom>
          <a:ln w="9525">
            <a:solidFill>
              <a:srgbClr val="EBEBEB"/>
            </a:solidFill>
            <a:prstDash val="solid"/>
          </a:ln>
        </p:spPr>
      </p:sp>
      <p:sp>
        <p:nvSpPr>
          <p:cNvPr id="13" name="Text 11"/>
          <p:cNvSpPr/>
          <p:nvPr/>
        </p:nvSpPr>
        <p:spPr>
          <a:xfrm>
            <a:off x="4778425" y="3767137"/>
            <a:ext cx="6118957"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contractility → ↓ EF (&lt; 40%)</a:t>
            </a:r>
            <a:endParaRPr lang="en-US" sz="1950" dirty="0"/>
          </a:p>
        </p:txBody>
      </p:sp>
      <p:sp>
        <p:nvSpPr>
          <p:cNvPr id="14" name="Shape 12"/>
          <p:cNvSpPr/>
          <p:nvPr/>
        </p:nvSpPr>
        <p:spPr>
          <a:xfrm>
            <a:off x="10925473" y="3624263"/>
            <a:ext cx="6405265" cy="969466"/>
          </a:xfrm>
          <a:prstGeom prst="rect">
            <a:avLst/>
          </a:prstGeom>
          <a:ln w="9525">
            <a:solidFill>
              <a:srgbClr val="EBEBEB"/>
            </a:solidFill>
            <a:prstDash val="solid"/>
          </a:ln>
        </p:spPr>
      </p:sp>
      <p:sp>
        <p:nvSpPr>
          <p:cNvPr id="15" name="Text 13"/>
          <p:cNvSpPr/>
          <p:nvPr/>
        </p:nvSpPr>
        <p:spPr>
          <a:xfrm>
            <a:off x="11144548" y="3767137"/>
            <a:ext cx="6159273"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Pulmonary congestion · dyspnea · orthopnea · crackles · S3</a:t>
            </a:r>
            <a:endParaRPr lang="en-US" sz="1950" dirty="0"/>
          </a:p>
        </p:txBody>
      </p:sp>
      <p:sp>
        <p:nvSpPr>
          <p:cNvPr id="16" name="Shape 14"/>
          <p:cNvSpPr/>
          <p:nvPr/>
        </p:nvSpPr>
        <p:spPr>
          <a:xfrm>
            <a:off x="957263" y="4593729"/>
            <a:ext cx="3602087" cy="969466"/>
          </a:xfrm>
          <a:prstGeom prst="rect">
            <a:avLst/>
          </a:prstGeom>
          <a:solidFill>
            <a:srgbClr val="F5F6F8"/>
          </a:solidFill>
          <a:ln w="9525">
            <a:solidFill>
              <a:srgbClr val="EBEBEB"/>
            </a:solidFill>
            <a:prstDash val="solid"/>
          </a:ln>
        </p:spPr>
      </p:sp>
      <p:sp>
        <p:nvSpPr>
          <p:cNvPr id="17" name="Text 15"/>
          <p:cNvSpPr/>
          <p:nvPr/>
        </p:nvSpPr>
        <p:spPr>
          <a:xfrm>
            <a:off x="1176338" y="4736604"/>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Left-sided diastolic (HFpEF)</a:t>
            </a:r>
            <a:endParaRPr lang="en-US" sz="1950" dirty="0"/>
          </a:p>
        </p:txBody>
      </p:sp>
      <p:sp>
        <p:nvSpPr>
          <p:cNvPr id="18" name="Shape 16"/>
          <p:cNvSpPr/>
          <p:nvPr/>
        </p:nvSpPr>
        <p:spPr>
          <a:xfrm>
            <a:off x="4559350" y="4593729"/>
            <a:ext cx="6366123" cy="969466"/>
          </a:xfrm>
          <a:prstGeom prst="rect">
            <a:avLst/>
          </a:prstGeom>
          <a:solidFill>
            <a:srgbClr val="F5F6F8"/>
          </a:solidFill>
          <a:ln w="9525">
            <a:solidFill>
              <a:srgbClr val="EBEBEB"/>
            </a:solidFill>
            <a:prstDash val="solid"/>
          </a:ln>
        </p:spPr>
      </p:sp>
      <p:sp>
        <p:nvSpPr>
          <p:cNvPr id="19" name="Text 17"/>
          <p:cNvSpPr/>
          <p:nvPr/>
        </p:nvSpPr>
        <p:spPr>
          <a:xfrm>
            <a:off x="4778425" y="4736604"/>
            <a:ext cx="6118957"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Stiff LV → impaired filling; EF preserved (&gt; 50%)</a:t>
            </a:r>
            <a:endParaRPr lang="en-US" sz="1950" dirty="0"/>
          </a:p>
        </p:txBody>
      </p:sp>
      <p:sp>
        <p:nvSpPr>
          <p:cNvPr id="20" name="Shape 18"/>
          <p:cNvSpPr/>
          <p:nvPr/>
        </p:nvSpPr>
        <p:spPr>
          <a:xfrm>
            <a:off x="10925473" y="4593729"/>
            <a:ext cx="6405265" cy="969466"/>
          </a:xfrm>
          <a:prstGeom prst="rect">
            <a:avLst/>
          </a:prstGeom>
          <a:solidFill>
            <a:srgbClr val="F5F6F8"/>
          </a:solidFill>
          <a:ln w="9525">
            <a:solidFill>
              <a:srgbClr val="EBEBEB"/>
            </a:solidFill>
            <a:prstDash val="solid"/>
          </a:ln>
        </p:spPr>
      </p:sp>
      <p:sp>
        <p:nvSpPr>
          <p:cNvPr id="21" name="Text 19"/>
          <p:cNvSpPr/>
          <p:nvPr/>
        </p:nvSpPr>
        <p:spPr>
          <a:xfrm>
            <a:off x="11144548" y="4736604"/>
            <a:ext cx="6159273"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Same congestion picture · often elderly women, HTN, AFib</a:t>
            </a:r>
            <a:endParaRPr lang="en-US" sz="1950" dirty="0"/>
          </a:p>
        </p:txBody>
      </p:sp>
      <p:sp>
        <p:nvSpPr>
          <p:cNvPr id="22" name="Shape 20"/>
          <p:cNvSpPr/>
          <p:nvPr/>
        </p:nvSpPr>
        <p:spPr>
          <a:xfrm>
            <a:off x="957263" y="5563195"/>
            <a:ext cx="3602087" cy="622846"/>
          </a:xfrm>
          <a:prstGeom prst="rect">
            <a:avLst/>
          </a:prstGeom>
          <a:ln w="9525">
            <a:solidFill>
              <a:srgbClr val="EBEBEB"/>
            </a:solidFill>
            <a:prstDash val="solid"/>
          </a:ln>
        </p:spPr>
      </p:sp>
      <p:sp>
        <p:nvSpPr>
          <p:cNvPr id="23" name="Text 21"/>
          <p:cNvSpPr/>
          <p:nvPr/>
        </p:nvSpPr>
        <p:spPr>
          <a:xfrm>
            <a:off x="1176338" y="5706070"/>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Right-sided</a:t>
            </a:r>
            <a:endParaRPr lang="en-US" sz="1950" dirty="0"/>
          </a:p>
        </p:txBody>
      </p:sp>
      <p:sp>
        <p:nvSpPr>
          <p:cNvPr id="24" name="Shape 22"/>
          <p:cNvSpPr/>
          <p:nvPr/>
        </p:nvSpPr>
        <p:spPr>
          <a:xfrm>
            <a:off x="4559350" y="5563195"/>
            <a:ext cx="6366123" cy="622846"/>
          </a:xfrm>
          <a:prstGeom prst="rect">
            <a:avLst/>
          </a:prstGeom>
          <a:ln w="9525">
            <a:solidFill>
              <a:srgbClr val="EBEBEB"/>
            </a:solidFill>
            <a:prstDash val="solid"/>
          </a:ln>
        </p:spPr>
      </p:sp>
      <p:sp>
        <p:nvSpPr>
          <p:cNvPr id="25" name="Text 23"/>
          <p:cNvSpPr/>
          <p:nvPr/>
        </p:nvSpPr>
        <p:spPr>
          <a:xfrm>
            <a:off x="4778425" y="5706070"/>
            <a:ext cx="6118957"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RV failure — most common cause is left HF</a:t>
            </a:r>
            <a:endParaRPr lang="en-US" sz="1950" dirty="0"/>
          </a:p>
        </p:txBody>
      </p:sp>
      <p:sp>
        <p:nvSpPr>
          <p:cNvPr id="26" name="Shape 24"/>
          <p:cNvSpPr/>
          <p:nvPr/>
        </p:nvSpPr>
        <p:spPr>
          <a:xfrm>
            <a:off x="10925473" y="5563195"/>
            <a:ext cx="6405265" cy="622846"/>
          </a:xfrm>
          <a:prstGeom prst="rect">
            <a:avLst/>
          </a:prstGeom>
          <a:ln w="9525">
            <a:solidFill>
              <a:srgbClr val="EBEBEB"/>
            </a:solidFill>
            <a:prstDash val="solid"/>
          </a:ln>
        </p:spPr>
      </p:sp>
      <p:sp>
        <p:nvSpPr>
          <p:cNvPr id="27" name="Text 25"/>
          <p:cNvSpPr/>
          <p:nvPr/>
        </p:nvSpPr>
        <p:spPr>
          <a:xfrm>
            <a:off x="11144548" y="5706070"/>
            <a:ext cx="6159273"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Peripheral edema · JVD · hepatomegaly · ascites</a:t>
            </a:r>
            <a:endParaRPr lang="en-US" sz="1950" dirty="0"/>
          </a:p>
        </p:txBody>
      </p:sp>
      <p:sp>
        <p:nvSpPr>
          <p:cNvPr id="28" name="Shape 26"/>
          <p:cNvSpPr/>
          <p:nvPr/>
        </p:nvSpPr>
        <p:spPr>
          <a:xfrm>
            <a:off x="957263" y="6186041"/>
            <a:ext cx="3602087" cy="969466"/>
          </a:xfrm>
          <a:prstGeom prst="rect">
            <a:avLst/>
          </a:prstGeom>
          <a:solidFill>
            <a:srgbClr val="F5F6F8"/>
          </a:solidFill>
          <a:ln w="9525">
            <a:solidFill>
              <a:srgbClr val="EBEBEB"/>
            </a:solidFill>
            <a:prstDash val="solid"/>
          </a:ln>
        </p:spPr>
      </p:sp>
      <p:sp>
        <p:nvSpPr>
          <p:cNvPr id="29" name="Text 27"/>
          <p:cNvSpPr/>
          <p:nvPr/>
        </p:nvSpPr>
        <p:spPr>
          <a:xfrm>
            <a:off x="1176338" y="6328916"/>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High-output</a:t>
            </a:r>
            <a:endParaRPr lang="en-US" sz="1950" dirty="0"/>
          </a:p>
        </p:txBody>
      </p:sp>
      <p:sp>
        <p:nvSpPr>
          <p:cNvPr id="30" name="Shape 28"/>
          <p:cNvSpPr/>
          <p:nvPr/>
        </p:nvSpPr>
        <p:spPr>
          <a:xfrm>
            <a:off x="4559350" y="6186041"/>
            <a:ext cx="6366123" cy="969466"/>
          </a:xfrm>
          <a:prstGeom prst="rect">
            <a:avLst/>
          </a:prstGeom>
          <a:solidFill>
            <a:srgbClr val="F5F6F8"/>
          </a:solidFill>
          <a:ln w="9525">
            <a:solidFill>
              <a:srgbClr val="EBEBEB"/>
            </a:solidFill>
            <a:prstDash val="solid"/>
          </a:ln>
        </p:spPr>
      </p:sp>
      <p:sp>
        <p:nvSpPr>
          <p:cNvPr id="31" name="Text 29"/>
          <p:cNvSpPr/>
          <p:nvPr/>
        </p:nvSpPr>
        <p:spPr>
          <a:xfrm>
            <a:off x="4778425" y="6328916"/>
            <a:ext cx="6118957"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Demand exceeds supply (anemia, thyrotoxicosis, AV fistula)</a:t>
            </a:r>
            <a:endParaRPr lang="en-US" sz="1950" dirty="0"/>
          </a:p>
        </p:txBody>
      </p:sp>
      <p:sp>
        <p:nvSpPr>
          <p:cNvPr id="32" name="Shape 30"/>
          <p:cNvSpPr/>
          <p:nvPr/>
        </p:nvSpPr>
        <p:spPr>
          <a:xfrm>
            <a:off x="10925473" y="6186041"/>
            <a:ext cx="6405265" cy="969466"/>
          </a:xfrm>
          <a:prstGeom prst="rect">
            <a:avLst/>
          </a:prstGeom>
          <a:solidFill>
            <a:srgbClr val="F5F6F8"/>
          </a:solidFill>
          <a:ln w="9525">
            <a:solidFill>
              <a:srgbClr val="EBEBEB"/>
            </a:solidFill>
            <a:prstDash val="solid"/>
          </a:ln>
        </p:spPr>
      </p:sp>
      <p:sp>
        <p:nvSpPr>
          <p:cNvPr id="33" name="Text 31"/>
          <p:cNvSpPr/>
          <p:nvPr/>
        </p:nvSpPr>
        <p:spPr>
          <a:xfrm>
            <a:off x="11144548" y="6328916"/>
            <a:ext cx="6159273"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Bounding pulses · warm skin · widened pulse pressure</a:t>
            </a:r>
            <a:endParaRPr lang="en-US" sz="1950" dirty="0"/>
          </a:p>
        </p:txBody>
      </p:sp>
      <p:sp>
        <p:nvSpPr>
          <p:cNvPr id="34" name="Text 32"/>
          <p:cNvSpPr/>
          <p:nvPr/>
        </p:nvSpPr>
        <p:spPr>
          <a:xfrm>
            <a:off x="706755" y="7388870"/>
            <a:ext cx="16874490" cy="304800"/>
          </a:xfrm>
          <a:prstGeom prst="rect">
            <a:avLst/>
          </a:prstGeom>
          <a:noFill/>
          <a:ln/>
        </p:spPr>
        <p:txBody>
          <a:bodyPr wrap="square" lIns="25400" tIns="25400" rIns="25400" bIns="25400" rtlCol="0" anchor="t">
            <a:normAutofit/>
          </a:bodyPr>
          <a:lstStyle/>
          <a:p>
            <a:pPr algn="ctr" indent="0" marL="0">
              <a:buNone/>
            </a:pPr>
            <a:r>
              <a:rPr lang="en-US" sz="1800" b="1" dirty="0">
                <a:solidFill>
                  <a:srgbClr val="6B7280"/>
                </a:solidFill>
                <a:latin typeface="Arial" pitchFamily="34" charset="0"/>
                <a:ea typeface="Arial" pitchFamily="34" charset="-122"/>
                <a:cs typeface="Arial" pitchFamily="34" charset="-120"/>
              </a:rPr>
              <a:t>BNP &gt; 100 pg/mL </a:t>
            </a:r>
            <a:pPr algn="ctr" indent="0" marL="0">
              <a:buNone/>
            </a:pPr>
            <a:r>
              <a:rPr lang="en-US" sz="1800" dirty="0">
                <a:solidFill>
                  <a:srgbClr val="6B7280"/>
                </a:solidFill>
                <a:latin typeface="Arial" pitchFamily="34" charset="0"/>
                <a:ea typeface="Arial" pitchFamily="34" charset="-122"/>
                <a:cs typeface="Arial" pitchFamily="34" charset="-120"/>
              </a:rPr>
              <a:t>— useful screen for HF in dyspneic patients.</a:t>
            </a:r>
            <a:endParaRPr lang="en-US" sz="1800" dirty="0"/>
          </a:p>
        </p:txBody>
      </p:sp>
      <p:pic>
        <p:nvPicPr>
          <p:cNvPr id="35"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36" name="Text 33"/>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37" name="Text 34"/>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22 / 35</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Acute pericarditis</a:t>
            </a:r>
            <a:endParaRPr lang="en-US" sz="5700" dirty="0"/>
          </a:p>
        </p:txBody>
      </p:sp>
      <p:sp>
        <p:nvSpPr>
          <p:cNvPr id="3" name="Shape 1"/>
          <p:cNvSpPr/>
          <p:nvPr/>
        </p:nvSpPr>
        <p:spPr>
          <a:xfrm>
            <a:off x="952500" y="2181225"/>
            <a:ext cx="7886700" cy="7248525"/>
          </a:xfrm>
          <a:prstGeom prst="rect">
            <a:avLst/>
          </a:prstGeom>
          <a:solidFill>
            <a:srgbClr val="F5F6F8"/>
          </a:solidFill>
          <a:ln/>
        </p:spPr>
      </p:sp>
      <p:sp>
        <p:nvSpPr>
          <p:cNvPr id="4" name="Shape 2"/>
          <p:cNvSpPr/>
          <p:nvPr/>
        </p:nvSpPr>
        <p:spPr>
          <a:xfrm>
            <a:off x="952500" y="2181225"/>
            <a:ext cx="7886700" cy="57150"/>
          </a:xfrm>
          <a:prstGeom prst="rect">
            <a:avLst/>
          </a:prstGeom>
          <a:solidFill>
            <a:srgbClr val="1A3260"/>
          </a:solidFill>
          <a:ln/>
        </p:spPr>
      </p:sp>
      <p:sp>
        <p:nvSpPr>
          <p:cNvPr id="5" name="Text 3"/>
          <p:cNvSpPr/>
          <p:nvPr/>
        </p:nvSpPr>
        <p:spPr>
          <a:xfrm>
            <a:off x="13335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The classic triad</a:t>
            </a:r>
            <a:endParaRPr lang="en-US" sz="2850" dirty="0"/>
          </a:p>
        </p:txBody>
      </p:sp>
      <p:sp>
        <p:nvSpPr>
          <p:cNvPr id="6" name="Text 4"/>
          <p:cNvSpPr/>
          <p:nvPr/>
        </p:nvSpPr>
        <p:spPr>
          <a:xfrm>
            <a:off x="1600200" y="3181350"/>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Sharp, pleuritic chest pain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improves leaning forward, worsens supine</a:t>
            </a:r>
            <a:endParaRPr lang="en-US" sz="1950" dirty="0"/>
          </a:p>
        </p:txBody>
      </p:sp>
      <p:sp>
        <p:nvSpPr>
          <p:cNvPr id="7" name="Text 5"/>
          <p:cNvSpPr/>
          <p:nvPr/>
        </p:nvSpPr>
        <p:spPr>
          <a:xfrm>
            <a:off x="1600200" y="4007941"/>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Pericardial friction rub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 scratchy, leather-on-leather sound at LLSB</a:t>
            </a:r>
            <a:endParaRPr lang="en-US" sz="1950" dirty="0"/>
          </a:p>
        </p:txBody>
      </p:sp>
      <p:sp>
        <p:nvSpPr>
          <p:cNvPr id="8" name="Text 6"/>
          <p:cNvSpPr/>
          <p:nvPr/>
        </p:nvSpPr>
        <p:spPr>
          <a:xfrm>
            <a:off x="1600200" y="4834533"/>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Diffuse, saddle-shaped ST elevation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on ECG (with PR depression)</a:t>
            </a:r>
            <a:endParaRPr lang="en-US" sz="1950" dirty="0"/>
          </a:p>
        </p:txBody>
      </p:sp>
      <p:sp>
        <p:nvSpPr>
          <p:cNvPr id="9" name="Shape 7"/>
          <p:cNvSpPr/>
          <p:nvPr/>
        </p:nvSpPr>
        <p:spPr>
          <a:xfrm>
            <a:off x="9448800" y="2181225"/>
            <a:ext cx="7886700" cy="7248525"/>
          </a:xfrm>
          <a:prstGeom prst="rect">
            <a:avLst/>
          </a:prstGeom>
          <a:solidFill>
            <a:srgbClr val="F5F6F8"/>
          </a:solidFill>
          <a:ln/>
        </p:spPr>
      </p:sp>
      <p:sp>
        <p:nvSpPr>
          <p:cNvPr id="10" name="Shape 8"/>
          <p:cNvSpPr/>
          <p:nvPr/>
        </p:nvSpPr>
        <p:spPr>
          <a:xfrm>
            <a:off x="9448800" y="2181225"/>
            <a:ext cx="7886700" cy="57150"/>
          </a:xfrm>
          <a:prstGeom prst="rect">
            <a:avLst/>
          </a:prstGeom>
          <a:solidFill>
            <a:srgbClr val="45CBE8"/>
          </a:solidFill>
          <a:ln/>
        </p:spPr>
      </p:sp>
      <p:sp>
        <p:nvSpPr>
          <p:cNvPr id="11" name="Text 9"/>
          <p:cNvSpPr/>
          <p:nvPr/>
        </p:nvSpPr>
        <p:spPr>
          <a:xfrm>
            <a:off x="9829800" y="2581275"/>
            <a:ext cx="7338441" cy="447675"/>
          </a:xfrm>
          <a:prstGeom prst="rect">
            <a:avLst/>
          </a:prstGeom>
          <a:noFill/>
          <a:ln/>
        </p:spPr>
        <p:txBody>
          <a:bodyPr wrap="square" lIns="25400" tIns="25400" rIns="25400" bIns="25400" rtlCol="0" anchor="t">
            <a:normAutofit/>
          </a:bodyPr>
          <a:lstStyle/>
          <a:p>
            <a:pPr algn="l" indent="0" marL="0">
              <a:buNone/>
            </a:pPr>
            <a:r>
              <a:rPr lang="en-US" sz="2850" b="1" dirty="0">
                <a:solidFill>
                  <a:srgbClr val="1A3260"/>
                </a:solidFill>
                <a:latin typeface="Arial" pitchFamily="34" charset="0"/>
                <a:ea typeface="Arial" pitchFamily="34" charset="-122"/>
                <a:cs typeface="Arial" pitchFamily="34" charset="-120"/>
              </a:rPr>
              <a:t>Causes &amp; complications</a:t>
            </a:r>
            <a:endParaRPr lang="en-US" sz="2850" dirty="0"/>
          </a:p>
        </p:txBody>
      </p:sp>
      <p:sp>
        <p:nvSpPr>
          <p:cNvPr id="12" name="Text 10"/>
          <p:cNvSpPr/>
          <p:nvPr/>
        </p:nvSpPr>
        <p:spPr>
          <a:xfrm>
            <a:off x="10096500" y="3181350"/>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Causes: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viral (most common), post-MI (Dressler syndrome), uremia, autoimmune, malignancy, post-cardiac surgery</a:t>
            </a:r>
            <a:endParaRPr lang="en-US" sz="1950" dirty="0"/>
          </a:p>
        </p:txBody>
      </p:sp>
      <p:sp>
        <p:nvSpPr>
          <p:cNvPr id="13" name="Text 11"/>
          <p:cNvSpPr/>
          <p:nvPr/>
        </p:nvSpPr>
        <p:spPr>
          <a:xfrm>
            <a:off x="10096500" y="4007941"/>
            <a:ext cx="7071741"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Treatment: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NSAIDs + colchicine; treat underlying cause</a:t>
            </a:r>
            <a:endParaRPr lang="en-US" sz="1950" dirty="0"/>
          </a:p>
        </p:txBody>
      </p:sp>
      <p:sp>
        <p:nvSpPr>
          <p:cNvPr id="14" name="Text 12"/>
          <p:cNvSpPr/>
          <p:nvPr/>
        </p:nvSpPr>
        <p:spPr>
          <a:xfrm>
            <a:off x="10096500" y="4487912"/>
            <a:ext cx="7071741" cy="731341"/>
          </a:xfrm>
          <a:prstGeom prst="rect">
            <a:avLst/>
          </a:prstGeom>
          <a:noFill/>
          <a:ln/>
        </p:spPr>
        <p:txBody>
          <a:bodyPr wrap="square" lIns="25400" tIns="25400" rIns="25400" bIns="25400" rtlCol="0" anchor="t">
            <a:normAutofit/>
          </a:bodyPr>
          <a:lstStyle/>
          <a:p>
            <a:pPr algn="l" indent="0" marL="0">
              <a:lnSpc>
                <a:spcPct val="140000"/>
              </a:lnSpc>
              <a:buNone/>
            </a:pPr>
            <a:r>
              <a:rPr lang="en-US" sz="1950" b="1" dirty="0">
                <a:solidFill>
                  <a:srgbClr val="111827"/>
                </a:solidFill>
                <a:latin typeface="Arial" pitchFamily="34" charset="0"/>
                <a:ea typeface="Arial" pitchFamily="34" charset="-122"/>
                <a:cs typeface="Arial" pitchFamily="34" charset="-120"/>
              </a:rPr>
              <a:t>Watch for cardiac tamponade: </a:t>
            </a:r>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Beck triad — hypotension · muffled heart sounds · JVD · pulsus paradoxus</a:t>
            </a:r>
            <a:endParaRPr lang="en-US" sz="1950" dirty="0"/>
          </a:p>
        </p:txBody>
      </p:sp>
      <p:pic>
        <p:nvPicPr>
          <p:cNvPr id="15"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6" name="Text 13"/>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7" name="Text 14"/>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23 / 35</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INSIDE THE HEART</a:t>
            </a:r>
            <a:endParaRPr lang="en-US" sz="1650" dirty="0"/>
          </a:p>
        </p:txBody>
      </p:sp>
      <p:sp>
        <p:nvSpPr>
          <p:cNvPr id="3" name="Text 1"/>
          <p:cNvSpPr/>
          <p:nvPr/>
        </p:nvSpPr>
        <p:spPr>
          <a:xfrm>
            <a:off x="952500" y="1257300"/>
            <a:ext cx="16874490" cy="1122015"/>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Endocarditis &amp; valvular disease</a:t>
            </a:r>
            <a:endParaRPr lang="en-US" sz="5700" dirty="0"/>
          </a:p>
        </p:txBody>
      </p:sp>
      <p:sp>
        <p:nvSpPr>
          <p:cNvPr id="4" name="Text 2"/>
          <p:cNvSpPr/>
          <p:nvPr/>
        </p:nvSpPr>
        <p:spPr>
          <a:xfrm>
            <a:off x="1295400" y="2836515"/>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Infective endocarditis: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infection of endocardium / valves. Risk factors: prosthetic valves, IV drug use, congenital heart disease, dental procedures.</a:t>
            </a:r>
            <a:endParaRPr lang="en-US" sz="2550" dirty="0"/>
          </a:p>
        </p:txBody>
      </p:sp>
      <p:sp>
        <p:nvSpPr>
          <p:cNvPr id="5" name="Text 3"/>
          <p:cNvSpPr/>
          <p:nvPr/>
        </p:nvSpPr>
        <p:spPr>
          <a:xfrm>
            <a:off x="1295400" y="3952726"/>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Classic findings: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fever, new murmur, Janeway lesions, Osler nodes, Roth spots, splinter hemorrhages.</a:t>
            </a:r>
            <a:endParaRPr lang="en-US" sz="2550" dirty="0"/>
          </a:p>
        </p:txBody>
      </p:sp>
      <p:sp>
        <p:nvSpPr>
          <p:cNvPr id="6" name="Text 4"/>
          <p:cNvSpPr/>
          <p:nvPr/>
        </p:nvSpPr>
        <p:spPr>
          <a:xfrm>
            <a:off x="1295400" y="5068937"/>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Aortic stenosis: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"SAD" — Syncope, Angina, Dyspnea on exertion · systolic ejection murmur radiating to carotids.</a:t>
            </a:r>
            <a:endParaRPr lang="en-US" sz="2550" dirty="0"/>
          </a:p>
        </p:txBody>
      </p:sp>
      <p:sp>
        <p:nvSpPr>
          <p:cNvPr id="7" name="Text 5"/>
          <p:cNvSpPr/>
          <p:nvPr/>
        </p:nvSpPr>
        <p:spPr>
          <a:xfrm>
            <a:off x="1295400" y="6185148"/>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Aortic regurgitation: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diastolic decrescendo murmur · widened pulse pressure · bounding pulses.</a:t>
            </a:r>
            <a:endParaRPr lang="en-US" sz="2550" dirty="0"/>
          </a:p>
        </p:txBody>
      </p:sp>
      <p:sp>
        <p:nvSpPr>
          <p:cNvPr id="8" name="Text 6"/>
          <p:cNvSpPr/>
          <p:nvPr/>
        </p:nvSpPr>
        <p:spPr>
          <a:xfrm>
            <a:off x="1295400" y="7301359"/>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Mitral stenosis: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diastolic rumble · usually rheumatic origin · dyspnea, AFib.</a:t>
            </a:r>
            <a:endParaRPr lang="en-US" sz="2550" dirty="0"/>
          </a:p>
        </p:txBody>
      </p:sp>
      <p:sp>
        <p:nvSpPr>
          <p:cNvPr id="9" name="Text 7"/>
          <p:cNvSpPr/>
          <p:nvPr/>
        </p:nvSpPr>
        <p:spPr>
          <a:xfrm>
            <a:off x="1295400" y="7964239"/>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Mitral regurgitation: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holosystolic murmur radiating to axilla · MI, mitral valve prolapse, endocarditis.</a:t>
            </a:r>
            <a:endParaRPr lang="en-US" sz="2550" dirty="0"/>
          </a:p>
        </p:txBody>
      </p:sp>
      <p:pic>
        <p:nvPicPr>
          <p:cNvPr id="10"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1" name="Text 8"/>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2" name="Text 9"/>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24 / 35</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sp>
      <p:sp>
        <p:nvSpPr>
          <p:cNvPr id="3" name="Shape 1"/>
          <p:cNvSpPr/>
          <p:nvPr/>
        </p:nvSpPr>
        <p:spPr>
          <a:xfrm>
            <a:off x="952500" y="876300"/>
            <a:ext cx="3173611" cy="438150"/>
          </a:xfrm>
          <a:prstGeom prst="rect">
            <a:avLst/>
          </a:prstGeom>
          <a:solidFill>
            <a:srgbClr val="45CBE8"/>
          </a:solidFill>
          <a:ln/>
        </p:spPr>
      </p:sp>
      <p:sp>
        <p:nvSpPr>
          <p:cNvPr id="4" name="Text 2"/>
          <p:cNvSpPr/>
          <p:nvPr/>
        </p:nvSpPr>
        <p:spPr>
          <a:xfrm>
            <a:off x="1162050" y="971550"/>
            <a:ext cx="2849719"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KNOWLEDGE CHECK</a:t>
            </a:r>
            <a:endParaRPr lang="en-US" sz="1650" dirty="0"/>
          </a:p>
        </p:txBody>
      </p:sp>
      <p:sp>
        <p:nvSpPr>
          <p:cNvPr id="5" name="Text 3"/>
          <p:cNvSpPr/>
          <p:nvPr/>
        </p:nvSpPr>
        <p:spPr>
          <a:xfrm>
            <a:off x="4316611" y="857250"/>
            <a:ext cx="2241947"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Question 4</a:t>
            </a:r>
            <a:endParaRPr lang="en-US" sz="3300" dirty="0"/>
          </a:p>
        </p:txBody>
      </p:sp>
      <p:sp>
        <p:nvSpPr>
          <p:cNvPr id="6" name="Text 4"/>
          <p:cNvSpPr/>
          <p:nvPr/>
        </p:nvSpPr>
        <p:spPr>
          <a:xfrm>
            <a:off x="952500" y="1600200"/>
            <a:ext cx="15697200"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111827"/>
                </a:solidFill>
                <a:latin typeface="Arial" pitchFamily="34" charset="0"/>
                <a:ea typeface="Arial" pitchFamily="34" charset="-122"/>
                <a:cs typeface="Arial" pitchFamily="34" charset="-120"/>
              </a:rPr>
              <a:t>A patient develops endothelial injury. Which normal endothelial function is most directly impaired?</a:t>
            </a:r>
            <a:endParaRPr lang="en-US" sz="2400" dirty="0"/>
          </a:p>
        </p:txBody>
      </p:sp>
      <p:sp>
        <p:nvSpPr>
          <p:cNvPr id="7" name="Shape 5"/>
          <p:cNvSpPr/>
          <p:nvPr/>
        </p:nvSpPr>
        <p:spPr>
          <a:xfrm>
            <a:off x="952500" y="2369790"/>
            <a:ext cx="8096250" cy="895350"/>
          </a:xfrm>
          <a:prstGeom prst="rect">
            <a:avLst/>
          </a:prstGeom>
          <a:solidFill>
            <a:srgbClr val="F1F8EE"/>
          </a:solidFill>
          <a:ln w="9525">
            <a:solidFill>
              <a:srgbClr val="42955F"/>
            </a:solidFill>
            <a:prstDash val="solid"/>
          </a:ln>
        </p:spPr>
      </p:sp>
      <p:sp>
        <p:nvSpPr>
          <p:cNvPr id="8" name="Shape 6"/>
          <p:cNvSpPr/>
          <p:nvPr/>
        </p:nvSpPr>
        <p:spPr>
          <a:xfrm>
            <a:off x="1209675" y="2588865"/>
            <a:ext cx="457200" cy="457200"/>
          </a:xfrm>
          <a:prstGeom prst="rect">
            <a:avLst/>
          </a:prstGeom>
          <a:solidFill>
            <a:srgbClr val="42955F"/>
          </a:solidFill>
          <a:ln/>
        </p:spPr>
      </p:sp>
      <p:sp>
        <p:nvSpPr>
          <p:cNvPr id="9" name="Text 7"/>
          <p:cNvSpPr/>
          <p:nvPr/>
        </p:nvSpPr>
        <p:spPr>
          <a:xfrm>
            <a:off x="117157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a:t>
            </a:r>
            <a:endParaRPr lang="en-US" sz="1950" dirty="0"/>
          </a:p>
        </p:txBody>
      </p:sp>
      <p:sp>
        <p:nvSpPr>
          <p:cNvPr id="10" name="Text 8"/>
          <p:cNvSpPr/>
          <p:nvPr/>
        </p:nvSpPr>
        <p:spPr>
          <a:xfrm>
            <a:off x="1914525" y="258886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Regulation of vascular tone and clotting</a:t>
            </a:r>
            <a:endParaRPr lang="en-US" sz="1950" dirty="0"/>
          </a:p>
        </p:txBody>
      </p:sp>
      <p:sp>
        <p:nvSpPr>
          <p:cNvPr id="11" name="Shape 9"/>
          <p:cNvSpPr/>
          <p:nvPr/>
        </p:nvSpPr>
        <p:spPr>
          <a:xfrm>
            <a:off x="9239250" y="2369790"/>
            <a:ext cx="8096250" cy="895350"/>
          </a:xfrm>
          <a:prstGeom prst="rect">
            <a:avLst/>
          </a:prstGeom>
          <a:solidFill>
            <a:srgbClr val="FFFFFF"/>
          </a:solidFill>
          <a:ln w="9525">
            <a:solidFill>
              <a:srgbClr val="EBEBEB"/>
            </a:solidFill>
            <a:prstDash val="solid"/>
          </a:ln>
        </p:spPr>
      </p:sp>
      <p:sp>
        <p:nvSpPr>
          <p:cNvPr id="12" name="Shape 10"/>
          <p:cNvSpPr/>
          <p:nvPr/>
        </p:nvSpPr>
        <p:spPr>
          <a:xfrm>
            <a:off x="9496425" y="2588865"/>
            <a:ext cx="457200" cy="457200"/>
          </a:xfrm>
          <a:prstGeom prst="rect">
            <a:avLst/>
          </a:prstGeom>
          <a:solidFill>
            <a:srgbClr val="1A3260"/>
          </a:solidFill>
          <a:ln/>
        </p:spPr>
      </p:sp>
      <p:sp>
        <p:nvSpPr>
          <p:cNvPr id="13" name="Text 11"/>
          <p:cNvSpPr/>
          <p:nvPr/>
        </p:nvSpPr>
        <p:spPr>
          <a:xfrm>
            <a:off x="9458325" y="258886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B</a:t>
            </a:r>
            <a:endParaRPr lang="en-US" sz="1950" dirty="0"/>
          </a:p>
        </p:txBody>
      </p:sp>
      <p:sp>
        <p:nvSpPr>
          <p:cNvPr id="14" name="Text 12"/>
          <p:cNvSpPr/>
          <p:nvPr/>
        </p:nvSpPr>
        <p:spPr>
          <a:xfrm>
            <a:off x="10201275" y="258886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Storage of cholesterol within the vessel wall</a:t>
            </a:r>
            <a:endParaRPr lang="en-US" sz="1950" dirty="0"/>
          </a:p>
        </p:txBody>
      </p:sp>
      <p:sp>
        <p:nvSpPr>
          <p:cNvPr id="15" name="Shape 13"/>
          <p:cNvSpPr/>
          <p:nvPr/>
        </p:nvSpPr>
        <p:spPr>
          <a:xfrm>
            <a:off x="952500" y="3455640"/>
            <a:ext cx="8096250" cy="895350"/>
          </a:xfrm>
          <a:prstGeom prst="rect">
            <a:avLst/>
          </a:prstGeom>
          <a:solidFill>
            <a:srgbClr val="FFFFFF"/>
          </a:solidFill>
          <a:ln w="9525">
            <a:solidFill>
              <a:srgbClr val="EBEBEB"/>
            </a:solidFill>
            <a:prstDash val="solid"/>
          </a:ln>
        </p:spPr>
      </p:sp>
      <p:sp>
        <p:nvSpPr>
          <p:cNvPr id="16" name="Shape 14"/>
          <p:cNvSpPr/>
          <p:nvPr/>
        </p:nvSpPr>
        <p:spPr>
          <a:xfrm>
            <a:off x="1209675" y="3674715"/>
            <a:ext cx="457200" cy="457200"/>
          </a:xfrm>
          <a:prstGeom prst="rect">
            <a:avLst/>
          </a:prstGeom>
          <a:solidFill>
            <a:srgbClr val="1A3260"/>
          </a:solidFill>
          <a:ln/>
        </p:spPr>
      </p:sp>
      <p:sp>
        <p:nvSpPr>
          <p:cNvPr id="17" name="Text 15"/>
          <p:cNvSpPr/>
          <p:nvPr/>
        </p:nvSpPr>
        <p:spPr>
          <a:xfrm>
            <a:off x="1171575" y="367471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C</a:t>
            </a:r>
            <a:endParaRPr lang="en-US" sz="1950" dirty="0"/>
          </a:p>
        </p:txBody>
      </p:sp>
      <p:sp>
        <p:nvSpPr>
          <p:cNvPr id="18" name="Text 16"/>
          <p:cNvSpPr/>
          <p:nvPr/>
        </p:nvSpPr>
        <p:spPr>
          <a:xfrm>
            <a:off x="1914525" y="367471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Production of red blood cells from the lining</a:t>
            </a:r>
            <a:endParaRPr lang="en-US" sz="1950" dirty="0"/>
          </a:p>
        </p:txBody>
      </p:sp>
      <p:sp>
        <p:nvSpPr>
          <p:cNvPr id="19" name="Shape 17"/>
          <p:cNvSpPr/>
          <p:nvPr/>
        </p:nvSpPr>
        <p:spPr>
          <a:xfrm>
            <a:off x="9239250" y="3455640"/>
            <a:ext cx="8096250" cy="895350"/>
          </a:xfrm>
          <a:prstGeom prst="rect">
            <a:avLst/>
          </a:prstGeom>
          <a:solidFill>
            <a:srgbClr val="FFFFFF"/>
          </a:solidFill>
          <a:ln w="9525">
            <a:solidFill>
              <a:srgbClr val="EBEBEB"/>
            </a:solidFill>
            <a:prstDash val="solid"/>
          </a:ln>
        </p:spPr>
      </p:sp>
      <p:sp>
        <p:nvSpPr>
          <p:cNvPr id="20" name="Shape 18"/>
          <p:cNvSpPr/>
          <p:nvPr/>
        </p:nvSpPr>
        <p:spPr>
          <a:xfrm>
            <a:off x="9496425" y="3674715"/>
            <a:ext cx="457200" cy="457200"/>
          </a:xfrm>
          <a:prstGeom prst="rect">
            <a:avLst/>
          </a:prstGeom>
          <a:solidFill>
            <a:srgbClr val="1A3260"/>
          </a:solidFill>
          <a:ln/>
        </p:spPr>
      </p:sp>
      <p:sp>
        <p:nvSpPr>
          <p:cNvPr id="21" name="Text 19"/>
          <p:cNvSpPr/>
          <p:nvPr/>
        </p:nvSpPr>
        <p:spPr>
          <a:xfrm>
            <a:off x="9458325" y="367471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D</a:t>
            </a:r>
            <a:endParaRPr lang="en-US" sz="1950" dirty="0"/>
          </a:p>
        </p:txBody>
      </p:sp>
      <p:sp>
        <p:nvSpPr>
          <p:cNvPr id="22" name="Text 20"/>
          <p:cNvSpPr/>
          <p:nvPr/>
        </p:nvSpPr>
        <p:spPr>
          <a:xfrm>
            <a:off x="10201275" y="367471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Generation of pacemaker electrical impulses</a:t>
            </a:r>
            <a:endParaRPr lang="en-US" sz="1950" dirty="0"/>
          </a:p>
        </p:txBody>
      </p:sp>
      <p:pic>
        <p:nvPicPr>
          <p:cNvPr id="23"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4" name="Text 21"/>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5" name="Text 22"/>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25 / 35</a:t>
            </a:r>
            <a:endParaRPr lang="en-US" sz="1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sp>
      <p:sp>
        <p:nvSpPr>
          <p:cNvPr id="3" name="Shape 1"/>
          <p:cNvSpPr/>
          <p:nvPr/>
        </p:nvSpPr>
        <p:spPr>
          <a:xfrm>
            <a:off x="952500" y="876300"/>
            <a:ext cx="3173611" cy="438150"/>
          </a:xfrm>
          <a:prstGeom prst="rect">
            <a:avLst/>
          </a:prstGeom>
          <a:solidFill>
            <a:srgbClr val="45CBE8"/>
          </a:solidFill>
          <a:ln/>
        </p:spPr>
      </p:sp>
      <p:sp>
        <p:nvSpPr>
          <p:cNvPr id="4" name="Text 2"/>
          <p:cNvSpPr/>
          <p:nvPr/>
        </p:nvSpPr>
        <p:spPr>
          <a:xfrm>
            <a:off x="1162050" y="971550"/>
            <a:ext cx="2849719"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KNOWLEDGE CHECK</a:t>
            </a:r>
            <a:endParaRPr lang="en-US" sz="1650" dirty="0"/>
          </a:p>
        </p:txBody>
      </p:sp>
      <p:sp>
        <p:nvSpPr>
          <p:cNvPr id="5" name="Text 3"/>
          <p:cNvSpPr/>
          <p:nvPr/>
        </p:nvSpPr>
        <p:spPr>
          <a:xfrm>
            <a:off x="4316611" y="857250"/>
            <a:ext cx="2241947"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Question 5</a:t>
            </a:r>
            <a:endParaRPr lang="en-US" sz="3300" dirty="0"/>
          </a:p>
        </p:txBody>
      </p:sp>
      <p:sp>
        <p:nvSpPr>
          <p:cNvPr id="6" name="Text 4"/>
          <p:cNvSpPr/>
          <p:nvPr/>
        </p:nvSpPr>
        <p:spPr>
          <a:xfrm>
            <a:off x="952500" y="1600200"/>
            <a:ext cx="156972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111827"/>
                </a:solidFill>
                <a:latin typeface="Arial" pitchFamily="34" charset="0"/>
                <a:ea typeface="Arial" pitchFamily="34" charset="-122"/>
                <a:cs typeface="Arial" pitchFamily="34" charset="-120"/>
              </a:rPr>
              <a:t>A patient describes chest pressure that occurs predictably when climbing stairs and resolves within five minutes of resting. Which interpretation best matches this pattern?</a:t>
            </a:r>
            <a:endParaRPr lang="en-US" sz="2400" dirty="0"/>
          </a:p>
        </p:txBody>
      </p:sp>
      <p:sp>
        <p:nvSpPr>
          <p:cNvPr id="7" name="Shape 5"/>
          <p:cNvSpPr/>
          <p:nvPr/>
        </p:nvSpPr>
        <p:spPr>
          <a:xfrm>
            <a:off x="952500" y="2796480"/>
            <a:ext cx="8096250" cy="895350"/>
          </a:xfrm>
          <a:prstGeom prst="rect">
            <a:avLst/>
          </a:prstGeom>
          <a:solidFill>
            <a:srgbClr val="F1F8EE"/>
          </a:solidFill>
          <a:ln w="9525">
            <a:solidFill>
              <a:srgbClr val="42955F"/>
            </a:solidFill>
            <a:prstDash val="solid"/>
          </a:ln>
        </p:spPr>
      </p:sp>
      <p:sp>
        <p:nvSpPr>
          <p:cNvPr id="8" name="Shape 6"/>
          <p:cNvSpPr/>
          <p:nvPr/>
        </p:nvSpPr>
        <p:spPr>
          <a:xfrm>
            <a:off x="1209675" y="3015555"/>
            <a:ext cx="457200" cy="457200"/>
          </a:xfrm>
          <a:prstGeom prst="rect">
            <a:avLst/>
          </a:prstGeom>
          <a:solidFill>
            <a:srgbClr val="42955F"/>
          </a:solidFill>
          <a:ln/>
        </p:spPr>
      </p:sp>
      <p:sp>
        <p:nvSpPr>
          <p:cNvPr id="9" name="Text 7"/>
          <p:cNvSpPr/>
          <p:nvPr/>
        </p:nvSpPr>
        <p:spPr>
          <a:xfrm>
            <a:off x="1171575" y="30155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a:t>
            </a:r>
            <a:endParaRPr lang="en-US" sz="1950" dirty="0"/>
          </a:p>
        </p:txBody>
      </p:sp>
      <p:sp>
        <p:nvSpPr>
          <p:cNvPr id="10" name="Text 8"/>
          <p:cNvSpPr/>
          <p:nvPr/>
        </p:nvSpPr>
        <p:spPr>
          <a:xfrm>
            <a:off x="1914525" y="30155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Stable angina with exertional chest pain</a:t>
            </a:r>
            <a:endParaRPr lang="en-US" sz="1950" dirty="0"/>
          </a:p>
        </p:txBody>
      </p:sp>
      <p:sp>
        <p:nvSpPr>
          <p:cNvPr id="11" name="Shape 9"/>
          <p:cNvSpPr/>
          <p:nvPr/>
        </p:nvSpPr>
        <p:spPr>
          <a:xfrm>
            <a:off x="9239250" y="2796480"/>
            <a:ext cx="8096250" cy="895350"/>
          </a:xfrm>
          <a:prstGeom prst="rect">
            <a:avLst/>
          </a:prstGeom>
          <a:solidFill>
            <a:srgbClr val="FFFFFF"/>
          </a:solidFill>
          <a:ln w="9525">
            <a:solidFill>
              <a:srgbClr val="EBEBEB"/>
            </a:solidFill>
            <a:prstDash val="solid"/>
          </a:ln>
        </p:spPr>
      </p:sp>
      <p:sp>
        <p:nvSpPr>
          <p:cNvPr id="12" name="Shape 10"/>
          <p:cNvSpPr/>
          <p:nvPr/>
        </p:nvSpPr>
        <p:spPr>
          <a:xfrm>
            <a:off x="9496425" y="3015555"/>
            <a:ext cx="457200" cy="457200"/>
          </a:xfrm>
          <a:prstGeom prst="rect">
            <a:avLst/>
          </a:prstGeom>
          <a:solidFill>
            <a:srgbClr val="1A3260"/>
          </a:solidFill>
          <a:ln/>
        </p:spPr>
      </p:sp>
      <p:sp>
        <p:nvSpPr>
          <p:cNvPr id="13" name="Text 11"/>
          <p:cNvSpPr/>
          <p:nvPr/>
        </p:nvSpPr>
        <p:spPr>
          <a:xfrm>
            <a:off x="9458325" y="30155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B</a:t>
            </a:r>
            <a:endParaRPr lang="en-US" sz="1950" dirty="0"/>
          </a:p>
        </p:txBody>
      </p:sp>
      <p:sp>
        <p:nvSpPr>
          <p:cNvPr id="14" name="Text 12"/>
          <p:cNvSpPr/>
          <p:nvPr/>
        </p:nvSpPr>
        <p:spPr>
          <a:xfrm>
            <a:off x="10201275" y="30155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Acute pericarditis with pleuritic chest pain</a:t>
            </a:r>
            <a:endParaRPr lang="en-US" sz="1950" dirty="0"/>
          </a:p>
        </p:txBody>
      </p:sp>
      <p:sp>
        <p:nvSpPr>
          <p:cNvPr id="15" name="Shape 13"/>
          <p:cNvSpPr/>
          <p:nvPr/>
        </p:nvSpPr>
        <p:spPr>
          <a:xfrm>
            <a:off x="952500" y="3882330"/>
            <a:ext cx="8096250" cy="895350"/>
          </a:xfrm>
          <a:prstGeom prst="rect">
            <a:avLst/>
          </a:prstGeom>
          <a:solidFill>
            <a:srgbClr val="FFFFFF"/>
          </a:solidFill>
          <a:ln w="9525">
            <a:solidFill>
              <a:srgbClr val="EBEBEB"/>
            </a:solidFill>
            <a:prstDash val="solid"/>
          </a:ln>
        </p:spPr>
      </p:sp>
      <p:sp>
        <p:nvSpPr>
          <p:cNvPr id="16" name="Shape 14"/>
          <p:cNvSpPr/>
          <p:nvPr/>
        </p:nvSpPr>
        <p:spPr>
          <a:xfrm>
            <a:off x="1209675" y="4101405"/>
            <a:ext cx="457200" cy="457200"/>
          </a:xfrm>
          <a:prstGeom prst="rect">
            <a:avLst/>
          </a:prstGeom>
          <a:solidFill>
            <a:srgbClr val="1A3260"/>
          </a:solidFill>
          <a:ln/>
        </p:spPr>
      </p:sp>
      <p:sp>
        <p:nvSpPr>
          <p:cNvPr id="17" name="Text 15"/>
          <p:cNvSpPr/>
          <p:nvPr/>
        </p:nvSpPr>
        <p:spPr>
          <a:xfrm>
            <a:off x="1171575" y="410140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C</a:t>
            </a:r>
            <a:endParaRPr lang="en-US" sz="1950" dirty="0"/>
          </a:p>
        </p:txBody>
      </p:sp>
      <p:sp>
        <p:nvSpPr>
          <p:cNvPr id="18" name="Text 16"/>
          <p:cNvSpPr/>
          <p:nvPr/>
        </p:nvSpPr>
        <p:spPr>
          <a:xfrm>
            <a:off x="1914525" y="410140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Myocardial infarction with prolonged chest pain</a:t>
            </a:r>
            <a:endParaRPr lang="en-US" sz="1950" dirty="0"/>
          </a:p>
        </p:txBody>
      </p:sp>
      <p:sp>
        <p:nvSpPr>
          <p:cNvPr id="19" name="Shape 17"/>
          <p:cNvSpPr/>
          <p:nvPr/>
        </p:nvSpPr>
        <p:spPr>
          <a:xfrm>
            <a:off x="9239250" y="3882330"/>
            <a:ext cx="8096250" cy="895350"/>
          </a:xfrm>
          <a:prstGeom prst="rect">
            <a:avLst/>
          </a:prstGeom>
          <a:solidFill>
            <a:srgbClr val="FFFFFF"/>
          </a:solidFill>
          <a:ln w="9525">
            <a:solidFill>
              <a:srgbClr val="EBEBEB"/>
            </a:solidFill>
            <a:prstDash val="solid"/>
          </a:ln>
        </p:spPr>
      </p:sp>
      <p:sp>
        <p:nvSpPr>
          <p:cNvPr id="20" name="Shape 18"/>
          <p:cNvSpPr/>
          <p:nvPr/>
        </p:nvSpPr>
        <p:spPr>
          <a:xfrm>
            <a:off x="9496425" y="4101405"/>
            <a:ext cx="457200" cy="457200"/>
          </a:xfrm>
          <a:prstGeom prst="rect">
            <a:avLst/>
          </a:prstGeom>
          <a:solidFill>
            <a:srgbClr val="1A3260"/>
          </a:solidFill>
          <a:ln/>
        </p:spPr>
      </p:sp>
      <p:sp>
        <p:nvSpPr>
          <p:cNvPr id="21" name="Text 19"/>
          <p:cNvSpPr/>
          <p:nvPr/>
        </p:nvSpPr>
        <p:spPr>
          <a:xfrm>
            <a:off x="9458325" y="410140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D</a:t>
            </a:r>
            <a:endParaRPr lang="en-US" sz="1950" dirty="0"/>
          </a:p>
        </p:txBody>
      </p:sp>
      <p:sp>
        <p:nvSpPr>
          <p:cNvPr id="22" name="Text 20"/>
          <p:cNvSpPr/>
          <p:nvPr/>
        </p:nvSpPr>
        <p:spPr>
          <a:xfrm>
            <a:off x="10201275" y="410140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Aortic stenosis with exertional chest pain</a:t>
            </a:r>
            <a:endParaRPr lang="en-US" sz="1950" dirty="0"/>
          </a:p>
        </p:txBody>
      </p:sp>
      <p:pic>
        <p:nvPicPr>
          <p:cNvPr id="23"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4" name="Text 21"/>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5" name="Text 22"/>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26 / 35</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sp>
      <p:sp>
        <p:nvSpPr>
          <p:cNvPr id="3" name="Shape 1"/>
          <p:cNvSpPr/>
          <p:nvPr/>
        </p:nvSpPr>
        <p:spPr>
          <a:xfrm>
            <a:off x="952500" y="876300"/>
            <a:ext cx="6876901" cy="438150"/>
          </a:xfrm>
          <a:prstGeom prst="rect">
            <a:avLst/>
          </a:prstGeom>
          <a:solidFill>
            <a:srgbClr val="45CBE8"/>
          </a:solidFill>
          <a:ln/>
        </p:spPr>
      </p:sp>
      <p:sp>
        <p:nvSpPr>
          <p:cNvPr id="4" name="Text 2"/>
          <p:cNvSpPr/>
          <p:nvPr/>
        </p:nvSpPr>
        <p:spPr>
          <a:xfrm>
            <a:off x="1162050" y="971550"/>
            <a:ext cx="6664108"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KNOWLEDGE CHECK · SELECT ALL THAT APPLY</a:t>
            </a:r>
            <a:endParaRPr lang="en-US" sz="1650" dirty="0"/>
          </a:p>
        </p:txBody>
      </p:sp>
      <p:sp>
        <p:nvSpPr>
          <p:cNvPr id="5" name="Text 3"/>
          <p:cNvSpPr/>
          <p:nvPr/>
        </p:nvSpPr>
        <p:spPr>
          <a:xfrm>
            <a:off x="8019901" y="857250"/>
            <a:ext cx="2241947"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Question 6</a:t>
            </a:r>
            <a:endParaRPr lang="en-US" sz="3300" dirty="0"/>
          </a:p>
        </p:txBody>
      </p:sp>
      <p:sp>
        <p:nvSpPr>
          <p:cNvPr id="6" name="Text 4"/>
          <p:cNvSpPr/>
          <p:nvPr/>
        </p:nvSpPr>
        <p:spPr>
          <a:xfrm>
            <a:off x="952500" y="1600200"/>
            <a:ext cx="156972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111827"/>
                </a:solidFill>
                <a:latin typeface="Arial" pitchFamily="34" charset="0"/>
                <a:ea typeface="Arial" pitchFamily="34" charset="-122"/>
                <a:cs typeface="Arial" pitchFamily="34" charset="-120"/>
              </a:rPr>
              <a:t>A 61-year-old patient with elevated LDL, A1c 8.4%, BMI 33, occasional smoking, sedentary lifestyle, and a family history of CAD asks which factors she can address. Which findings are modifiable contributors?</a:t>
            </a:r>
            <a:endParaRPr lang="en-US" sz="2400" dirty="0"/>
          </a:p>
        </p:txBody>
      </p:sp>
      <p:sp>
        <p:nvSpPr>
          <p:cNvPr id="7" name="Shape 5"/>
          <p:cNvSpPr/>
          <p:nvPr/>
        </p:nvSpPr>
        <p:spPr>
          <a:xfrm>
            <a:off x="952500" y="2796480"/>
            <a:ext cx="8096250" cy="895350"/>
          </a:xfrm>
          <a:prstGeom prst="rect">
            <a:avLst/>
          </a:prstGeom>
          <a:solidFill>
            <a:srgbClr val="F1F8EE"/>
          </a:solidFill>
          <a:ln w="9525">
            <a:solidFill>
              <a:srgbClr val="42955F"/>
            </a:solidFill>
            <a:prstDash val="solid"/>
          </a:ln>
        </p:spPr>
      </p:sp>
      <p:sp>
        <p:nvSpPr>
          <p:cNvPr id="8" name="Shape 6"/>
          <p:cNvSpPr/>
          <p:nvPr/>
        </p:nvSpPr>
        <p:spPr>
          <a:xfrm>
            <a:off x="1209675" y="3015555"/>
            <a:ext cx="457200" cy="457200"/>
          </a:xfrm>
          <a:prstGeom prst="rect">
            <a:avLst/>
          </a:prstGeom>
          <a:solidFill>
            <a:srgbClr val="42955F"/>
          </a:solidFill>
          <a:ln/>
        </p:spPr>
      </p:sp>
      <p:sp>
        <p:nvSpPr>
          <p:cNvPr id="9" name="Text 7"/>
          <p:cNvSpPr/>
          <p:nvPr/>
        </p:nvSpPr>
        <p:spPr>
          <a:xfrm>
            <a:off x="1171575" y="30155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a:t>
            </a:r>
            <a:endParaRPr lang="en-US" sz="1950" dirty="0"/>
          </a:p>
        </p:txBody>
      </p:sp>
      <p:sp>
        <p:nvSpPr>
          <p:cNvPr id="10" name="Text 8"/>
          <p:cNvSpPr/>
          <p:nvPr/>
        </p:nvSpPr>
        <p:spPr>
          <a:xfrm>
            <a:off x="1914525" y="30155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LDL level of 168 mg/dL</a:t>
            </a:r>
            <a:endParaRPr lang="en-US" sz="1950" dirty="0"/>
          </a:p>
        </p:txBody>
      </p:sp>
      <p:sp>
        <p:nvSpPr>
          <p:cNvPr id="11" name="Shape 9"/>
          <p:cNvSpPr/>
          <p:nvPr/>
        </p:nvSpPr>
        <p:spPr>
          <a:xfrm>
            <a:off x="9239250" y="2796480"/>
            <a:ext cx="8096250" cy="895350"/>
          </a:xfrm>
          <a:prstGeom prst="rect">
            <a:avLst/>
          </a:prstGeom>
          <a:solidFill>
            <a:srgbClr val="FFFFFF"/>
          </a:solidFill>
          <a:ln w="9525">
            <a:solidFill>
              <a:srgbClr val="EBEBEB"/>
            </a:solidFill>
            <a:prstDash val="solid"/>
          </a:ln>
        </p:spPr>
      </p:sp>
      <p:sp>
        <p:nvSpPr>
          <p:cNvPr id="12" name="Shape 10"/>
          <p:cNvSpPr/>
          <p:nvPr/>
        </p:nvSpPr>
        <p:spPr>
          <a:xfrm>
            <a:off x="9496425" y="3015555"/>
            <a:ext cx="457200" cy="457200"/>
          </a:xfrm>
          <a:prstGeom prst="rect">
            <a:avLst/>
          </a:prstGeom>
          <a:solidFill>
            <a:srgbClr val="1A3260"/>
          </a:solidFill>
          <a:ln/>
        </p:spPr>
      </p:sp>
      <p:sp>
        <p:nvSpPr>
          <p:cNvPr id="13" name="Text 11"/>
          <p:cNvSpPr/>
          <p:nvPr/>
        </p:nvSpPr>
        <p:spPr>
          <a:xfrm>
            <a:off x="9458325" y="30155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B</a:t>
            </a:r>
            <a:endParaRPr lang="en-US" sz="1950" dirty="0"/>
          </a:p>
        </p:txBody>
      </p:sp>
      <p:sp>
        <p:nvSpPr>
          <p:cNvPr id="14" name="Text 12"/>
          <p:cNvSpPr/>
          <p:nvPr/>
        </p:nvSpPr>
        <p:spPr>
          <a:xfrm>
            <a:off x="10201275" y="30155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Family history of coronary disease</a:t>
            </a:r>
            <a:endParaRPr lang="en-US" sz="1950" dirty="0"/>
          </a:p>
        </p:txBody>
      </p:sp>
      <p:sp>
        <p:nvSpPr>
          <p:cNvPr id="15" name="Shape 13"/>
          <p:cNvSpPr/>
          <p:nvPr/>
        </p:nvSpPr>
        <p:spPr>
          <a:xfrm>
            <a:off x="952500" y="3882330"/>
            <a:ext cx="8096250" cy="895350"/>
          </a:xfrm>
          <a:prstGeom prst="rect">
            <a:avLst/>
          </a:prstGeom>
          <a:solidFill>
            <a:srgbClr val="F1F8EE"/>
          </a:solidFill>
          <a:ln w="9525">
            <a:solidFill>
              <a:srgbClr val="42955F"/>
            </a:solidFill>
            <a:prstDash val="solid"/>
          </a:ln>
        </p:spPr>
      </p:sp>
      <p:sp>
        <p:nvSpPr>
          <p:cNvPr id="16" name="Shape 14"/>
          <p:cNvSpPr/>
          <p:nvPr/>
        </p:nvSpPr>
        <p:spPr>
          <a:xfrm>
            <a:off x="1209675" y="4101405"/>
            <a:ext cx="457200" cy="457200"/>
          </a:xfrm>
          <a:prstGeom prst="rect">
            <a:avLst/>
          </a:prstGeom>
          <a:solidFill>
            <a:srgbClr val="42955F"/>
          </a:solidFill>
          <a:ln/>
        </p:spPr>
      </p:sp>
      <p:sp>
        <p:nvSpPr>
          <p:cNvPr id="17" name="Text 15"/>
          <p:cNvSpPr/>
          <p:nvPr/>
        </p:nvSpPr>
        <p:spPr>
          <a:xfrm>
            <a:off x="1171575" y="410140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C</a:t>
            </a:r>
            <a:endParaRPr lang="en-US" sz="1950" dirty="0"/>
          </a:p>
        </p:txBody>
      </p:sp>
      <p:sp>
        <p:nvSpPr>
          <p:cNvPr id="18" name="Text 16"/>
          <p:cNvSpPr/>
          <p:nvPr/>
        </p:nvSpPr>
        <p:spPr>
          <a:xfrm>
            <a:off x="1914525" y="410140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Hemoglobin A1c of 8.4%</a:t>
            </a:r>
            <a:endParaRPr lang="en-US" sz="1950" dirty="0"/>
          </a:p>
        </p:txBody>
      </p:sp>
      <p:sp>
        <p:nvSpPr>
          <p:cNvPr id="19" name="Shape 17"/>
          <p:cNvSpPr/>
          <p:nvPr/>
        </p:nvSpPr>
        <p:spPr>
          <a:xfrm>
            <a:off x="9239250" y="3882330"/>
            <a:ext cx="8096250" cy="895350"/>
          </a:xfrm>
          <a:prstGeom prst="rect">
            <a:avLst/>
          </a:prstGeom>
          <a:solidFill>
            <a:srgbClr val="F1F8EE"/>
          </a:solidFill>
          <a:ln w="9525">
            <a:solidFill>
              <a:srgbClr val="42955F"/>
            </a:solidFill>
            <a:prstDash val="solid"/>
          </a:ln>
        </p:spPr>
      </p:sp>
      <p:sp>
        <p:nvSpPr>
          <p:cNvPr id="20" name="Shape 18"/>
          <p:cNvSpPr/>
          <p:nvPr/>
        </p:nvSpPr>
        <p:spPr>
          <a:xfrm>
            <a:off x="9496425" y="4101405"/>
            <a:ext cx="457200" cy="457200"/>
          </a:xfrm>
          <a:prstGeom prst="rect">
            <a:avLst/>
          </a:prstGeom>
          <a:solidFill>
            <a:srgbClr val="42955F"/>
          </a:solidFill>
          <a:ln/>
        </p:spPr>
      </p:sp>
      <p:sp>
        <p:nvSpPr>
          <p:cNvPr id="21" name="Text 19"/>
          <p:cNvSpPr/>
          <p:nvPr/>
        </p:nvSpPr>
        <p:spPr>
          <a:xfrm>
            <a:off x="9458325" y="410140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D</a:t>
            </a:r>
            <a:endParaRPr lang="en-US" sz="1950" dirty="0"/>
          </a:p>
        </p:txBody>
      </p:sp>
      <p:sp>
        <p:nvSpPr>
          <p:cNvPr id="22" name="Text 20"/>
          <p:cNvSpPr/>
          <p:nvPr/>
        </p:nvSpPr>
        <p:spPr>
          <a:xfrm>
            <a:off x="10201275" y="410140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Sedentary routine after retirement</a:t>
            </a:r>
            <a:endParaRPr lang="en-US" sz="1950" dirty="0"/>
          </a:p>
        </p:txBody>
      </p:sp>
      <p:sp>
        <p:nvSpPr>
          <p:cNvPr id="23" name="Shape 21"/>
          <p:cNvSpPr/>
          <p:nvPr/>
        </p:nvSpPr>
        <p:spPr>
          <a:xfrm>
            <a:off x="952500" y="4968180"/>
            <a:ext cx="8096250" cy="895350"/>
          </a:xfrm>
          <a:prstGeom prst="rect">
            <a:avLst/>
          </a:prstGeom>
          <a:solidFill>
            <a:srgbClr val="F1F8EE"/>
          </a:solidFill>
          <a:ln w="9525">
            <a:solidFill>
              <a:srgbClr val="42955F"/>
            </a:solidFill>
            <a:prstDash val="solid"/>
          </a:ln>
        </p:spPr>
      </p:sp>
      <p:sp>
        <p:nvSpPr>
          <p:cNvPr id="24" name="Shape 22"/>
          <p:cNvSpPr/>
          <p:nvPr/>
        </p:nvSpPr>
        <p:spPr>
          <a:xfrm>
            <a:off x="1209675" y="5187255"/>
            <a:ext cx="457200" cy="457200"/>
          </a:xfrm>
          <a:prstGeom prst="rect">
            <a:avLst/>
          </a:prstGeom>
          <a:solidFill>
            <a:srgbClr val="42955F"/>
          </a:solidFill>
          <a:ln/>
        </p:spPr>
      </p:sp>
      <p:sp>
        <p:nvSpPr>
          <p:cNvPr id="25" name="Text 23"/>
          <p:cNvSpPr/>
          <p:nvPr/>
        </p:nvSpPr>
        <p:spPr>
          <a:xfrm>
            <a:off x="1171575" y="51872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E</a:t>
            </a:r>
            <a:endParaRPr lang="en-US" sz="1950" dirty="0"/>
          </a:p>
        </p:txBody>
      </p:sp>
      <p:sp>
        <p:nvSpPr>
          <p:cNvPr id="26" name="Text 24"/>
          <p:cNvSpPr/>
          <p:nvPr/>
        </p:nvSpPr>
        <p:spPr>
          <a:xfrm>
            <a:off x="1914525" y="51872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Cigarette use during stressful days</a:t>
            </a:r>
            <a:endParaRPr lang="en-US" sz="1950" dirty="0"/>
          </a:p>
        </p:txBody>
      </p:sp>
      <p:pic>
        <p:nvPicPr>
          <p:cNvPr id="27"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8" name="Text 25"/>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9" name="Text 26"/>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27 / 35</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6445C"/>
          </a:solidFill>
          <a:ln/>
        </p:spPr>
      </p:sp>
      <p:sp>
        <p:nvSpPr>
          <p:cNvPr id="3" name="Text 1"/>
          <p:cNvSpPr/>
          <p:nvPr/>
        </p:nvSpPr>
        <p:spPr>
          <a:xfrm>
            <a:off x="952500" y="1985963"/>
            <a:ext cx="16874490" cy="1371600"/>
          </a:xfrm>
          <a:prstGeom prst="rect">
            <a:avLst/>
          </a:prstGeom>
          <a:noFill/>
          <a:ln/>
        </p:spPr>
        <p:txBody>
          <a:bodyPr wrap="square" lIns="25400" tIns="25400" rIns="25400" bIns="25400" rtlCol="0" anchor="t">
            <a:normAutofit/>
          </a:bodyPr>
          <a:lstStyle/>
          <a:p>
            <a:pPr algn="l" indent="0" marL="0">
              <a:lnSpc>
                <a:spcPct val="70000"/>
              </a:lnSpc>
              <a:buNone/>
            </a:pPr>
            <a:r>
              <a:rPr lang="en-US" sz="15000" dirty="0">
                <a:solidFill>
                  <a:srgbClr val="45CBE8"/>
                </a:solidFill>
                <a:latin typeface="Georgia" pitchFamily="34" charset="0"/>
                <a:ea typeface="Georgia" pitchFamily="34" charset="-122"/>
                <a:cs typeface="Georgia" pitchFamily="34" charset="-120"/>
              </a:rPr>
              <a:t>“</a:t>
            </a:r>
            <a:endParaRPr lang="en-US" sz="15000" dirty="0"/>
          </a:p>
        </p:txBody>
      </p:sp>
      <p:sp>
        <p:nvSpPr>
          <p:cNvPr id="4" name="Text 2"/>
          <p:cNvSpPr/>
          <p:nvPr/>
        </p:nvSpPr>
        <p:spPr>
          <a:xfrm>
            <a:off x="952500" y="3548063"/>
            <a:ext cx="14716125" cy="4038600"/>
          </a:xfrm>
          <a:prstGeom prst="rect">
            <a:avLst/>
          </a:prstGeom>
          <a:noFill/>
          <a:ln/>
        </p:spPr>
        <p:txBody>
          <a:bodyPr wrap="square" lIns="25400" tIns="25400" rIns="25400" bIns="25400" rtlCol="0" anchor="t">
            <a:normAutofit/>
          </a:bodyPr>
          <a:lstStyle/>
          <a:p>
            <a:pPr algn="l" indent="0" marL="0">
              <a:lnSpc>
                <a:spcPct val="125000"/>
              </a:lnSpc>
              <a:buNone/>
            </a:pPr>
            <a:r>
              <a:rPr lang="en-US" sz="4200" dirty="0">
                <a:solidFill>
                  <a:srgbClr val="FFFFFF"/>
                </a:solidFill>
                <a:latin typeface="Arial" pitchFamily="34" charset="0"/>
                <a:ea typeface="Arial" pitchFamily="34" charset="-122"/>
                <a:cs typeface="Arial" pitchFamily="34" charset="-120"/>
              </a:rPr>
              <a:t>Acute pericarditis can mimic a heart attack — but the assessment story is different. Pick one element of the classic triad (the pain quality, the friction rub, or the ECG pattern) and trace it back to the inflamed pericardial layers. How does that mechanism guide your nursing assessment, positioning, and patient teaching?</a:t>
            </a:r>
            <a:endParaRPr lang="en-US" sz="4200" dirty="0"/>
          </a:p>
        </p:txBody>
      </p:sp>
      <p:sp>
        <p:nvSpPr>
          <p:cNvPr id="5" name="Text 3"/>
          <p:cNvSpPr/>
          <p:nvPr/>
        </p:nvSpPr>
        <p:spPr>
          <a:xfrm>
            <a:off x="952500" y="8005763"/>
            <a:ext cx="16874490" cy="333375"/>
          </a:xfrm>
          <a:prstGeom prst="rect">
            <a:avLst/>
          </a:prstGeom>
          <a:noFill/>
          <a:ln/>
        </p:spPr>
        <p:txBody>
          <a:bodyPr wrap="square" lIns="25400" tIns="25400" rIns="25400" bIns="25400" rtlCol="0" anchor="t">
            <a:normAutofit/>
          </a:bodyPr>
          <a:lstStyle/>
          <a:p>
            <a:pPr algn="l" indent="0" marL="0">
              <a:buNone/>
            </a:pPr>
            <a:r>
              <a:rPr lang="en-US" sz="1950" b="1" spc="351" kern="0" dirty="0">
                <a:solidFill>
                  <a:srgbClr val="45CBE8"/>
                </a:solidFill>
                <a:latin typeface="Arial" pitchFamily="34" charset="0"/>
                <a:ea typeface="Arial" pitchFamily="34" charset="-122"/>
                <a:cs typeface="Arial" pitchFamily="34" charset="-120"/>
              </a:rPr>
              <a:t>DISCUSSION PROMPT — WEEK 9</a:t>
            </a:r>
            <a:endParaRPr lang="en-US" sz="1950" dirty="0"/>
          </a:p>
        </p:txBody>
      </p:sp>
      <p:pic>
        <p:nvPicPr>
          <p:cNvPr id="6"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7" name="Text 4"/>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FFFFFF"/>
                </a:solidFill>
                <a:latin typeface="Arial" pitchFamily="34" charset="0"/>
                <a:ea typeface="Arial" pitchFamily="34" charset="-122"/>
                <a:cs typeface="Arial" pitchFamily="34" charset="-120"/>
              </a:rPr>
              <a:t>SCI225 · WEEK 9</a:t>
            </a:r>
            <a:endParaRPr lang="en-US" sz="1650" dirty="0"/>
          </a:p>
        </p:txBody>
      </p:sp>
      <p:sp>
        <p:nvSpPr>
          <p:cNvPr id="8" name="Text 5"/>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FFFFFF">
                    <a:alpha val="55000"/>
                  </a:srgbClr>
                </a:solidFill>
                <a:latin typeface="Arial" pitchFamily="34" charset="0"/>
                <a:ea typeface="Arial" pitchFamily="34" charset="-122"/>
                <a:cs typeface="Arial" pitchFamily="34" charset="-120"/>
              </a:rPr>
              <a:t>28 / 35</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SECTION · CLINICAL CARE</a:t>
            </a:r>
            <a:endParaRPr lang="en-US" sz="1650" dirty="0"/>
          </a:p>
        </p:txBody>
      </p:sp>
      <p:sp>
        <p:nvSpPr>
          <p:cNvPr id="3" name="Text 1"/>
          <p:cNvSpPr/>
          <p:nvPr/>
        </p:nvSpPr>
        <p:spPr>
          <a:xfrm>
            <a:off x="952500" y="1257300"/>
            <a:ext cx="16874490" cy="866775"/>
          </a:xfrm>
          <a:prstGeom prst="rect">
            <a:avLst/>
          </a:prstGeom>
          <a:noFill/>
          <a:ln/>
        </p:spPr>
        <p:txBody>
          <a:bodyPr wrap="square" lIns="25400" tIns="25400" rIns="25400" bIns="25400" rtlCol="0" anchor="t">
            <a:normAutofit/>
          </a:bodyPr>
          <a:lstStyle/>
          <a:p>
            <a:pPr algn="l" indent="0" marL="0">
              <a:buNone/>
            </a:pPr>
            <a:r>
              <a:rPr lang="en-US" sz="5700" b="1" spc="-57" kern="0" dirty="0">
                <a:solidFill>
                  <a:srgbClr val="1A3260"/>
                </a:solidFill>
                <a:latin typeface="Arial" pitchFamily="34" charset="0"/>
                <a:ea typeface="Arial" pitchFamily="34" charset="-122"/>
                <a:cs typeface="Arial" pitchFamily="34" charset="-120"/>
              </a:rPr>
              <a:t>Section objective</a:t>
            </a:r>
            <a:endParaRPr lang="en-US" sz="5700" dirty="0"/>
          </a:p>
        </p:txBody>
      </p:sp>
      <p:sp>
        <p:nvSpPr>
          <p:cNvPr id="4" name="Shape 2"/>
          <p:cNvSpPr/>
          <p:nvPr/>
        </p:nvSpPr>
        <p:spPr>
          <a:xfrm>
            <a:off x="952500" y="3819525"/>
            <a:ext cx="16383000" cy="9525"/>
          </a:xfrm>
          <a:prstGeom prst="rect">
            <a:avLst/>
          </a:prstGeom>
          <a:solidFill>
            <a:srgbClr val="EBEBEB"/>
          </a:solidFill>
          <a:ln/>
        </p:spPr>
      </p:sp>
      <p:sp>
        <p:nvSpPr>
          <p:cNvPr id="5" name="Shape 3"/>
          <p:cNvSpPr/>
          <p:nvPr/>
        </p:nvSpPr>
        <p:spPr>
          <a:xfrm>
            <a:off x="952500" y="2733675"/>
            <a:ext cx="723900" cy="723900"/>
          </a:xfrm>
          <a:prstGeom prst="rect">
            <a:avLst/>
          </a:prstGeom>
          <a:solidFill>
            <a:srgbClr val="1A3260"/>
          </a:solidFill>
          <a:ln/>
        </p:spPr>
      </p:sp>
      <p:sp>
        <p:nvSpPr>
          <p:cNvPr id="6" name="Text 4"/>
          <p:cNvSpPr/>
          <p:nvPr/>
        </p:nvSpPr>
        <p:spPr>
          <a:xfrm>
            <a:off x="914400" y="2733675"/>
            <a:ext cx="800100" cy="762000"/>
          </a:xfrm>
          <a:prstGeom prst="rect">
            <a:avLst/>
          </a:prstGeom>
          <a:noFill/>
          <a:ln/>
        </p:spPr>
        <p:txBody>
          <a:bodyPr wrap="square" lIns="25400" tIns="25400" rIns="25400" bIns="25400" rtlCol="0" anchor="ctr">
            <a:normAutofit/>
          </a:bodyPr>
          <a:lstStyle/>
          <a:p>
            <a:pPr algn="ctr" indent="0" marL="0">
              <a:buNone/>
            </a:pPr>
            <a:r>
              <a:rPr lang="en-US" sz="2700" b="1" dirty="0">
                <a:solidFill>
                  <a:srgbClr val="FFFFFF"/>
                </a:solidFill>
                <a:latin typeface="Arial" pitchFamily="34" charset="0"/>
                <a:ea typeface="Arial" pitchFamily="34" charset="-122"/>
                <a:cs typeface="Arial" pitchFamily="34" charset="-120"/>
              </a:rPr>
              <a:t>3</a:t>
            </a:r>
            <a:endParaRPr lang="en-US" sz="2700" dirty="0"/>
          </a:p>
        </p:txBody>
      </p:sp>
      <p:sp>
        <p:nvSpPr>
          <p:cNvPr id="7" name="Text 5"/>
          <p:cNvSpPr/>
          <p:nvPr/>
        </p:nvSpPr>
        <p:spPr>
          <a:xfrm>
            <a:off x="2133600" y="2867025"/>
            <a:ext cx="15657957"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111827"/>
                </a:solidFill>
                <a:latin typeface="Arial" pitchFamily="34" charset="0"/>
                <a:ea typeface="Arial" pitchFamily="34" charset="-122"/>
                <a:cs typeface="Arial" pitchFamily="34" charset="-120"/>
              </a:rPr>
              <a:t>Discuss the clinical manifestations and nursing management of cardiovascular disorders — MI, heart failure, pericarditis, and hypertension.</a:t>
            </a:r>
            <a:endParaRPr lang="en-US" sz="2250" dirty="0"/>
          </a:p>
        </p:txBody>
      </p:sp>
      <p:pic>
        <p:nvPicPr>
          <p:cNvPr id="8"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9" name="Text 6"/>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0" name="Text 7"/>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29 / 35</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ACUTE CARE</a:t>
            </a:r>
            <a:endParaRPr lang="en-US" sz="1650" dirty="0"/>
          </a:p>
        </p:txBody>
      </p:sp>
      <p:sp>
        <p:nvSpPr>
          <p:cNvPr id="3" name="Text 1"/>
          <p:cNvSpPr/>
          <p:nvPr/>
        </p:nvSpPr>
        <p:spPr>
          <a:xfrm>
            <a:off x="952500" y="1257300"/>
            <a:ext cx="16874490" cy="1122015"/>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MI management — time is muscle</a:t>
            </a:r>
            <a:endParaRPr lang="en-US" sz="5700" dirty="0"/>
          </a:p>
        </p:txBody>
      </p:sp>
      <p:sp>
        <p:nvSpPr>
          <p:cNvPr id="4" name="Text 2"/>
          <p:cNvSpPr/>
          <p:nvPr/>
        </p:nvSpPr>
        <p:spPr>
          <a:xfrm>
            <a:off x="1295400" y="2836515"/>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Initial bundle (MONA-B):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Morphine for pain · Oxygen if SpO₂ &lt; 90% · Nitroglycerin for ischemic pain · Aspirin 162–325 mg chewed · Beta-blocker if hemodynamically stable.</a:t>
            </a:r>
            <a:endParaRPr lang="en-US" sz="2550" dirty="0"/>
          </a:p>
        </p:txBody>
      </p:sp>
      <p:sp>
        <p:nvSpPr>
          <p:cNvPr id="5" name="Text 3"/>
          <p:cNvSpPr/>
          <p:nvPr/>
        </p:nvSpPr>
        <p:spPr>
          <a:xfrm>
            <a:off x="1295400" y="3952726"/>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Reperfusion: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primary PCI within 90 min for STEMI; fibrinolytics if PCI unavailable within 120 min.</a:t>
            </a:r>
            <a:endParaRPr lang="en-US" sz="2550" dirty="0"/>
          </a:p>
        </p:txBody>
      </p:sp>
      <p:sp>
        <p:nvSpPr>
          <p:cNvPr id="6" name="Text 4"/>
          <p:cNvSpPr/>
          <p:nvPr/>
        </p:nvSpPr>
        <p:spPr>
          <a:xfrm>
            <a:off x="1295400" y="5068937"/>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Antiplatelet &amp; anticoagulation: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aspirin + P2Y12 inhibitor (clopidogrel, ticagrelor) + heparin.</a:t>
            </a:r>
            <a:endParaRPr lang="en-US" sz="2550" dirty="0"/>
          </a:p>
        </p:txBody>
      </p:sp>
      <p:sp>
        <p:nvSpPr>
          <p:cNvPr id="7" name="Text 5"/>
          <p:cNvSpPr/>
          <p:nvPr/>
        </p:nvSpPr>
        <p:spPr>
          <a:xfrm>
            <a:off x="1295400" y="5731818"/>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Trend troponin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at 0, 3, 6 hr to confirm pattern; serial ECGs for evolution.</a:t>
            </a:r>
            <a:endParaRPr lang="en-US" sz="2550" dirty="0"/>
          </a:p>
        </p:txBody>
      </p:sp>
      <p:sp>
        <p:nvSpPr>
          <p:cNvPr id="8" name="Text 6"/>
          <p:cNvSpPr/>
          <p:nvPr/>
        </p:nvSpPr>
        <p:spPr>
          <a:xfrm>
            <a:off x="1295400" y="6394698"/>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Secondary prevention: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statin, ACEi/ARB, beta-blocker, cardiac rehab, lifestyle counseling.</a:t>
            </a:r>
            <a:endParaRPr lang="en-US" sz="2550" dirty="0"/>
          </a:p>
        </p:txBody>
      </p:sp>
      <p:pic>
        <p:nvPicPr>
          <p:cNvPr id="9"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0" name="Text 7"/>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1" name="Text 8"/>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30 / 35</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THREE LEVERS</a:t>
            </a:r>
            <a:endParaRPr lang="en-US" sz="1650" dirty="0"/>
          </a:p>
        </p:txBody>
      </p:sp>
      <p:sp>
        <p:nvSpPr>
          <p:cNvPr id="3" name="Text 1"/>
          <p:cNvSpPr/>
          <p:nvPr/>
        </p:nvSpPr>
        <p:spPr>
          <a:xfrm>
            <a:off x="952500" y="1257300"/>
            <a:ext cx="16874490" cy="1122015"/>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Heart failure management</a:t>
            </a:r>
            <a:endParaRPr lang="en-US" sz="5700" dirty="0"/>
          </a:p>
        </p:txBody>
      </p:sp>
      <p:sp>
        <p:nvSpPr>
          <p:cNvPr id="4" name="Text 2"/>
          <p:cNvSpPr/>
          <p:nvPr/>
        </p:nvSpPr>
        <p:spPr>
          <a:xfrm>
            <a:off x="1295400" y="2836515"/>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Reduce preload: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diuretics (loop — furosemide), nitrates, fluid &amp; sodium restriction. Daily weights are critical nursing data.</a:t>
            </a:r>
            <a:endParaRPr lang="en-US" sz="2550" dirty="0"/>
          </a:p>
        </p:txBody>
      </p:sp>
      <p:sp>
        <p:nvSpPr>
          <p:cNvPr id="5" name="Text 3"/>
          <p:cNvSpPr/>
          <p:nvPr/>
        </p:nvSpPr>
        <p:spPr>
          <a:xfrm>
            <a:off x="1295400" y="3952726"/>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Reduce afterload: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ACE inhibitors / ARBs / ARNIs (sacubitril-valsartan) — improve survival.</a:t>
            </a:r>
            <a:endParaRPr lang="en-US" sz="2550" dirty="0"/>
          </a:p>
        </p:txBody>
      </p:sp>
      <p:sp>
        <p:nvSpPr>
          <p:cNvPr id="6" name="Text 4"/>
          <p:cNvSpPr/>
          <p:nvPr/>
        </p:nvSpPr>
        <p:spPr>
          <a:xfrm>
            <a:off x="1295400" y="4615607"/>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Improve contractility / remodeling: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beta-blockers (carvedilol, metoprolol succinate), SGLT2 inhibitors, spironolactone.</a:t>
            </a:r>
            <a:endParaRPr lang="en-US" sz="2550" dirty="0"/>
          </a:p>
        </p:txBody>
      </p:sp>
      <p:sp>
        <p:nvSpPr>
          <p:cNvPr id="7" name="Text 5"/>
          <p:cNvSpPr/>
          <p:nvPr/>
        </p:nvSpPr>
        <p:spPr>
          <a:xfrm>
            <a:off x="1295400" y="5731818"/>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Acute decompensation: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sit upright, oxygen, IV diuretic, monitor I/Os, consider BiPAP.</a:t>
            </a:r>
            <a:endParaRPr lang="en-US" sz="2550" dirty="0"/>
          </a:p>
        </p:txBody>
      </p:sp>
      <p:sp>
        <p:nvSpPr>
          <p:cNvPr id="8" name="Text 6"/>
          <p:cNvSpPr/>
          <p:nvPr/>
        </p:nvSpPr>
        <p:spPr>
          <a:xfrm>
            <a:off x="1295400" y="6394698"/>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Patient teaching: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daily weights, low-sodium diet, recognize early signs (weight gain &gt; 2 lb/day, increased dyspnea, orthopnea).</a:t>
            </a:r>
            <a:endParaRPr lang="en-US" sz="2550" dirty="0"/>
          </a:p>
        </p:txBody>
      </p:sp>
      <p:pic>
        <p:nvPicPr>
          <p:cNvPr id="9"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0" name="Text 7"/>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1" name="Text 8"/>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31 / 35</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285750"/>
          </a:xfrm>
          <a:prstGeom prst="rect">
            <a:avLst/>
          </a:prstGeom>
          <a:noFill/>
          <a:ln/>
        </p:spPr>
        <p:txBody>
          <a:bodyPr wrap="square" lIns="25400" tIns="25400" rIns="25400" bIns="25400" rtlCol="0" anchor="t">
            <a:normAutofit/>
          </a:bodyPr>
          <a:lstStyle/>
          <a:p>
            <a:pPr algn="l" indent="0" marL="0">
              <a:buNone/>
            </a:pPr>
            <a:r>
              <a:rPr lang="en-US" sz="1650" b="1" spc="528" kern="0" dirty="0">
                <a:solidFill>
                  <a:srgbClr val="4590B8"/>
                </a:solidFill>
                <a:latin typeface="Arial" pitchFamily="34" charset="0"/>
                <a:ea typeface="Arial" pitchFamily="34" charset="-122"/>
                <a:cs typeface="Arial" pitchFamily="34" charset="-120"/>
              </a:rPr>
              <a:t>ACUTE CARE</a:t>
            </a:r>
            <a:endParaRPr lang="en-US" sz="1650" dirty="0"/>
          </a:p>
        </p:txBody>
      </p:sp>
      <p:sp>
        <p:nvSpPr>
          <p:cNvPr id="3" name="Text 1"/>
          <p:cNvSpPr/>
          <p:nvPr/>
        </p:nvSpPr>
        <p:spPr>
          <a:xfrm>
            <a:off x="952500" y="1257300"/>
            <a:ext cx="16874490" cy="1122015"/>
          </a:xfrm>
          <a:prstGeom prst="rect">
            <a:avLst/>
          </a:prstGeom>
          <a:noFill/>
          <a:ln/>
        </p:spPr>
        <p:txBody>
          <a:bodyPr wrap="square" lIns="25400" tIns="25400" rIns="25400" bIns="25400" rtlCol="0" anchor="t">
            <a:normAutofit/>
          </a:bodyPr>
          <a:lstStyle/>
          <a:p>
            <a:pPr algn="l" indent="0" marL="0">
              <a:lnSpc>
                <a:spcPct val="105000"/>
              </a:lnSpc>
              <a:buNone/>
            </a:pPr>
            <a:r>
              <a:rPr lang="en-US" sz="5700" b="1" spc="-57" kern="0" dirty="0">
                <a:solidFill>
                  <a:srgbClr val="1A3260"/>
                </a:solidFill>
                <a:latin typeface="Arial" pitchFamily="34" charset="0"/>
                <a:ea typeface="Arial" pitchFamily="34" charset="-122"/>
                <a:cs typeface="Arial" pitchFamily="34" charset="-120"/>
              </a:rPr>
              <a:t>Pericarditis management</a:t>
            </a:r>
            <a:endParaRPr lang="en-US" sz="5700" dirty="0"/>
          </a:p>
        </p:txBody>
      </p:sp>
      <p:sp>
        <p:nvSpPr>
          <p:cNvPr id="4" name="Text 2"/>
          <p:cNvSpPr/>
          <p:nvPr/>
        </p:nvSpPr>
        <p:spPr>
          <a:xfrm>
            <a:off x="1295400" y="2836515"/>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First-line: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NSAIDs (ibuprofen or aspirin) + </a:t>
            </a:r>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colchicine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reduces recurrence.</a:t>
            </a:r>
            <a:endParaRPr lang="en-US" sz="2550" dirty="0"/>
          </a:p>
        </p:txBody>
      </p:sp>
      <p:sp>
        <p:nvSpPr>
          <p:cNvPr id="5" name="Text 3"/>
          <p:cNvSpPr/>
          <p:nvPr/>
        </p:nvSpPr>
        <p:spPr>
          <a:xfrm>
            <a:off x="1295400" y="3499396"/>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Treat the trigger: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dialysis for uremic pericarditis · antibiotics if bacterial · steroids for autoimmune (last resort).</a:t>
            </a:r>
            <a:endParaRPr lang="en-US" sz="2550" dirty="0"/>
          </a:p>
        </p:txBody>
      </p:sp>
      <p:sp>
        <p:nvSpPr>
          <p:cNvPr id="6" name="Text 4"/>
          <p:cNvSpPr/>
          <p:nvPr/>
        </p:nvSpPr>
        <p:spPr>
          <a:xfrm>
            <a:off x="1295400" y="4615607"/>
            <a:ext cx="14373225" cy="491430"/>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Comfort &amp; positioning: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upright, leaning forward eases pleuritic pain.</a:t>
            </a:r>
            <a:endParaRPr lang="en-US" sz="2550" dirty="0"/>
          </a:p>
        </p:txBody>
      </p:sp>
      <p:sp>
        <p:nvSpPr>
          <p:cNvPr id="7" name="Text 5"/>
          <p:cNvSpPr/>
          <p:nvPr/>
        </p:nvSpPr>
        <p:spPr>
          <a:xfrm>
            <a:off x="1295400" y="5278487"/>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Watch for cardiac tamponade: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Beck triad (hypotension, muffled heart sounds, JVD) + pulsus paradoxus → emergency pericardiocentesis.</a:t>
            </a:r>
            <a:endParaRPr lang="en-US" sz="2550" dirty="0"/>
          </a:p>
        </p:txBody>
      </p:sp>
      <p:sp>
        <p:nvSpPr>
          <p:cNvPr id="8" name="Text 6"/>
          <p:cNvSpPr/>
          <p:nvPr/>
        </p:nvSpPr>
        <p:spPr>
          <a:xfrm>
            <a:off x="1295400" y="6394698"/>
            <a:ext cx="14373225" cy="944761"/>
          </a:xfrm>
          <a:prstGeom prst="rect">
            <a:avLst/>
          </a:prstGeom>
          <a:noFill/>
          <a:ln/>
        </p:spPr>
        <p:txBody>
          <a:bodyPr wrap="square" lIns="25400" tIns="25400" rIns="25400" bIns="25400" rtlCol="0" anchor="t">
            <a:normAutofit/>
          </a:bodyPr>
          <a:lstStyle/>
          <a:p>
            <a:pPr algn="l" indent="0" marL="0">
              <a:lnSpc>
                <a:spcPct val="140000"/>
              </a:lnSpc>
              <a:buNone/>
            </a:pPr>
            <a:r>
              <a:rPr lang="en-US" sz="2550" b="1" dirty="0">
                <a:solidFill>
                  <a:srgbClr val="111827"/>
                </a:solidFill>
                <a:latin typeface="Arial" pitchFamily="34" charset="0"/>
                <a:ea typeface="Arial" pitchFamily="34" charset="-122"/>
                <a:cs typeface="Arial" pitchFamily="34" charset="-120"/>
              </a:rPr>
              <a:t>Patient teaching: </a:t>
            </a:r>
            <a:pPr algn="l" indent="0" marL="0">
              <a:lnSpc>
                <a:spcPct val="140000"/>
              </a:lnSpc>
              <a:buNone/>
            </a:pPr>
            <a:r>
              <a:rPr lang="en-US" sz="2550" dirty="0">
                <a:solidFill>
                  <a:srgbClr val="111827"/>
                </a:solidFill>
                <a:latin typeface="Arial" pitchFamily="34" charset="0"/>
                <a:ea typeface="Arial" pitchFamily="34" charset="-122"/>
                <a:cs typeface="Arial" pitchFamily="34" charset="-120"/>
              </a:rPr>
              <a:t>medication adherence, recurrence is common, return precautions for worsening dyspnea or pain.</a:t>
            </a:r>
            <a:endParaRPr lang="en-US" sz="2550" dirty="0"/>
          </a:p>
        </p:txBody>
      </p:sp>
      <p:pic>
        <p:nvPicPr>
          <p:cNvPr id="9"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10" name="Text 7"/>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11" name="Text 8"/>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32 / 35</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6874490" cy="1695450"/>
          </a:xfrm>
          <a:prstGeom prst="rect">
            <a:avLst/>
          </a:prstGeom>
          <a:noFill/>
          <a:ln/>
        </p:spPr>
        <p:txBody>
          <a:bodyPr wrap="square" lIns="25400" tIns="25400" rIns="25400" bIns="25400" rtlCol="0" anchor="t">
            <a:normAutofit/>
          </a:bodyPr>
          <a:lstStyle/>
          <a:p>
            <a:pPr algn="l" indent="0" marL="0">
              <a:buNone/>
            </a:pPr>
            <a:r>
              <a:rPr lang="en-US" sz="5700" b="1" dirty="0">
                <a:solidFill>
                  <a:srgbClr val="1A3260"/>
                </a:solidFill>
                <a:latin typeface="Arial" pitchFamily="34" charset="0"/>
                <a:ea typeface="Arial" pitchFamily="34" charset="-122"/>
                <a:cs typeface="Arial" pitchFamily="34" charset="-120"/>
              </a:rPr>
              <a:t>Hypertension management — lifestyle plus pharmacology</a:t>
            </a:r>
            <a:endParaRPr lang="en-US" sz="5700" dirty="0"/>
          </a:p>
        </p:txBody>
      </p:sp>
      <p:sp>
        <p:nvSpPr>
          <p:cNvPr id="3" name="Shape 1"/>
          <p:cNvSpPr/>
          <p:nvPr/>
        </p:nvSpPr>
        <p:spPr>
          <a:xfrm>
            <a:off x="952500" y="3009900"/>
            <a:ext cx="16383000" cy="5049441"/>
          </a:xfrm>
          <a:prstGeom prst="rect">
            <a:avLst/>
          </a:prstGeom>
          <a:solidFill>
            <a:srgbClr val="FFFFFF"/>
          </a:solidFill>
          <a:ln/>
        </p:spPr>
      </p:sp>
      <p:sp>
        <p:nvSpPr>
          <p:cNvPr id="4" name="Shape 2"/>
          <p:cNvSpPr/>
          <p:nvPr/>
        </p:nvSpPr>
        <p:spPr>
          <a:xfrm>
            <a:off x="957263" y="3014663"/>
            <a:ext cx="3602087" cy="609600"/>
          </a:xfrm>
          <a:prstGeom prst="rect">
            <a:avLst/>
          </a:prstGeom>
          <a:solidFill>
            <a:srgbClr val="1A3260"/>
          </a:solidFill>
          <a:ln w="9525">
            <a:solidFill>
              <a:srgbClr val="1A3260"/>
            </a:solidFill>
            <a:prstDash val="solid"/>
          </a:ln>
        </p:spPr>
      </p:sp>
      <p:sp>
        <p:nvSpPr>
          <p:cNvPr id="5" name="Text 3"/>
          <p:cNvSpPr/>
          <p:nvPr/>
        </p:nvSpPr>
        <p:spPr>
          <a:xfrm>
            <a:off x="1176338" y="3176588"/>
            <a:ext cx="3272000"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Class</a:t>
            </a:r>
            <a:endParaRPr lang="en-US" sz="1950" dirty="0"/>
          </a:p>
        </p:txBody>
      </p:sp>
      <p:sp>
        <p:nvSpPr>
          <p:cNvPr id="6" name="Shape 4"/>
          <p:cNvSpPr/>
          <p:nvPr/>
        </p:nvSpPr>
        <p:spPr>
          <a:xfrm>
            <a:off x="4559350" y="3014663"/>
            <a:ext cx="6058198" cy="609600"/>
          </a:xfrm>
          <a:prstGeom prst="rect">
            <a:avLst/>
          </a:prstGeom>
          <a:solidFill>
            <a:srgbClr val="1A3260"/>
          </a:solidFill>
          <a:ln w="9525">
            <a:solidFill>
              <a:srgbClr val="1A3260"/>
            </a:solidFill>
            <a:prstDash val="solid"/>
          </a:ln>
        </p:spPr>
      </p:sp>
      <p:sp>
        <p:nvSpPr>
          <p:cNvPr id="7" name="Text 5"/>
          <p:cNvSpPr/>
          <p:nvPr/>
        </p:nvSpPr>
        <p:spPr>
          <a:xfrm>
            <a:off x="4778425" y="3176588"/>
            <a:ext cx="5801794"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Examples</a:t>
            </a:r>
            <a:endParaRPr lang="en-US" sz="1950" dirty="0"/>
          </a:p>
        </p:txBody>
      </p:sp>
      <p:sp>
        <p:nvSpPr>
          <p:cNvPr id="8" name="Shape 6"/>
          <p:cNvSpPr/>
          <p:nvPr/>
        </p:nvSpPr>
        <p:spPr>
          <a:xfrm>
            <a:off x="10617547" y="3014663"/>
            <a:ext cx="6713190" cy="609600"/>
          </a:xfrm>
          <a:prstGeom prst="rect">
            <a:avLst/>
          </a:prstGeom>
          <a:solidFill>
            <a:srgbClr val="1A3260"/>
          </a:solidFill>
          <a:ln w="9525">
            <a:solidFill>
              <a:srgbClr val="1A3260"/>
            </a:solidFill>
            <a:prstDash val="solid"/>
          </a:ln>
        </p:spPr>
      </p:sp>
      <p:sp>
        <p:nvSpPr>
          <p:cNvPr id="9" name="Text 7"/>
          <p:cNvSpPr/>
          <p:nvPr/>
        </p:nvSpPr>
        <p:spPr>
          <a:xfrm>
            <a:off x="10836622" y="3176588"/>
            <a:ext cx="6476436"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Key teaching point</a:t>
            </a:r>
            <a:endParaRPr lang="en-US" sz="1950" dirty="0"/>
          </a:p>
        </p:txBody>
      </p:sp>
      <p:sp>
        <p:nvSpPr>
          <p:cNvPr id="10" name="Shape 8"/>
          <p:cNvSpPr/>
          <p:nvPr/>
        </p:nvSpPr>
        <p:spPr>
          <a:xfrm>
            <a:off x="957263" y="3624263"/>
            <a:ext cx="3602087" cy="969466"/>
          </a:xfrm>
          <a:prstGeom prst="rect">
            <a:avLst/>
          </a:prstGeom>
          <a:ln w="9525">
            <a:solidFill>
              <a:srgbClr val="EBEBEB"/>
            </a:solidFill>
            <a:prstDash val="solid"/>
          </a:ln>
        </p:spPr>
      </p:sp>
      <p:sp>
        <p:nvSpPr>
          <p:cNvPr id="11" name="Text 9"/>
          <p:cNvSpPr/>
          <p:nvPr/>
        </p:nvSpPr>
        <p:spPr>
          <a:xfrm>
            <a:off x="1176338" y="3767137"/>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Lifestyle</a:t>
            </a:r>
            <a:endParaRPr lang="en-US" sz="1950" dirty="0"/>
          </a:p>
        </p:txBody>
      </p:sp>
      <p:sp>
        <p:nvSpPr>
          <p:cNvPr id="12" name="Shape 10"/>
          <p:cNvSpPr/>
          <p:nvPr/>
        </p:nvSpPr>
        <p:spPr>
          <a:xfrm>
            <a:off x="4559350" y="3624263"/>
            <a:ext cx="6058198" cy="969466"/>
          </a:xfrm>
          <a:prstGeom prst="rect">
            <a:avLst/>
          </a:prstGeom>
          <a:ln w="9525">
            <a:solidFill>
              <a:srgbClr val="EBEBEB"/>
            </a:solidFill>
            <a:prstDash val="solid"/>
          </a:ln>
        </p:spPr>
      </p:sp>
      <p:sp>
        <p:nvSpPr>
          <p:cNvPr id="13" name="Text 11"/>
          <p:cNvSpPr/>
          <p:nvPr/>
        </p:nvSpPr>
        <p:spPr>
          <a:xfrm>
            <a:off x="4778425" y="3767137"/>
            <a:ext cx="5801794"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DASH diet · ↓ Na · weight loss · activity · alcohol moderation</a:t>
            </a:r>
            <a:endParaRPr lang="en-US" sz="1950" dirty="0"/>
          </a:p>
        </p:txBody>
      </p:sp>
      <p:sp>
        <p:nvSpPr>
          <p:cNvPr id="14" name="Shape 12"/>
          <p:cNvSpPr/>
          <p:nvPr/>
        </p:nvSpPr>
        <p:spPr>
          <a:xfrm>
            <a:off x="10617547" y="3624263"/>
            <a:ext cx="6713190" cy="969466"/>
          </a:xfrm>
          <a:prstGeom prst="rect">
            <a:avLst/>
          </a:prstGeom>
          <a:ln w="9525">
            <a:solidFill>
              <a:srgbClr val="EBEBEB"/>
            </a:solidFill>
            <a:prstDash val="solid"/>
          </a:ln>
        </p:spPr>
      </p:sp>
      <p:sp>
        <p:nvSpPr>
          <p:cNvPr id="15" name="Text 13"/>
          <p:cNvSpPr/>
          <p:nvPr/>
        </p:nvSpPr>
        <p:spPr>
          <a:xfrm>
            <a:off x="10836622" y="3767137"/>
            <a:ext cx="6476436"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Can reduce SBP 10–20 mmHg — first-line for everyone</a:t>
            </a:r>
            <a:endParaRPr lang="en-US" sz="1950" dirty="0"/>
          </a:p>
        </p:txBody>
      </p:sp>
      <p:sp>
        <p:nvSpPr>
          <p:cNvPr id="16" name="Shape 14"/>
          <p:cNvSpPr/>
          <p:nvPr/>
        </p:nvSpPr>
        <p:spPr>
          <a:xfrm>
            <a:off x="957263" y="4593729"/>
            <a:ext cx="3602087" cy="622846"/>
          </a:xfrm>
          <a:prstGeom prst="rect">
            <a:avLst/>
          </a:prstGeom>
          <a:solidFill>
            <a:srgbClr val="F5F6F8"/>
          </a:solidFill>
          <a:ln w="9525">
            <a:solidFill>
              <a:srgbClr val="EBEBEB"/>
            </a:solidFill>
            <a:prstDash val="solid"/>
          </a:ln>
        </p:spPr>
      </p:sp>
      <p:sp>
        <p:nvSpPr>
          <p:cNvPr id="17" name="Text 15"/>
          <p:cNvSpPr/>
          <p:nvPr/>
        </p:nvSpPr>
        <p:spPr>
          <a:xfrm>
            <a:off x="1176338" y="4736604"/>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Thiazide diuretics</a:t>
            </a:r>
            <a:endParaRPr lang="en-US" sz="1950" dirty="0"/>
          </a:p>
        </p:txBody>
      </p:sp>
      <p:sp>
        <p:nvSpPr>
          <p:cNvPr id="18" name="Shape 16"/>
          <p:cNvSpPr/>
          <p:nvPr/>
        </p:nvSpPr>
        <p:spPr>
          <a:xfrm>
            <a:off x="4559350" y="4593729"/>
            <a:ext cx="6058198" cy="622846"/>
          </a:xfrm>
          <a:prstGeom prst="rect">
            <a:avLst/>
          </a:prstGeom>
          <a:solidFill>
            <a:srgbClr val="F5F6F8"/>
          </a:solidFill>
          <a:ln w="9525">
            <a:solidFill>
              <a:srgbClr val="EBEBEB"/>
            </a:solidFill>
            <a:prstDash val="solid"/>
          </a:ln>
        </p:spPr>
      </p:sp>
      <p:sp>
        <p:nvSpPr>
          <p:cNvPr id="19" name="Text 17"/>
          <p:cNvSpPr/>
          <p:nvPr/>
        </p:nvSpPr>
        <p:spPr>
          <a:xfrm>
            <a:off x="4778425" y="4736604"/>
            <a:ext cx="5801794"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Hydrochlorothiazide · chlorthalidone</a:t>
            </a:r>
            <a:endParaRPr lang="en-US" sz="1950" dirty="0"/>
          </a:p>
        </p:txBody>
      </p:sp>
      <p:sp>
        <p:nvSpPr>
          <p:cNvPr id="20" name="Shape 18"/>
          <p:cNvSpPr/>
          <p:nvPr/>
        </p:nvSpPr>
        <p:spPr>
          <a:xfrm>
            <a:off x="10617547" y="4593729"/>
            <a:ext cx="6713190" cy="622846"/>
          </a:xfrm>
          <a:prstGeom prst="rect">
            <a:avLst/>
          </a:prstGeom>
          <a:solidFill>
            <a:srgbClr val="F5F6F8"/>
          </a:solidFill>
          <a:ln w="9525">
            <a:solidFill>
              <a:srgbClr val="EBEBEB"/>
            </a:solidFill>
            <a:prstDash val="solid"/>
          </a:ln>
        </p:spPr>
      </p:sp>
      <p:sp>
        <p:nvSpPr>
          <p:cNvPr id="21" name="Text 19"/>
          <p:cNvSpPr/>
          <p:nvPr/>
        </p:nvSpPr>
        <p:spPr>
          <a:xfrm>
            <a:off x="10836622" y="4736604"/>
            <a:ext cx="6476436"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Watch potassium · take in morning</a:t>
            </a:r>
            <a:endParaRPr lang="en-US" sz="1950" dirty="0"/>
          </a:p>
        </p:txBody>
      </p:sp>
      <p:sp>
        <p:nvSpPr>
          <p:cNvPr id="22" name="Shape 20"/>
          <p:cNvSpPr/>
          <p:nvPr/>
        </p:nvSpPr>
        <p:spPr>
          <a:xfrm>
            <a:off x="957263" y="5216575"/>
            <a:ext cx="3602087" cy="969466"/>
          </a:xfrm>
          <a:prstGeom prst="rect">
            <a:avLst/>
          </a:prstGeom>
          <a:ln w="9525">
            <a:solidFill>
              <a:srgbClr val="EBEBEB"/>
            </a:solidFill>
            <a:prstDash val="solid"/>
          </a:ln>
        </p:spPr>
      </p:sp>
      <p:sp>
        <p:nvSpPr>
          <p:cNvPr id="23" name="Text 21"/>
          <p:cNvSpPr/>
          <p:nvPr/>
        </p:nvSpPr>
        <p:spPr>
          <a:xfrm>
            <a:off x="1176338" y="5359450"/>
            <a:ext cx="3272000"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ACE inhibitors</a:t>
            </a:r>
            <a:endParaRPr lang="en-US" sz="1950" dirty="0"/>
          </a:p>
        </p:txBody>
      </p:sp>
      <p:sp>
        <p:nvSpPr>
          <p:cNvPr id="24" name="Shape 22"/>
          <p:cNvSpPr/>
          <p:nvPr/>
        </p:nvSpPr>
        <p:spPr>
          <a:xfrm>
            <a:off x="4559350" y="5216575"/>
            <a:ext cx="6058198" cy="969466"/>
          </a:xfrm>
          <a:prstGeom prst="rect">
            <a:avLst/>
          </a:prstGeom>
          <a:ln w="9525">
            <a:solidFill>
              <a:srgbClr val="EBEBEB"/>
            </a:solidFill>
            <a:prstDash val="solid"/>
          </a:ln>
        </p:spPr>
      </p:sp>
      <p:sp>
        <p:nvSpPr>
          <p:cNvPr id="25" name="Text 23"/>
          <p:cNvSpPr/>
          <p:nvPr/>
        </p:nvSpPr>
        <p:spPr>
          <a:xfrm>
            <a:off x="4778425" y="5359450"/>
            <a:ext cx="5801794"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Lisinopril · enalapril</a:t>
            </a:r>
            <a:endParaRPr lang="en-US" sz="1950" dirty="0"/>
          </a:p>
        </p:txBody>
      </p:sp>
      <p:sp>
        <p:nvSpPr>
          <p:cNvPr id="26" name="Shape 24"/>
          <p:cNvSpPr/>
          <p:nvPr/>
        </p:nvSpPr>
        <p:spPr>
          <a:xfrm>
            <a:off x="10617547" y="5216575"/>
            <a:ext cx="6713190" cy="969466"/>
          </a:xfrm>
          <a:prstGeom prst="rect">
            <a:avLst/>
          </a:prstGeom>
          <a:ln w="9525">
            <a:solidFill>
              <a:srgbClr val="EBEBEB"/>
            </a:solidFill>
            <a:prstDash val="solid"/>
          </a:ln>
        </p:spPr>
      </p:sp>
      <p:sp>
        <p:nvSpPr>
          <p:cNvPr id="27" name="Text 25"/>
          <p:cNvSpPr/>
          <p:nvPr/>
        </p:nvSpPr>
        <p:spPr>
          <a:xfrm>
            <a:off x="10836622" y="5359450"/>
            <a:ext cx="6476436" cy="72181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Monitor for cough · angioedema · ↑ K⁺ · contraindicated in pregnancy</a:t>
            </a:r>
            <a:endParaRPr lang="en-US" sz="1950" dirty="0"/>
          </a:p>
        </p:txBody>
      </p:sp>
      <p:sp>
        <p:nvSpPr>
          <p:cNvPr id="28" name="Shape 26"/>
          <p:cNvSpPr/>
          <p:nvPr/>
        </p:nvSpPr>
        <p:spPr>
          <a:xfrm>
            <a:off x="957263" y="6186041"/>
            <a:ext cx="3602087" cy="622846"/>
          </a:xfrm>
          <a:prstGeom prst="rect">
            <a:avLst/>
          </a:prstGeom>
          <a:solidFill>
            <a:srgbClr val="F5F6F8"/>
          </a:solidFill>
          <a:ln w="9525">
            <a:solidFill>
              <a:srgbClr val="EBEBEB"/>
            </a:solidFill>
            <a:prstDash val="solid"/>
          </a:ln>
        </p:spPr>
      </p:sp>
      <p:sp>
        <p:nvSpPr>
          <p:cNvPr id="29" name="Text 27"/>
          <p:cNvSpPr/>
          <p:nvPr/>
        </p:nvSpPr>
        <p:spPr>
          <a:xfrm>
            <a:off x="1176338" y="6328916"/>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ARBs</a:t>
            </a:r>
            <a:endParaRPr lang="en-US" sz="1950" dirty="0"/>
          </a:p>
        </p:txBody>
      </p:sp>
      <p:sp>
        <p:nvSpPr>
          <p:cNvPr id="30" name="Shape 28"/>
          <p:cNvSpPr/>
          <p:nvPr/>
        </p:nvSpPr>
        <p:spPr>
          <a:xfrm>
            <a:off x="4559350" y="6186041"/>
            <a:ext cx="6058198" cy="622846"/>
          </a:xfrm>
          <a:prstGeom prst="rect">
            <a:avLst/>
          </a:prstGeom>
          <a:solidFill>
            <a:srgbClr val="F5F6F8"/>
          </a:solidFill>
          <a:ln w="9525">
            <a:solidFill>
              <a:srgbClr val="EBEBEB"/>
            </a:solidFill>
            <a:prstDash val="solid"/>
          </a:ln>
        </p:spPr>
      </p:sp>
      <p:sp>
        <p:nvSpPr>
          <p:cNvPr id="31" name="Text 29"/>
          <p:cNvSpPr/>
          <p:nvPr/>
        </p:nvSpPr>
        <p:spPr>
          <a:xfrm>
            <a:off x="4778425" y="6328916"/>
            <a:ext cx="5801794"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Losartan · valsartan</a:t>
            </a:r>
            <a:endParaRPr lang="en-US" sz="1950" dirty="0"/>
          </a:p>
        </p:txBody>
      </p:sp>
      <p:sp>
        <p:nvSpPr>
          <p:cNvPr id="32" name="Shape 30"/>
          <p:cNvSpPr/>
          <p:nvPr/>
        </p:nvSpPr>
        <p:spPr>
          <a:xfrm>
            <a:off x="10617547" y="6186041"/>
            <a:ext cx="6713190" cy="622846"/>
          </a:xfrm>
          <a:prstGeom prst="rect">
            <a:avLst/>
          </a:prstGeom>
          <a:solidFill>
            <a:srgbClr val="F5F6F8"/>
          </a:solidFill>
          <a:ln w="9525">
            <a:solidFill>
              <a:srgbClr val="EBEBEB"/>
            </a:solidFill>
            <a:prstDash val="solid"/>
          </a:ln>
        </p:spPr>
      </p:sp>
      <p:sp>
        <p:nvSpPr>
          <p:cNvPr id="33" name="Text 31"/>
          <p:cNvSpPr/>
          <p:nvPr/>
        </p:nvSpPr>
        <p:spPr>
          <a:xfrm>
            <a:off x="10836622" y="6328916"/>
            <a:ext cx="6476436"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Alternative if ACEi cough — similar contraindications</a:t>
            </a:r>
            <a:endParaRPr lang="en-US" sz="1950" dirty="0"/>
          </a:p>
        </p:txBody>
      </p:sp>
      <p:sp>
        <p:nvSpPr>
          <p:cNvPr id="34" name="Shape 32"/>
          <p:cNvSpPr/>
          <p:nvPr/>
        </p:nvSpPr>
        <p:spPr>
          <a:xfrm>
            <a:off x="957263" y="6808887"/>
            <a:ext cx="3602087" cy="622846"/>
          </a:xfrm>
          <a:prstGeom prst="rect">
            <a:avLst/>
          </a:prstGeom>
          <a:ln w="9525">
            <a:solidFill>
              <a:srgbClr val="EBEBEB"/>
            </a:solidFill>
            <a:prstDash val="solid"/>
          </a:ln>
        </p:spPr>
      </p:sp>
      <p:sp>
        <p:nvSpPr>
          <p:cNvPr id="35" name="Text 33"/>
          <p:cNvSpPr/>
          <p:nvPr/>
        </p:nvSpPr>
        <p:spPr>
          <a:xfrm>
            <a:off x="1176338" y="6951762"/>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Calcium channel blockers</a:t>
            </a:r>
            <a:endParaRPr lang="en-US" sz="1950" dirty="0"/>
          </a:p>
        </p:txBody>
      </p:sp>
      <p:sp>
        <p:nvSpPr>
          <p:cNvPr id="36" name="Shape 34"/>
          <p:cNvSpPr/>
          <p:nvPr/>
        </p:nvSpPr>
        <p:spPr>
          <a:xfrm>
            <a:off x="4559350" y="6808887"/>
            <a:ext cx="6058198" cy="622846"/>
          </a:xfrm>
          <a:prstGeom prst="rect">
            <a:avLst/>
          </a:prstGeom>
          <a:ln w="9525">
            <a:solidFill>
              <a:srgbClr val="EBEBEB"/>
            </a:solidFill>
            <a:prstDash val="solid"/>
          </a:ln>
        </p:spPr>
      </p:sp>
      <p:sp>
        <p:nvSpPr>
          <p:cNvPr id="37" name="Text 35"/>
          <p:cNvSpPr/>
          <p:nvPr/>
        </p:nvSpPr>
        <p:spPr>
          <a:xfrm>
            <a:off x="4778425" y="6951762"/>
            <a:ext cx="5801794"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Amlodipine · diltiazem</a:t>
            </a:r>
            <a:endParaRPr lang="en-US" sz="1950" dirty="0"/>
          </a:p>
        </p:txBody>
      </p:sp>
      <p:sp>
        <p:nvSpPr>
          <p:cNvPr id="38" name="Shape 36"/>
          <p:cNvSpPr/>
          <p:nvPr/>
        </p:nvSpPr>
        <p:spPr>
          <a:xfrm>
            <a:off x="10617547" y="6808887"/>
            <a:ext cx="6713190" cy="622846"/>
          </a:xfrm>
          <a:prstGeom prst="rect">
            <a:avLst/>
          </a:prstGeom>
          <a:ln w="9525">
            <a:solidFill>
              <a:srgbClr val="EBEBEB"/>
            </a:solidFill>
            <a:prstDash val="solid"/>
          </a:ln>
        </p:spPr>
      </p:sp>
      <p:sp>
        <p:nvSpPr>
          <p:cNvPr id="39" name="Text 37"/>
          <p:cNvSpPr/>
          <p:nvPr/>
        </p:nvSpPr>
        <p:spPr>
          <a:xfrm>
            <a:off x="10836622" y="6951762"/>
            <a:ext cx="6476436"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Watch for peripheral edema · constipation</a:t>
            </a:r>
            <a:endParaRPr lang="en-US" sz="1950" dirty="0"/>
          </a:p>
        </p:txBody>
      </p:sp>
      <p:sp>
        <p:nvSpPr>
          <p:cNvPr id="40" name="Shape 38"/>
          <p:cNvSpPr/>
          <p:nvPr/>
        </p:nvSpPr>
        <p:spPr>
          <a:xfrm>
            <a:off x="957263" y="7431732"/>
            <a:ext cx="3602087" cy="622846"/>
          </a:xfrm>
          <a:prstGeom prst="rect">
            <a:avLst/>
          </a:prstGeom>
          <a:solidFill>
            <a:srgbClr val="F5F6F8"/>
          </a:solidFill>
          <a:ln w="9525">
            <a:solidFill>
              <a:srgbClr val="EBEBEB"/>
            </a:solidFill>
            <a:prstDash val="solid"/>
          </a:ln>
        </p:spPr>
      </p:sp>
      <p:sp>
        <p:nvSpPr>
          <p:cNvPr id="41" name="Text 39"/>
          <p:cNvSpPr/>
          <p:nvPr/>
        </p:nvSpPr>
        <p:spPr>
          <a:xfrm>
            <a:off x="1176338" y="7574607"/>
            <a:ext cx="3272000"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b="1" dirty="0">
                <a:solidFill>
                  <a:srgbClr val="1A3260"/>
                </a:solidFill>
                <a:latin typeface="Arial" pitchFamily="34" charset="0"/>
                <a:ea typeface="Arial" pitchFamily="34" charset="-122"/>
                <a:cs typeface="Arial" pitchFamily="34" charset="-120"/>
              </a:rPr>
              <a:t>Beta-blockers</a:t>
            </a:r>
            <a:endParaRPr lang="en-US" sz="1950" dirty="0"/>
          </a:p>
        </p:txBody>
      </p:sp>
      <p:sp>
        <p:nvSpPr>
          <p:cNvPr id="42" name="Shape 40"/>
          <p:cNvSpPr/>
          <p:nvPr/>
        </p:nvSpPr>
        <p:spPr>
          <a:xfrm>
            <a:off x="4559350" y="7431732"/>
            <a:ext cx="6058198" cy="622846"/>
          </a:xfrm>
          <a:prstGeom prst="rect">
            <a:avLst/>
          </a:prstGeom>
          <a:solidFill>
            <a:srgbClr val="F5F6F8"/>
          </a:solidFill>
          <a:ln w="9525">
            <a:solidFill>
              <a:srgbClr val="EBEBEB"/>
            </a:solidFill>
            <a:prstDash val="solid"/>
          </a:ln>
        </p:spPr>
      </p:sp>
      <p:sp>
        <p:nvSpPr>
          <p:cNvPr id="43" name="Text 41"/>
          <p:cNvSpPr/>
          <p:nvPr/>
        </p:nvSpPr>
        <p:spPr>
          <a:xfrm>
            <a:off x="4778425" y="7574607"/>
            <a:ext cx="5801794"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Metoprolol · carvedilol</a:t>
            </a:r>
            <a:endParaRPr lang="en-US" sz="1950" dirty="0"/>
          </a:p>
        </p:txBody>
      </p:sp>
      <p:sp>
        <p:nvSpPr>
          <p:cNvPr id="44" name="Shape 42"/>
          <p:cNvSpPr/>
          <p:nvPr/>
        </p:nvSpPr>
        <p:spPr>
          <a:xfrm>
            <a:off x="10617547" y="7431732"/>
            <a:ext cx="6713190" cy="622846"/>
          </a:xfrm>
          <a:prstGeom prst="rect">
            <a:avLst/>
          </a:prstGeom>
          <a:solidFill>
            <a:srgbClr val="F5F6F8"/>
          </a:solidFill>
          <a:ln w="9525">
            <a:solidFill>
              <a:srgbClr val="EBEBEB"/>
            </a:solidFill>
            <a:prstDash val="solid"/>
          </a:ln>
        </p:spPr>
      </p:sp>
      <p:sp>
        <p:nvSpPr>
          <p:cNvPr id="45" name="Text 43"/>
          <p:cNvSpPr/>
          <p:nvPr/>
        </p:nvSpPr>
        <p:spPr>
          <a:xfrm>
            <a:off x="10836622" y="7574607"/>
            <a:ext cx="6476436" cy="375196"/>
          </a:xfrm>
          <a:prstGeom prst="rect">
            <a:avLst/>
          </a:prstGeom>
          <a:noFill/>
          <a:ln/>
        </p:spPr>
        <p:txBody>
          <a:bodyPr wrap="square" lIns="25400" tIns="25400" rIns="25400" bIns="25400" rtlCol="0" anchor="ctr">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Especially useful with CAD or HF — no abrupt stop</a:t>
            </a:r>
            <a:endParaRPr lang="en-US" sz="1950" dirty="0"/>
          </a:p>
        </p:txBody>
      </p:sp>
      <p:pic>
        <p:nvPicPr>
          <p:cNvPr id="46"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47" name="Text 44"/>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48" name="Text 45"/>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33 / 35</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sp>
      <p:sp>
        <p:nvSpPr>
          <p:cNvPr id="3" name="Shape 1"/>
          <p:cNvSpPr/>
          <p:nvPr/>
        </p:nvSpPr>
        <p:spPr>
          <a:xfrm>
            <a:off x="952500" y="876300"/>
            <a:ext cx="6876901" cy="438150"/>
          </a:xfrm>
          <a:prstGeom prst="rect">
            <a:avLst/>
          </a:prstGeom>
          <a:solidFill>
            <a:srgbClr val="45CBE8"/>
          </a:solidFill>
          <a:ln/>
        </p:spPr>
      </p:sp>
      <p:sp>
        <p:nvSpPr>
          <p:cNvPr id="4" name="Text 2"/>
          <p:cNvSpPr/>
          <p:nvPr/>
        </p:nvSpPr>
        <p:spPr>
          <a:xfrm>
            <a:off x="1162050" y="971550"/>
            <a:ext cx="6664108" cy="285750"/>
          </a:xfrm>
          <a:prstGeom prst="rect">
            <a:avLst/>
          </a:prstGeom>
          <a:noFill/>
          <a:ln/>
        </p:spPr>
        <p:txBody>
          <a:bodyPr wrap="square" lIns="25400" tIns="25400" rIns="25400" bIns="2540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KNOWLEDGE CHECK · SELECT ALL THAT APPLY</a:t>
            </a:r>
            <a:endParaRPr lang="en-US" sz="1650" dirty="0"/>
          </a:p>
        </p:txBody>
      </p:sp>
      <p:sp>
        <p:nvSpPr>
          <p:cNvPr id="5" name="Text 3"/>
          <p:cNvSpPr/>
          <p:nvPr/>
        </p:nvSpPr>
        <p:spPr>
          <a:xfrm>
            <a:off x="8019901" y="857250"/>
            <a:ext cx="2241947"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1A3260"/>
                </a:solidFill>
                <a:latin typeface="Arial" pitchFamily="34" charset="0"/>
                <a:ea typeface="Arial" pitchFamily="34" charset="-122"/>
                <a:cs typeface="Arial" pitchFamily="34" charset="-120"/>
              </a:rPr>
              <a:t>Question 7</a:t>
            </a:r>
            <a:endParaRPr lang="en-US" sz="3300" dirty="0"/>
          </a:p>
        </p:txBody>
      </p:sp>
      <p:sp>
        <p:nvSpPr>
          <p:cNvPr id="6" name="Text 4"/>
          <p:cNvSpPr/>
          <p:nvPr/>
        </p:nvSpPr>
        <p:spPr>
          <a:xfrm>
            <a:off x="952500" y="1600200"/>
            <a:ext cx="15697200" cy="89148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111827"/>
                </a:solidFill>
                <a:latin typeface="Arial" pitchFamily="34" charset="0"/>
                <a:ea typeface="Arial" pitchFamily="34" charset="-122"/>
                <a:cs typeface="Arial" pitchFamily="34" charset="-120"/>
              </a:rPr>
              <a:t>A patient with reduced cardiac output activates compensatory mechanisms. Which findings represent these compensations?</a:t>
            </a:r>
            <a:endParaRPr lang="en-US" sz="2400" dirty="0"/>
          </a:p>
        </p:txBody>
      </p:sp>
      <p:sp>
        <p:nvSpPr>
          <p:cNvPr id="7" name="Shape 5"/>
          <p:cNvSpPr/>
          <p:nvPr/>
        </p:nvSpPr>
        <p:spPr>
          <a:xfrm>
            <a:off x="952500" y="2796480"/>
            <a:ext cx="8096250" cy="895350"/>
          </a:xfrm>
          <a:prstGeom prst="rect">
            <a:avLst/>
          </a:prstGeom>
          <a:solidFill>
            <a:srgbClr val="F1F8EE"/>
          </a:solidFill>
          <a:ln w="9525">
            <a:solidFill>
              <a:srgbClr val="42955F"/>
            </a:solidFill>
            <a:prstDash val="solid"/>
          </a:ln>
        </p:spPr>
      </p:sp>
      <p:sp>
        <p:nvSpPr>
          <p:cNvPr id="8" name="Shape 6"/>
          <p:cNvSpPr/>
          <p:nvPr/>
        </p:nvSpPr>
        <p:spPr>
          <a:xfrm>
            <a:off x="1209675" y="3015555"/>
            <a:ext cx="457200" cy="457200"/>
          </a:xfrm>
          <a:prstGeom prst="rect">
            <a:avLst/>
          </a:prstGeom>
          <a:solidFill>
            <a:srgbClr val="42955F"/>
          </a:solidFill>
          <a:ln/>
        </p:spPr>
      </p:sp>
      <p:sp>
        <p:nvSpPr>
          <p:cNvPr id="9" name="Text 7"/>
          <p:cNvSpPr/>
          <p:nvPr/>
        </p:nvSpPr>
        <p:spPr>
          <a:xfrm>
            <a:off x="1171575" y="30155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a:t>
            </a:r>
            <a:endParaRPr lang="en-US" sz="1950" dirty="0"/>
          </a:p>
        </p:txBody>
      </p:sp>
      <p:sp>
        <p:nvSpPr>
          <p:cNvPr id="10" name="Text 8"/>
          <p:cNvSpPr/>
          <p:nvPr/>
        </p:nvSpPr>
        <p:spPr>
          <a:xfrm>
            <a:off x="1914525" y="30155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Increased heart rate from sympathetic activation</a:t>
            </a:r>
            <a:endParaRPr lang="en-US" sz="1950" dirty="0"/>
          </a:p>
        </p:txBody>
      </p:sp>
      <p:sp>
        <p:nvSpPr>
          <p:cNvPr id="11" name="Shape 9"/>
          <p:cNvSpPr/>
          <p:nvPr/>
        </p:nvSpPr>
        <p:spPr>
          <a:xfrm>
            <a:off x="9239250" y="2796480"/>
            <a:ext cx="8096250" cy="895350"/>
          </a:xfrm>
          <a:prstGeom prst="rect">
            <a:avLst/>
          </a:prstGeom>
          <a:solidFill>
            <a:srgbClr val="F1F8EE"/>
          </a:solidFill>
          <a:ln w="9525">
            <a:solidFill>
              <a:srgbClr val="42955F"/>
            </a:solidFill>
            <a:prstDash val="solid"/>
          </a:ln>
        </p:spPr>
      </p:sp>
      <p:sp>
        <p:nvSpPr>
          <p:cNvPr id="12" name="Shape 10"/>
          <p:cNvSpPr/>
          <p:nvPr/>
        </p:nvSpPr>
        <p:spPr>
          <a:xfrm>
            <a:off x="9496425" y="3015555"/>
            <a:ext cx="457200" cy="457200"/>
          </a:xfrm>
          <a:prstGeom prst="rect">
            <a:avLst/>
          </a:prstGeom>
          <a:solidFill>
            <a:srgbClr val="42955F"/>
          </a:solidFill>
          <a:ln/>
        </p:spPr>
      </p:sp>
      <p:sp>
        <p:nvSpPr>
          <p:cNvPr id="13" name="Text 11"/>
          <p:cNvSpPr/>
          <p:nvPr/>
        </p:nvSpPr>
        <p:spPr>
          <a:xfrm>
            <a:off x="9458325" y="30155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B</a:t>
            </a:r>
            <a:endParaRPr lang="en-US" sz="1950" dirty="0"/>
          </a:p>
        </p:txBody>
      </p:sp>
      <p:sp>
        <p:nvSpPr>
          <p:cNvPr id="14" name="Text 12"/>
          <p:cNvSpPr/>
          <p:nvPr/>
        </p:nvSpPr>
        <p:spPr>
          <a:xfrm>
            <a:off x="10201275" y="30155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Sodium &amp; water retention from RAAS activation</a:t>
            </a:r>
            <a:endParaRPr lang="en-US" sz="1950" dirty="0"/>
          </a:p>
        </p:txBody>
      </p:sp>
      <p:sp>
        <p:nvSpPr>
          <p:cNvPr id="15" name="Shape 13"/>
          <p:cNvSpPr/>
          <p:nvPr/>
        </p:nvSpPr>
        <p:spPr>
          <a:xfrm>
            <a:off x="952500" y="3882330"/>
            <a:ext cx="8096250" cy="895350"/>
          </a:xfrm>
          <a:prstGeom prst="rect">
            <a:avLst/>
          </a:prstGeom>
          <a:solidFill>
            <a:srgbClr val="F1F8EE"/>
          </a:solidFill>
          <a:ln w="9525">
            <a:solidFill>
              <a:srgbClr val="42955F"/>
            </a:solidFill>
            <a:prstDash val="solid"/>
          </a:ln>
        </p:spPr>
      </p:sp>
      <p:sp>
        <p:nvSpPr>
          <p:cNvPr id="16" name="Shape 14"/>
          <p:cNvSpPr/>
          <p:nvPr/>
        </p:nvSpPr>
        <p:spPr>
          <a:xfrm>
            <a:off x="1209675" y="4101405"/>
            <a:ext cx="457200" cy="457200"/>
          </a:xfrm>
          <a:prstGeom prst="rect">
            <a:avLst/>
          </a:prstGeom>
          <a:solidFill>
            <a:srgbClr val="42955F"/>
          </a:solidFill>
          <a:ln/>
        </p:spPr>
      </p:sp>
      <p:sp>
        <p:nvSpPr>
          <p:cNvPr id="17" name="Text 15"/>
          <p:cNvSpPr/>
          <p:nvPr/>
        </p:nvSpPr>
        <p:spPr>
          <a:xfrm>
            <a:off x="1171575" y="410140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C</a:t>
            </a:r>
            <a:endParaRPr lang="en-US" sz="1950" dirty="0"/>
          </a:p>
        </p:txBody>
      </p:sp>
      <p:sp>
        <p:nvSpPr>
          <p:cNvPr id="18" name="Text 16"/>
          <p:cNvSpPr/>
          <p:nvPr/>
        </p:nvSpPr>
        <p:spPr>
          <a:xfrm>
            <a:off x="1914525" y="410140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Vasoconstriction from angiotensin II</a:t>
            </a:r>
            <a:endParaRPr lang="en-US" sz="1950" dirty="0"/>
          </a:p>
        </p:txBody>
      </p:sp>
      <p:sp>
        <p:nvSpPr>
          <p:cNvPr id="19" name="Shape 17"/>
          <p:cNvSpPr/>
          <p:nvPr/>
        </p:nvSpPr>
        <p:spPr>
          <a:xfrm>
            <a:off x="9239250" y="3882330"/>
            <a:ext cx="8096250" cy="895350"/>
          </a:xfrm>
          <a:prstGeom prst="rect">
            <a:avLst/>
          </a:prstGeom>
          <a:solidFill>
            <a:srgbClr val="FFFFFF"/>
          </a:solidFill>
          <a:ln w="9525">
            <a:solidFill>
              <a:srgbClr val="EBEBEB"/>
            </a:solidFill>
            <a:prstDash val="solid"/>
          </a:ln>
        </p:spPr>
      </p:sp>
      <p:sp>
        <p:nvSpPr>
          <p:cNvPr id="20" name="Shape 18"/>
          <p:cNvSpPr/>
          <p:nvPr/>
        </p:nvSpPr>
        <p:spPr>
          <a:xfrm>
            <a:off x="9496425" y="4101405"/>
            <a:ext cx="457200" cy="457200"/>
          </a:xfrm>
          <a:prstGeom prst="rect">
            <a:avLst/>
          </a:prstGeom>
          <a:solidFill>
            <a:srgbClr val="1A3260"/>
          </a:solidFill>
          <a:ln/>
        </p:spPr>
      </p:sp>
      <p:sp>
        <p:nvSpPr>
          <p:cNvPr id="21" name="Text 19"/>
          <p:cNvSpPr/>
          <p:nvPr/>
        </p:nvSpPr>
        <p:spPr>
          <a:xfrm>
            <a:off x="9458325" y="410140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D</a:t>
            </a:r>
            <a:endParaRPr lang="en-US" sz="1950" dirty="0"/>
          </a:p>
        </p:txBody>
      </p:sp>
      <p:sp>
        <p:nvSpPr>
          <p:cNvPr id="22" name="Text 20"/>
          <p:cNvSpPr/>
          <p:nvPr/>
        </p:nvSpPr>
        <p:spPr>
          <a:xfrm>
            <a:off x="10201275" y="410140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Decreased ventricular wall thickness over time</a:t>
            </a:r>
            <a:endParaRPr lang="en-US" sz="1950" dirty="0"/>
          </a:p>
        </p:txBody>
      </p:sp>
      <p:sp>
        <p:nvSpPr>
          <p:cNvPr id="23" name="Shape 21"/>
          <p:cNvSpPr/>
          <p:nvPr/>
        </p:nvSpPr>
        <p:spPr>
          <a:xfrm>
            <a:off x="952500" y="4968180"/>
            <a:ext cx="8096250" cy="895350"/>
          </a:xfrm>
          <a:prstGeom prst="rect">
            <a:avLst/>
          </a:prstGeom>
          <a:solidFill>
            <a:srgbClr val="F1F8EE"/>
          </a:solidFill>
          <a:ln w="9525">
            <a:solidFill>
              <a:srgbClr val="42955F"/>
            </a:solidFill>
            <a:prstDash val="solid"/>
          </a:ln>
        </p:spPr>
      </p:sp>
      <p:sp>
        <p:nvSpPr>
          <p:cNvPr id="24" name="Shape 22"/>
          <p:cNvSpPr/>
          <p:nvPr/>
        </p:nvSpPr>
        <p:spPr>
          <a:xfrm>
            <a:off x="1209675" y="5187255"/>
            <a:ext cx="457200" cy="457200"/>
          </a:xfrm>
          <a:prstGeom prst="rect">
            <a:avLst/>
          </a:prstGeom>
          <a:solidFill>
            <a:srgbClr val="42955F"/>
          </a:solidFill>
          <a:ln/>
        </p:spPr>
      </p:sp>
      <p:sp>
        <p:nvSpPr>
          <p:cNvPr id="25" name="Text 23"/>
          <p:cNvSpPr/>
          <p:nvPr/>
        </p:nvSpPr>
        <p:spPr>
          <a:xfrm>
            <a:off x="1171575" y="5187255"/>
            <a:ext cx="533400" cy="4953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E</a:t>
            </a:r>
            <a:endParaRPr lang="en-US" sz="1950" dirty="0"/>
          </a:p>
        </p:txBody>
      </p:sp>
      <p:sp>
        <p:nvSpPr>
          <p:cNvPr id="26" name="Text 24"/>
          <p:cNvSpPr/>
          <p:nvPr/>
        </p:nvSpPr>
        <p:spPr>
          <a:xfrm>
            <a:off x="1914525" y="5187255"/>
            <a:ext cx="7083362" cy="384721"/>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111827"/>
                </a:solidFill>
                <a:latin typeface="Arial" pitchFamily="34" charset="0"/>
                <a:ea typeface="Arial" pitchFamily="34" charset="-122"/>
                <a:cs typeface="Arial" pitchFamily="34" charset="-120"/>
              </a:rPr>
              <a:t>Ventricular remodeling and hypertrophy</a:t>
            </a:r>
            <a:endParaRPr lang="en-US" sz="1950" dirty="0"/>
          </a:p>
        </p:txBody>
      </p:sp>
      <p:pic>
        <p:nvPicPr>
          <p:cNvPr id="27"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28" name="Text 25"/>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1A3260"/>
                </a:solidFill>
                <a:latin typeface="Arial" pitchFamily="34" charset="0"/>
                <a:ea typeface="Arial" pitchFamily="34" charset="-122"/>
                <a:cs typeface="Arial" pitchFamily="34" charset="-120"/>
              </a:rPr>
              <a:t>SCI225 · WEEK 9</a:t>
            </a:r>
            <a:endParaRPr lang="en-US" sz="1650" dirty="0"/>
          </a:p>
        </p:txBody>
      </p:sp>
      <p:sp>
        <p:nvSpPr>
          <p:cNvPr id="29" name="Text 26"/>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969FA7"/>
                </a:solidFill>
                <a:latin typeface="Arial" pitchFamily="34" charset="0"/>
                <a:ea typeface="Arial" pitchFamily="34" charset="-122"/>
                <a:cs typeface="Arial" pitchFamily="34" charset="-120"/>
              </a:rPr>
              <a:t>34 / 35</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16445C"/>
          </a:solidFill>
          <a:ln/>
        </p:spPr>
      </p:sp>
      <p:sp>
        <p:nvSpPr>
          <p:cNvPr id="3" name="Text 1"/>
          <p:cNvSpPr/>
          <p:nvPr/>
        </p:nvSpPr>
        <p:spPr>
          <a:xfrm>
            <a:off x="952500" y="2319338"/>
            <a:ext cx="16874490" cy="1371600"/>
          </a:xfrm>
          <a:prstGeom prst="rect">
            <a:avLst/>
          </a:prstGeom>
          <a:noFill/>
          <a:ln/>
        </p:spPr>
        <p:txBody>
          <a:bodyPr wrap="square" lIns="25400" tIns="25400" rIns="25400" bIns="25400" rtlCol="0" anchor="t">
            <a:normAutofit/>
          </a:bodyPr>
          <a:lstStyle/>
          <a:p>
            <a:pPr algn="l" indent="0" marL="0">
              <a:lnSpc>
                <a:spcPct val="70000"/>
              </a:lnSpc>
              <a:buNone/>
            </a:pPr>
            <a:r>
              <a:rPr lang="en-US" sz="15000" dirty="0">
                <a:solidFill>
                  <a:srgbClr val="45CBE8"/>
                </a:solidFill>
                <a:latin typeface="Georgia" pitchFamily="34" charset="0"/>
                <a:ea typeface="Georgia" pitchFamily="34" charset="-122"/>
                <a:cs typeface="Georgia" pitchFamily="34" charset="-120"/>
              </a:rPr>
              <a:t>“</a:t>
            </a:r>
            <a:endParaRPr lang="en-US" sz="15000" dirty="0"/>
          </a:p>
        </p:txBody>
      </p:sp>
      <p:sp>
        <p:nvSpPr>
          <p:cNvPr id="4" name="Text 2"/>
          <p:cNvSpPr/>
          <p:nvPr/>
        </p:nvSpPr>
        <p:spPr>
          <a:xfrm>
            <a:off x="952500" y="3881438"/>
            <a:ext cx="14716125" cy="3371850"/>
          </a:xfrm>
          <a:prstGeom prst="rect">
            <a:avLst/>
          </a:prstGeom>
          <a:noFill/>
          <a:ln/>
        </p:spPr>
        <p:txBody>
          <a:bodyPr wrap="square" lIns="25400" tIns="25400" rIns="25400" bIns="25400" rtlCol="0" anchor="t">
            <a:normAutofit/>
          </a:bodyPr>
          <a:lstStyle/>
          <a:p>
            <a:pPr algn="l" indent="0" marL="0">
              <a:lnSpc>
                <a:spcPct val="125000"/>
              </a:lnSpc>
              <a:buNone/>
            </a:pPr>
            <a:r>
              <a:rPr lang="en-US" sz="4200" dirty="0">
                <a:solidFill>
                  <a:srgbClr val="FFFFFF"/>
                </a:solidFill>
                <a:latin typeface="Arial" pitchFamily="34" charset="0"/>
                <a:ea typeface="Arial" pitchFamily="34" charset="-122"/>
                <a:cs typeface="Arial" pitchFamily="34" charset="-120"/>
              </a:rPr>
              <a:t>The cardiovascular system is the heart of nursing — every concept here has direct, immediate clinical application. Tie your pathophysiology to your nursing interventions, and the "why" behind every action is what will make you stand out at the bedside.</a:t>
            </a:r>
            <a:endParaRPr lang="en-US" sz="4200" dirty="0"/>
          </a:p>
        </p:txBody>
      </p:sp>
      <p:sp>
        <p:nvSpPr>
          <p:cNvPr id="5" name="Text 3"/>
          <p:cNvSpPr/>
          <p:nvPr/>
        </p:nvSpPr>
        <p:spPr>
          <a:xfrm>
            <a:off x="952500" y="7672388"/>
            <a:ext cx="16874490" cy="333375"/>
          </a:xfrm>
          <a:prstGeom prst="rect">
            <a:avLst/>
          </a:prstGeom>
          <a:noFill/>
          <a:ln/>
        </p:spPr>
        <p:txBody>
          <a:bodyPr wrap="square" lIns="25400" tIns="25400" rIns="25400" bIns="25400" rtlCol="0" anchor="t">
            <a:normAutofit/>
          </a:bodyPr>
          <a:lstStyle/>
          <a:p>
            <a:pPr algn="l" indent="0" marL="0">
              <a:buNone/>
            </a:pPr>
            <a:r>
              <a:rPr lang="en-US" sz="1950" b="1" spc="351" kern="0" dirty="0">
                <a:solidFill>
                  <a:srgbClr val="45CBE8"/>
                </a:solidFill>
                <a:latin typeface="Arial" pitchFamily="34" charset="0"/>
                <a:ea typeface="Arial" pitchFamily="34" charset="-122"/>
                <a:cs typeface="Arial" pitchFamily="34" charset="-120"/>
              </a:rPr>
              <a:t>DR. VIDYA AGGRAWAL · PATHOPHYSIOLOGY COURSE INSTRUCTOR · NIGHTINGALE COLLEGE</a:t>
            </a:r>
            <a:endParaRPr lang="en-US" sz="1950" dirty="0"/>
          </a:p>
        </p:txBody>
      </p:sp>
      <p:pic>
        <p:nvPicPr>
          <p:cNvPr id="6" name="Image 0" descr="preencoded.png">    </p:cNvPr>
          <p:cNvPicPr>
            <a:picLocks noChangeAspect="1"/>
          </p:cNvPicPr>
          <p:nvPr/>
        </p:nvPicPr>
        <p:blipFill>
          <a:blip r:embed="rId1"/>
          <a:stretch>
            <a:fillRect/>
          </a:stretch>
        </p:blipFill>
        <p:spPr>
          <a:xfrm>
            <a:off x="952500" y="9677400"/>
            <a:ext cx="209550" cy="266700"/>
          </a:xfrm>
          <a:prstGeom prst="rect">
            <a:avLst/>
          </a:prstGeom>
        </p:spPr>
      </p:pic>
      <p:sp>
        <p:nvSpPr>
          <p:cNvPr id="7" name="Text 4"/>
          <p:cNvSpPr/>
          <p:nvPr/>
        </p:nvSpPr>
        <p:spPr>
          <a:xfrm>
            <a:off x="1276350" y="9686925"/>
            <a:ext cx="2330648" cy="276225"/>
          </a:xfrm>
          <a:prstGeom prst="rect">
            <a:avLst/>
          </a:prstGeom>
          <a:noFill/>
          <a:ln/>
        </p:spPr>
        <p:txBody>
          <a:bodyPr wrap="square" lIns="0" tIns="0" rIns="0" bIns="0" rtlCol="0" anchor="t">
            <a:normAutofit/>
          </a:bodyPr>
          <a:lstStyle/>
          <a:p>
            <a:pPr algn="l" indent="0" marL="0">
              <a:buNone/>
            </a:pPr>
            <a:r>
              <a:rPr lang="en-US" sz="1650" b="1" spc="297" kern="0" dirty="0">
                <a:solidFill>
                  <a:srgbClr val="FFFFFF"/>
                </a:solidFill>
                <a:latin typeface="Arial" pitchFamily="34" charset="0"/>
                <a:ea typeface="Arial" pitchFamily="34" charset="-122"/>
                <a:cs typeface="Arial" pitchFamily="34" charset="-120"/>
              </a:rPr>
              <a:t>SCI225 · WEEK 9</a:t>
            </a:r>
            <a:endParaRPr lang="en-US" sz="1650" dirty="0"/>
          </a:p>
        </p:txBody>
      </p:sp>
      <p:sp>
        <p:nvSpPr>
          <p:cNvPr id="8" name="Text 5"/>
          <p:cNvSpPr/>
          <p:nvPr/>
        </p:nvSpPr>
        <p:spPr>
          <a:xfrm>
            <a:off x="16635859" y="9686925"/>
            <a:ext cx="775841" cy="285750"/>
          </a:xfrm>
          <a:prstGeom prst="rect">
            <a:avLst/>
          </a:prstGeom>
          <a:noFill/>
          <a:ln/>
        </p:spPr>
        <p:txBody>
          <a:bodyPr wrap="square" lIns="25400" tIns="25400" rIns="25400" bIns="25400" rtlCol="0" anchor="t">
            <a:normAutofit/>
          </a:bodyPr>
          <a:lstStyle/>
          <a:p>
            <a:pPr algn="l" indent="0" marL="0">
              <a:buNone/>
            </a:pPr>
            <a:r>
              <a:rPr lang="en-US" sz="1650" spc="66" kern="0" dirty="0">
                <a:solidFill>
                  <a:srgbClr val="FFFFFF">
                    <a:alpha val="55000"/>
                  </a:srgbClr>
                </a:solidFill>
                <a:latin typeface="Arial" pitchFamily="34" charset="0"/>
                <a:ea typeface="Arial" pitchFamily="34" charset="-122"/>
                <a:cs typeface="Arial" pitchFamily="34" charset="-120"/>
              </a:rPr>
              <a:t>35 / 35</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2026-04-30T17:34:50Z</dcterms:created>
  <dcterms:modified xsi:type="dcterms:W3CDTF">2026-04-30T17:34:50Z</dcterms:modified>
</cp:coreProperties>
</file>