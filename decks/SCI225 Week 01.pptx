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1. Introduce yourself and frame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for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webinar housekeeping.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dates and Mountain Time reminders.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tour of Canvas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Canvas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access webinars.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Learner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weekly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weekly study guides.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 — Week One core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Week 1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pathophysiology — etymology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the section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DNA review — let learners answer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Replication, transcription, translation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chromosome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mutations.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chromosome aberrations.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aneuploidy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inheritance terminology rapidly.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Modes of inheritance.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 to epigenetics with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survey of genetic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pause for thinking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twins / epigenetics.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 for cellular biology.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Cellular adaptation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Cellular injury and death.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fluid balance and edema.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Sodium / potassium / calcium imbalances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acid–base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Acid–base imbalances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ROME mnemonic + linked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left ventricular thickening.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DKA acid–base.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3957191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118348"/>
            <a:ext cx="671055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Foundations: Genetics &amp; Cellular Biology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XYZ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1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webinar reminders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logistics &amp; Canvas tour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pathophysiology?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Genetics &amp; epigenetics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0193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biology &amp; injury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012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6680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Fluids, electrolytes, acid–base</a:t>
            </a:r>
            <a:endParaRPr lang="en-US" sz="22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GET STARTED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reminders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sessions are recorded — anything shared via webcam, audio, or chat may be part of the recording.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captioning is available — open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→ Captions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meeting toolbar.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features include text chat, reactions (raise hand, thumbs up), microphone, and webcam.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participate in whatever way feels most comfortable.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INSTRUCTOR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XX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XYZ@nightingale.edu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[share]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at XX am/pm MT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dates &amp; times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 operates on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Time (MT)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week runs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am MT Monday – 11:59 pm MT Sunday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dates: XX – XX, ending 5 pm MT.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PLATFORM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Canvas classroom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homepage: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Announcements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daily check.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week-by-week content and assessments.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Links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under HOME, choose SCI tab → SCI225.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Grades, Help Desk, Learner Forms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left navigation.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FIRST-WEEK CHECKLIST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priorities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syllabus end-to-end.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 the course homepage and webinar links page.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your email + notification preferences in Canvas.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textbook in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Resources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Week 1 module and start the preassessment.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ATTEND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the webinars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my webinars on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[Day] at [XX] [am/pm] MT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attend any other pathophysiology webinar that fits your schedule.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course homepage: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Webinar Links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tab, then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SCI225: Pathophysiology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link under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Link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join live.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524000" y="6150918"/>
            <a:ext cx="1414462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 are linked at the bottom of the same page.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tools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Math Lab — drop-in tutoring for quantitative coursework.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Center — paper review and structure feedback.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Review Submission Form — formal feedback before submission.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my eBook — link in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Resources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module landing page with objectives, readings, and assessments.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Pre-assessment to anchor your starting point.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textbook chapters from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Pathophysiology, 8th Ed.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recording posted within 24 hours.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YOUR STUDY TIME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study guides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1817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in each weekly module — covers every learning objective.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drive your reading and to self-quiz before the webinar quiz.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the textbook chapters and your webinar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ONE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One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pathophysiology — genetics, epigenetics, cellular biology, fluids, and acid–base.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vast array of human genes and genetic diseases.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epigenetic and related genetic diseases.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altered states of both cellular and tissue biology.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735330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47700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4770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33600" y="661035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alterations in fluid balance and acid–base regulation.</a:t>
            </a:r>
            <a:endParaRPr lang="en-US" sz="2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142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1 Pre-assessment.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Chapters 2, 3, 4, and 5 — Genetics, Epigenetics, Altered Cells, Fluids &amp; Electrolytes.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a Week 1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1 Case Study.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Week 1 Webinar Quiz.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spc="-81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52500" y="2905125"/>
            <a:ext cx="5156150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9051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52775"/>
            <a:ext cx="4663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patho-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400" y="3562350"/>
            <a:ext cx="466332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suffering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2905125"/>
            <a:ext cx="5156299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565850" y="29051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0" name="Text 8"/>
          <p:cNvSpPr/>
          <p:nvPr/>
        </p:nvSpPr>
        <p:spPr>
          <a:xfrm>
            <a:off x="6908750" y="3152775"/>
            <a:ext cx="46634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physio-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08750" y="3562350"/>
            <a:ext cx="466347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of an organism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179350" y="2905125"/>
            <a:ext cx="5156150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79350" y="29051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2250" y="3152775"/>
            <a:ext cx="4663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-logos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522250" y="3562350"/>
            <a:ext cx="466332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discourse / formal study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4613821"/>
            <a:ext cx="1471612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study of underlying changes in body physiology — molecular, cellular, and organ-system — that result from disease or injury, including the inextricable component of suffering and its psychological, spiritual, social, cultural, and economic implications.</a:t>
            </a:r>
            <a:endParaRPr lang="en-US" sz="2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GENETICS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vast array of human genes and genetic diseases.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epigenetics and related genetic diseases.</a:t>
            </a:r>
            <a:endParaRPr lang="en-US" sz="2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25180"/>
            <a:ext cx="8594217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4890046"/>
            <a:ext cx="859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prompts — let learners answer aloud: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26820" y="5623471"/>
            <a:ext cx="81457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DNA?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its components?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 bases pair up?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 responsible for?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981611" y="9582150"/>
            <a:ext cx="2001589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134011" y="9677400"/>
            <a:ext cx="17729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DNA helix image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Replication, transcription, translation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48006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443445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copies itself before cell division — semi-conservative; one parental and one new strand.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981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743700" y="2181225"/>
            <a:ext cx="48006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7437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69913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913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91350" y="3209925"/>
            <a:ext cx="443445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template → mRNA in the nucleus. RNA polymerase reads 3'→5'.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72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12534900" y="2181225"/>
            <a:ext cx="48006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349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27825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825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782550" y="3209925"/>
            <a:ext cx="443445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mRNA → protein at the ribosome. tRNA delivers amino acids by codon.</a:t>
            </a:r>
            <a:endParaRPr lang="en-US" sz="16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547146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455667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455667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 THESE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track of the numbers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have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chromosomes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somatic cells (diploid).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Gametes have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chromosomes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(haploid) due to meiosis.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gamete: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gamete: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oocyte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VARIATION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mutations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silent, missense, nonsense.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Frameshift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insertion or deletion shifts the reading frame.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Chromosomal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translocation, inversion, deletion, duplication.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spontaneous error, mutagens (radiation, chemicals), viral integration.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 aberrations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(Aneuploidy)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Monosomy — one chromosome missing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Trisomy — one extra chromosome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Polyploidy — extra full sets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/ duplication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 / translocation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Mosaicism — mixed cell lines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aneuploidy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332392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29854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Karyotype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865691" y="2185988"/>
            <a:ext cx="846504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84766" y="2347913"/>
            <a:ext cx="82808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syndrome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41764" y="2795588"/>
            <a:ext cx="332392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839" y="2938463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Trisomy 21 (autosomal)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865691" y="2795588"/>
            <a:ext cx="846504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4766" y="2938463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disability, characteristic facies, congenital heart defects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Patau syndrome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3418433"/>
            <a:ext cx="332392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3561308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Trisomy 13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865691" y="3418433"/>
            <a:ext cx="846504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4766" y="3561308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Cleft lip/palate, polydactyly, severe CNS malformation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Trisomy X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541764" y="4041279"/>
            <a:ext cx="332392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839" y="4184154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 XXX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865691" y="4041279"/>
            <a:ext cx="846504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4766" y="4184154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asymptomatic; mild learning differences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Turner syndrome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541764" y="4664125"/>
            <a:ext cx="332392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839" y="4807000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 X (monosomy)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865691" y="4664125"/>
            <a:ext cx="846504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4766" y="4807000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stature, gonadal dysgenesis, lymphedema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Klinefelter syndrome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541764" y="5286970"/>
            <a:ext cx="332392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839" y="5429845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 XXY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8865691" y="5286970"/>
            <a:ext cx="846504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84766" y="5429845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 stature, hypogonadism, gynecomastia, infertility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57263" y="5909816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6338" y="6052691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trisomy / mosaic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5541764" y="5909816"/>
            <a:ext cx="332392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839" y="6052691"/>
            <a:ext cx="29854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8865691" y="5909816"/>
            <a:ext cx="846504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84766" y="6052691"/>
            <a:ext cx="82808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 depends on affected segments and cell-line ratio</a:t>
            </a:r>
            <a:endParaRPr lang="en-US" sz="1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terminology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 &amp; alleles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DNA sequence coding for a trait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Allele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variant form of a gene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Recessive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expressed only when homozygous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expressed even when heterozygous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510123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Heterozygous / homozygous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two different / two same alleles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Genotype &amp; phenotype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Genotype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alleles you carry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what is expressed/observed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Penetrance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% of carriers who express the trait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965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how strongly the trait is expressed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 of inheritance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773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66926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64552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234416" y="2185988"/>
            <a:ext cx="509632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53491" y="2347913"/>
            <a:ext cx="48110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Autosomal dominant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41764" y="2795588"/>
            <a:ext cx="66926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839" y="2938463"/>
            <a:ext cx="64552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affected parent → 50% risk; both sexes equally affected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34416" y="2795588"/>
            <a:ext cx="509632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53491" y="2938463"/>
            <a:ext cx="481106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Huntington disease, Marfan syndrome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Autosomal recessive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3765054"/>
            <a:ext cx="66926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3907929"/>
            <a:ext cx="64552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carrier parents → 25% affected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234416" y="3765054"/>
            <a:ext cx="509632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53491" y="3907929"/>
            <a:ext cx="48110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Cystic fibrosis, sickle cell anemia, PKU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X-linked recessive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541764" y="4387900"/>
            <a:ext cx="66926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839" y="4530775"/>
            <a:ext cx="64552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males affected; females are carriers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234416" y="4387900"/>
            <a:ext cx="509632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53491" y="4530775"/>
            <a:ext cx="481106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Hemophilia A, Duchenne muscular dystrophy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357366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500241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X-linked dominant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541764" y="5357366"/>
            <a:ext cx="66926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839" y="5500241"/>
            <a:ext cx="64552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 both sexes; no male-to-male transmission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234416" y="5357366"/>
            <a:ext cx="509632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53491" y="5500241"/>
            <a:ext cx="48110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X syndrome (variable)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980212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6123087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541764" y="5980212"/>
            <a:ext cx="66926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839" y="6123087"/>
            <a:ext cx="64552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transmission to all offspring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234416" y="5980212"/>
            <a:ext cx="509632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53491" y="6123087"/>
            <a:ext cx="481106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MELAS, Leber hereditary optic neuropathy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773710"/>
            <a:ext cx="8594217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epigenetics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4598640"/>
            <a:ext cx="859421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Heritable changes in gene </a:t>
            </a:r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do not alter the DNA sequence — methylation, histone modification, non-coding RNA.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5684490"/>
            <a:ext cx="859421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Influenced by environment, diet, stress, and exposures across the lifespan and even across generations.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7075140"/>
            <a:ext cx="859421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Bellanti, J.A. Epigenetic studies and pediatric research. Pediatr Res 87, 378–384 (2020). https://doi.org/10.1038/s41390-019-0644-9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604480" y="9582150"/>
            <a:ext cx="2378720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756880" y="9677400"/>
            <a:ext cx="2150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epigenetics diagram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disorders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gene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sickle cell disease, cystic fibrosis, Huntington.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Chromosomal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Down, Turner, Klinefelter syndromes.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Multifactorial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polygenic + environmental (cleft lip, neural tube defects).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maternally inherited; affect high-energy tissues.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35-year-old primigravida asks about her risk of having a child with Down syndrome compared with a 25-year-old. The best explanation is: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35-year-old has a higher chance of producing sperm with chromosome errors.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oocytes spent longer arrested in meiosis, and their spindle apparatus is more error-prone.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mothers have more environmental DNA damage during pregnancy.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syndrome is autosomal recessive, and older parents are more likely to be carriers.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twins have the same DNA. One develops type 2 diabetes at age 45; the other does not. Which explanation best accounts for this difference?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twin's DNA mutated after birth.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environmental exposures produced different epigenetic marks that altered gene expression.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twin inherited a new gene the other did not.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twins are not truly identical.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CELLULAR BIOLOGY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altered states of both cellular and tissue biology.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adaptation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727323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70532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832580" y="2185988"/>
            <a:ext cx="549815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51655" y="2347913"/>
            <a:ext cx="52249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Atrophy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727323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70532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 in cell size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832580" y="2795588"/>
            <a:ext cx="549815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51655" y="2938463"/>
            <a:ext cx="522495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Disuse muscle atrophy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Hypertrophy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727323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70532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cell size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832580" y="3418433"/>
            <a:ext cx="549815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51655" y="3561308"/>
            <a:ext cx="522495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hypertrophy in HTN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Hyperplasia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727323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70532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cell number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832580" y="4041279"/>
            <a:ext cx="549815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51655" y="4184154"/>
            <a:ext cx="522495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Endometrial hyperplasia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Dysplasia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727323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70532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size, shape, or organization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832580" y="4664125"/>
            <a:ext cx="549815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51655" y="4807000"/>
            <a:ext cx="522495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Cervical dysplasia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Metaplasia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286970"/>
            <a:ext cx="727323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429845"/>
            <a:ext cx="70532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mature cell type replaces another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832580" y="5286970"/>
            <a:ext cx="549815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51655" y="5429845"/>
            <a:ext cx="522495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Barrett esophagus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injury &amp; death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Hypoxia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Inadequate O₂ delivery to cells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cause of cell injury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early; irreversible after sustained ischemia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Necrosis vs. Apoptosis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Necrosis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uncontrolled, inflammatory, pathologic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Apoptosis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programmed, non-inflammatory, physiologic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Necrotic types: coagulative, liquefactive, caseous, fat, fibrinoid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TWO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Fluids &amp; Acid–Base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Edema, electrolyte imbalances, and the body's acid–base regulation.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in fluid balance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261967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2260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576935" y="2185988"/>
            <a:ext cx="291539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6010" y="2347913"/>
            <a:ext cx="25647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92329" y="2185988"/>
            <a:ext cx="559191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11404" y="2347913"/>
            <a:ext cx="53215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signs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84248" y="2185988"/>
            <a:ext cx="524648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03323" y="2347913"/>
            <a:ext cx="49657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cause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2795588"/>
            <a:ext cx="26196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2938463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Sodium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576935" y="2795588"/>
            <a:ext cx="291539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6010" y="2938463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Hyponatremia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92329" y="2795588"/>
            <a:ext cx="559191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404" y="2938463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Confusion, nausea, seizures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084248" y="2795588"/>
            <a:ext cx="52464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03323" y="2938463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SIADH, excess water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3418433"/>
            <a:ext cx="26196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3561308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Sodium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3576935" y="3418433"/>
            <a:ext cx="291539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6010" y="3561308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Hypernatremia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492329" y="3418433"/>
            <a:ext cx="559191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404" y="3561308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Thirst, lethargy, irritability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084248" y="3418433"/>
            <a:ext cx="52464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03323" y="3561308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Dehydration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041279"/>
            <a:ext cx="26196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184154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Potassium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576935" y="4041279"/>
            <a:ext cx="291539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6010" y="4184154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Hypokalemia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492329" y="4041279"/>
            <a:ext cx="559191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404" y="4184154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weakness, U waves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084248" y="4041279"/>
            <a:ext cx="52464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03323" y="4184154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Diuretics, GI loss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7263" y="4664125"/>
            <a:ext cx="26196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6338" y="4807000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Potassium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3576935" y="4664125"/>
            <a:ext cx="291539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6010" y="4807000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Hyperkalemia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6492329" y="4664125"/>
            <a:ext cx="559191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1404" y="4807000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Peaked T waves, arrhythmias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084248" y="4664125"/>
            <a:ext cx="52464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303323" y="4807000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failure, acidosis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57263" y="5286970"/>
            <a:ext cx="26196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6338" y="5429845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Calcium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3576935" y="5286970"/>
            <a:ext cx="291539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6010" y="5429845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Hypocalcemia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6492329" y="5286970"/>
            <a:ext cx="559191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11404" y="5429845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Tetany, Chvostek/Trousseau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084248" y="5286970"/>
            <a:ext cx="52464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303323" y="5429845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Hypoparathyroid, vit D ↓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957263" y="5909816"/>
            <a:ext cx="26196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76338" y="6052691"/>
            <a:ext cx="22601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Calcium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3576935" y="5909816"/>
            <a:ext cx="291539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96010" y="6052691"/>
            <a:ext cx="256470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Hypercalcemia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6492329" y="5909816"/>
            <a:ext cx="559191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1404" y="6052691"/>
            <a:ext cx="53215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"Stones, bones, groans, moans"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2084248" y="5909816"/>
            <a:ext cx="52464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303323" y="6052691"/>
            <a:ext cx="496573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Hyperparathyroid, malignancy</a:t>
            </a:r>
            <a:endParaRPr lang="en-US" sz="1950" dirty="0"/>
          </a:p>
        </p:txBody>
      </p:sp>
      <p:pic>
        <p:nvPicPr>
          <p:cNvPr id="6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62" name="Text 5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HOMEOSTASIS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Acid–base balance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arterial pH: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7.35–7.45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systems: bicarbonate, phosphate, protein.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regulation: minutes — adjusts CO₂ via ventilation.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regulation: hours to days — adjusts HCO₃⁻ and H⁺ excretion.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Acid–base imbalances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11703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8023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Disturbance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074295" y="2185988"/>
            <a:ext cx="106977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3370" y="2347913"/>
            <a:ext cx="7078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144071" y="2185988"/>
            <a:ext cx="320486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3146" y="2347913"/>
            <a:ext cx="28628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48936" y="2185988"/>
            <a:ext cx="320486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68011" y="2347913"/>
            <a:ext cx="28628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HCO₃⁻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553801" y="2185988"/>
            <a:ext cx="477693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72876" y="2347913"/>
            <a:ext cx="44820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7263" y="2795588"/>
            <a:ext cx="411703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6338" y="2938463"/>
            <a:ext cx="38023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acidosis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074295" y="2795588"/>
            <a:ext cx="106977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3370" y="2938463"/>
            <a:ext cx="7078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144071" y="2795588"/>
            <a:ext cx="32048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3146" y="2938463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48936" y="2795588"/>
            <a:ext cx="32048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68011" y="2938463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(compensated)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553801" y="2795588"/>
            <a:ext cx="47769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72876" y="2938463"/>
            <a:ext cx="44820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— ↑ HCO₃⁻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3418433"/>
            <a:ext cx="411703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3561308"/>
            <a:ext cx="38023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alkalosis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074295" y="3418433"/>
            <a:ext cx="106977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3370" y="3561308"/>
            <a:ext cx="7078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144071" y="3418433"/>
            <a:ext cx="32048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3146" y="3561308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348936" y="3418433"/>
            <a:ext cx="32048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68011" y="3561308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(compensated)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553801" y="3418433"/>
            <a:ext cx="477693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772876" y="3561308"/>
            <a:ext cx="44820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— ↓ HCO₃⁻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4041279"/>
            <a:ext cx="411703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4184154"/>
            <a:ext cx="38023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acidosis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074295" y="4041279"/>
            <a:ext cx="106977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93370" y="4184154"/>
            <a:ext cx="7078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6144071" y="4041279"/>
            <a:ext cx="32048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3146" y="4184154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(compensated)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348936" y="4041279"/>
            <a:ext cx="32048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8011" y="4184154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553801" y="4041279"/>
            <a:ext cx="47769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772876" y="4184154"/>
            <a:ext cx="44820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— ↑ ventilation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57263" y="4664125"/>
            <a:ext cx="411703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6338" y="4807000"/>
            <a:ext cx="38023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alkalosis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5074295" y="4664125"/>
            <a:ext cx="106977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93370" y="4807000"/>
            <a:ext cx="70782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6144071" y="4664125"/>
            <a:ext cx="32048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3146" y="4807000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(compensated)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348936" y="4664125"/>
            <a:ext cx="32048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68011" y="4807000"/>
            <a:ext cx="2862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2553801" y="4664125"/>
            <a:ext cx="477693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772876" y="4807000"/>
            <a:ext cx="44820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— ↓ ventilation</a:t>
            </a:r>
            <a:endParaRPr lang="en-US" sz="195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56" name="Text 5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espiratory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pposite — pH and PaCO₂ move in opposite directions.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etabolic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— pH and HCO₃⁻ move in the same direction.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524000" y="4162276"/>
            <a:ext cx="1414462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walk-through: youtu.be/51adnbdpBqo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long-standing hypertension has thickening of the left ventricular wall on echocardiogram. This change represents: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Hyperplasia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Hypertrophy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Metaplasia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Atrophy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DKA has pH 7.22, PaCO₂ 26, HCO₃⁻ 10. The acid–base disturbance is: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acidosis with metabolic compensation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alkalosis with metabolic compensation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acidosis with respiratory compensation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alkalosis with respiratory compensation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2026-04-30T13:09:41Z</dcterms:created>
  <dcterms:modified xsi:type="dcterms:W3CDTF">2026-04-30T13:09:41Z</dcterms:modified>
</cp:coreProperties>
</file>